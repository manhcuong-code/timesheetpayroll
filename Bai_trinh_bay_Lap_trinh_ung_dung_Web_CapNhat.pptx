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TS. Hà Ngọc Long cùng toàn thể các bạn sinh viên!</a:t>
            </a:r>
          </a:p>
          <a:p>
            <a:r>
              <a:t>Em tên là Trần Viết Mạnh Cường, sinh viên lớp K57 Tin học Kinh tế, ngành Hệ thống Thông tin Quản lý - Trường Đại học Kinh tế, Đại học Huế.</a:t>
            </a:r>
          </a:p>
          <a:p>
            <a:r>
              <a:t>Hôm nay, em xin phép được trình bày báo cáo đồ án học phần Lập trình ứng dụng Web với đề tài: 'Xây dựng hệ thống ứng dụng Web Chấm công và Tính lương tự động (Timesheet &amp; Payroll Automation System)'.</a:t>
            </a:r>
          </a:p>
          <a:p>
            <a:r>
              <a:t>Đề tài được xây dựng trên nền tảng kiến trúc sạch Clean Architecture, công nghệ .NET 10 Blazor Server, kết nối Microsoft SQL Server qua Dapper Micro-ORM và tích hợp Trợ lý Lương AI thông minh.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bối cảnh của đề tài:</a:t>
            </a:r>
          </a:p>
          <a:p>
            <a:r>
              <a:t>Trong mọi doanh nghiệp, tiền lương là huyết mạch duy trì hoạt động. Tuy nhiên, tại các doanh nghiệp quy mô 20-50 nhân sự, việc tính lương thủ công bằng Excel thường gây ra 3 vấn đề nhức nhối: thứ nhất là dễ kéo nhầm ô công thức; thứ hai là mất từ 2-3 ngày cuối tháng để đối soát phiếu chấm công; và thứ ba là nguy cơ lộ bí mật thu nhập khi chia sẻ file tính.</a:t>
            </a:r>
          </a:p>
          <a:p>
            <a:r>
              <a:t>Mục tiêu cốt lõi của đề tài là xây dựng một ứng dụng web hoàn chỉnh, giải phóng kế toán khỏi các thao tác thủ công với tính năng tính lương 1-chạm (1-Click Run), đảm bảo chuẩn xác 100% theo Luật Lao Động và bảo mật thu nhập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nền tảng kiến thức lý thuyết:</a:t>
            </a:r>
          </a:p>
          <a:p>
            <a:r>
              <a:t>Đề tài kết hợp 4 trụ cột công nghệ then chốt của kỹ thuật lập trình web hiện đại:</a:t>
            </a:r>
          </a:p>
          <a:p>
            <a:r>
              <a:t>1. Kiến trúc Clean Architecture của Robert C. Martin giúp tách biệt rõ ràng các tầng trách nhiệm, bảo đảm tầng Core Domain hoàn toàn độc lập với UI hay Database.</a:t>
            </a:r>
          </a:p>
          <a:p>
            <a:r>
              <a:t>2. Nền tảng Blazor Server sử dụng SignalR WebSocket cho tương tác hai chiều thời gian thực, đem lại trải nghiệm ứng dụng trang đơn SPA mượt mà.</a:t>
            </a:r>
          </a:p>
          <a:p>
            <a:r>
              <a:t>3. Bảo mật đa tầng kết hợp thuật toán băm BCrypt, cơ chế phân quyền RBAC và phòng vệ chống lỗi IDOR.</a:t>
            </a:r>
          </a:p>
          <a:p>
            <a:r>
              <a:t>4. Cơ sở dữ liệu chuẩn hóa 3NF trên SQL Server kết hợp Dapper Micro-ORM và giao dịch ACID đảm bảo toàn vẹn dữ liệu kế toán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phân tích yêu cầu:</a:t>
            </a:r>
          </a:p>
          <a:p>
            <a:r>
              <a:t>Hệ thống tập trung giải quyết 4 nỗi đau lớn nhất của bảng tính Excel: công thức dễ sai lệch, tốn thời gian đối soát thủ công, rủi ro lộ thu nhập và khó cập nhật khi luật thay đổi.</a:t>
            </a:r>
          </a:p>
          <a:p>
            <a:r>
              <a:t>Về người dùng, hệ thống áp dụng ma trận phân quyền RBAC phân định rạch ròi 3 vai trò:</a:t>
            </a:r>
          </a:p>
          <a:p>
            <a:r>
              <a:t>- Nhân viên chỉ có quyền thao tác chấm công, nộp phép và xem phiếu lương của chính mình, đảm bảo tính riêng tư tuyệt đối.</a:t>
            </a:r>
          </a:p>
          <a:p>
            <a:r>
              <a:t>- Kế toán thực hiện duyệt phép, chạy tính lương tự động, khóa sổ kỳ lương và xuất báo cáo gửi ngân hàng.</a:t>
            </a:r>
          </a:p>
          <a:p>
            <a:r>
              <a:t>- Quản trị viên quản lý danh mục tài khoản và cấu hình tỷ lệ bảo hiểm động.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ngăn xếp công nghệ được lựa chọn:</a:t>
            </a:r>
          </a:p>
          <a:p>
            <a:r>
              <a:t>Em sử dụng công nghệ .NET 10 mới nhất kết hợp Blazor Server cho giao diện tương tác real-time. Phía cơ sở dữ liệu là Microsoft SQL Server được truy xuất qua Dapper Micro-ORM giúp tốc độ thực thi truy vấn đạt mức tối đa.</a:t>
            </a:r>
          </a:p>
          <a:p>
            <a:r>
              <a:t>Điểm đặc biệt trong kiến trúc là tầng Core Business hoàn toàn không có tham chiếu bên ngoài (Zero Dependency), tuân thủ nghiêm ngặt nguyên lý Dependency Inversion.</a:t>
            </a:r>
          </a:p>
          <a:p>
            <a:r>
              <a:t>Hệ thống cũng tích hợp Google Gemini API kết hợp bộ Fallback Engine đảm bảo Trợ lý Lương AI luôn hoạt động ổn định kể cả khi mất kết nối mạng.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kiến trúc hệ thống:</a:t>
            </a:r>
          </a:p>
          <a:p>
            <a:r>
              <a:t>Em áp dụng triệt để kiến trúc Clean Architecture 4 tầng. Phía bên trái là cấu trúc phân tầng: tầng Web chỉ phụ thuộc vào Use Cases, tầng Use Cases chỉ phụ thuộc vào Core Domain, và tầng Hạ tầng DataStore triển khai các interface được định nghĩa ở Use Cases.</a:t>
            </a:r>
          </a:p>
          <a:p>
            <a:r>
              <a:t>Phía bên phải là sơ đồ Use Case tổng quan được sinh tự động từ PlantUML, gồm 19 Use Cases phân định chặt chẽ quyền hạn của Nhân viên, Kế toán và Admin.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cơ sở dữ liệu quan hệ:</a:t>
            </a:r>
          </a:p>
          <a:p>
            <a:r>
              <a:t>Hệ thống bao gồm 11 bảng thực thể được chuẩn hóa đạt chuẩn 3NF. Đặc biệt, để xử lý bài toán kế toán, em sử dụng mô hình Header-Line giữa bảng payslips và payslip_lines.</a:t>
            </a:r>
          </a:p>
          <a:p>
            <a:r>
              <a:t>Toàn bộ quá trình tính lương được thực thi trong một Database Transaction duy nhất, bảo đảm tính toàn vẹn ACID: hoặc thành công 100%, hoặc Rollback toàn bộ nếu có lỗi.</a:t>
            </a:r>
          </a:p>
          <a:p>
            <a:r>
              <a:t>Các tỷ lệ trích nộp bảo hiểm 10.5% được lưu động trong bảng deduction_rates giúp hệ thống thích ứng ngay lập tức khi chính sách nhà nước thay đổi.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giao diện UI/UX:</a:t>
            </a:r>
          </a:p>
          <a:p>
            <a:r>
              <a:t>Giao diện được thiết kế theo phong cách hiện đại với 3 phân hệ chính:</a:t>
            </a:r>
          </a:p>
          <a:p>
            <a:r>
              <a:t>- Dashboard kế toán với bảng tổng hợp đối soát đa cột và các nút hành động 1-chạm.</a:t>
            </a:r>
          </a:p>
          <a:p>
            <a:r>
              <a:t>- Cổng tự phục vụ nhân viên cho phép điểm danh nhanh và tra cứu phiếu lương cá nhân an toàn.</a:t>
            </a:r>
          </a:p>
          <a:p>
            <a:r>
              <a:t>- Đạt chuẩn thiết kế đáp ứng Responsive Mobile (kiểm thử chuẩn 390px trên iPhone), bảng tính vuốt ngang mượt mà.</a:t>
            </a:r>
          </a:p>
          <a:p>
            <a:r>
              <a:t>Đặc biệt, hệ thống có Widget Trợ lý AI nổi toàn màn hình cho phép người dùng hỏi đáp ở bất kỳ đâu.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quy trình nghiệp vụ:</a:t>
            </a:r>
          </a:p>
          <a:p>
            <a:r>
              <a:t>Hệ thống khép kín qua 3 luồng xử lý chính:</a:t>
            </a:r>
          </a:p>
          <a:p>
            <a:r>
              <a:t>Luồng 1: Chấm công và quản lý đơn nghỉ phép trực tuyến, tự động tính công thực tế.</a:t>
            </a:r>
          </a:p>
          <a:p>
            <a:r>
              <a:t>Luồng 2: Động cơ tính lương 1-chạm nạp đồng thời nhân viên, công thực tế và tỷ lệ trích nộp bảo hiểm động để xác định số tiền thực lĩnh.</a:t>
            </a:r>
          </a:p>
          <a:p>
            <a:r>
              <a:t>Luồng 3: Quản lý vòng đời kỳ lương theo máy trạng thái (State Machine): từ DRAFT sang CALCULATED, và quan trọng nhất là trạng thái LOCKED (Khóa sổ) biến kỳ lương thành Read-Only, không ai được phép sửa đổi số liệu kế toán đã chốt.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minh họa mã nguồn lập trình:</a:t>
            </a:r>
          </a:p>
          <a:p>
            <a:r>
              <a:t>Em xin làm nổi bật 2 đoạn code trọng yếu nhất của dự án:</a:t>
            </a:r>
          </a:p>
          <a:p>
            <a:r>
              <a:t>1. Quản trị giao dịch Database Transaction trong SqlRepositories.cs: Toàn bộ quá trình ghi nhận phiếu lương Header và các dòng chi tiết Line đều được gắn chặt với biến tx. Nếu có lỗi, lệnh tx.Rollback() sẽ phục hồi nguyên trạng cơ sở dữ liệu.</a:t>
            </a:r>
          </a:p>
          <a:p>
            <a:r>
              <a:t>2. Động cơ tính lương SalaryFormulaEngine.cs: Áp dụng công thức lương ngày công theo tỷ lệ, khấu trừ bảo hiểm 10.5% nạp động từ bảng deduction_rates và tính thuế TNCN theo biểu thuế lũy tiến từng phần.</a:t>
            </a:r>
          </a:p>
          <a:p>
            <a:r>
              <a:t>Đồng thời, tại Routes.razor, em sử dụng AuthorizeRouteView để chặn đứng nguy cơ Bypass URL.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kết quả thực hiện đồ án:</a:t>
            </a:r>
          </a:p>
          <a:p>
            <a:r>
              <a:t>Hệ thống đã được hiện thực hóa 100% với 3 điểm sáng công nghệ nổi bật:</a:t>
            </a:r>
          </a:p>
          <a:p>
            <a:r>
              <a:t>Thứ nhất: Tính lương 1-chạm tự động xử lý toàn bộ bảng lương trong 1.5 giây, số liệu khớp hoàn toàn với các quy định pháp luật.</a:t>
            </a:r>
          </a:p>
          <a:p>
            <a:r>
              <a:t>Thứ hai: Trợ lý Lương AI thông minh sử dụng Google Gemini API giải đáp tự nhiên thắc mắc thu nhập và hỗ trợ mô phỏng What-If.</a:t>
            </a:r>
          </a:p>
          <a:p>
            <a:r>
              <a:t>Thứ ba: Tính năng xuất báo cáo Excel chuẩn Mẫu 02-LĐTL của Bộ Tài chính và xuất tệp CSV chuyển khoản ngân hàng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công tác kiểm thử hệ thống:</a:t>
            </a:r>
          </a:p>
          <a:p>
            <a:r>
              <a:t>Em đã thiết lập 10 kịch bản kiểm thử bao quát từ giao diện đến nghiệp vụ lõi và an toàn bảo mật. Bảng trên slide tổng hợp 7 Test Cases tiêu biểu nhất:</a:t>
            </a:r>
          </a:p>
          <a:p>
            <a:r>
              <a:t>- TC01 kiểm thử đăng nhập BCrypt thành công.</a:t>
            </a:r>
          </a:p>
          <a:p>
            <a:r>
              <a:t>- TC03 kiểm thử ràng buộc CHECK lương âm tại CSDL.</a:t>
            </a:r>
          </a:p>
          <a:p>
            <a:r>
              <a:t>- TC05 và TC06 kiểm thử tính lương tự động trong Transaction và khấu trừ bảo hiểm 10.5% chuẩn xác.</a:t>
            </a:r>
          </a:p>
          <a:p>
            <a:r>
              <a:t>- TC07 kiểm thử tính bất biến của kỳ lương đã LOCKED.</a:t>
            </a:r>
          </a:p>
          <a:p>
            <a:r>
              <a:t>- TC08 kiểm thử bảo mật chặn vượt quyền URL 403 Forbidden.</a:t>
            </a:r>
          </a:p>
          <a:p>
            <a:r>
              <a:t>- TC10 kiểm thử giao diện co giãn Responsive 390px trên điện thoại.</a:t>
            </a:r>
          </a:p>
          <a:p>
            <a:r>
              <a:t>Tất cả 10 Test Cases đều ĐẠT 100%.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đánh giá hệ thống một cách khách quan:</a:t>
            </a:r>
          </a:p>
          <a:p>
            <a:r>
              <a:t>Về ưu điểm: Đề tài đã hoàn thành xuất sắc mục tiêu học thuật và thực tiễn: kiến trúc Clean Architecture chuẩn mực, tự động hóa tính lương chuẩn xác tuyệt đối theo Luật Lao Động, bảo mật đa tầng và tích hợp Trợ lý AI hiện đại.</a:t>
            </a:r>
          </a:p>
          <a:p>
            <a:r>
              <a:t>Về hạn chế: Hệ thống hiện chưa kết nối trực tiếp với phần cứng máy chấm công vân tay/FaceID, và chưa tích hợp cổng Open Banking API để chi trả lương tự động qua tài khoản ngân hàng. Đây là những điểm em đã ghi nhận và lên kế hoạch hoàn thiện.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định hướng phát triển tương lai:</a:t>
            </a:r>
          </a:p>
          <a:p>
            <a:r>
              <a:t>Em định hướng 4 mục tiêu nâng cấp trọng tâm cho hệ thống:</a:t>
            </a:r>
          </a:p>
          <a:p>
            <a:r>
              <a:t>1. Tích hợp SDK máy chấm công vân tay, khuôn mặt FaceID tại văn phòng.</a:t>
            </a:r>
          </a:p>
          <a:p>
            <a:r>
              <a:t>2. Liên kết Open Banking API chuyển khoản tiền lương tự động vào tài khoản ngân hàng nhân viên.</a:t>
            </a:r>
          </a:p>
          <a:p>
            <a:r>
              <a:t>3. Xây dựng ứng dụng di động chấm công định vị GPS Geofencing cho nhân viên làm việc linh hoạt.</a:t>
            </a:r>
          </a:p>
          <a:p>
            <a:r>
              <a:t>4. Ứng dụng Machine Learning phân tích xu hướng và dự báo quỹ lương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TS. Hà Ngọc Long cùng toàn thể quý Thầy Cô và các bạn sinh viên!</a:t>
            </a:r>
          </a:p>
          <a:p>
            <a:r>
              <a:t>Đồ án 'Xây dựng hệ thống ứng dụng Web Chấm công và Tính lương tự động' không chỉ giúp em hoàn thành xuất sắc mục tiêu học phần Lập trình ứng dụng Web, mà còn là cơ hội quý báu để em vận dụng thành thạo kiến trúc Clean Architecture, công nghệ .NET 10, CSDL SQL Server và bảo mật ứng dụng vào một bài toán thực tế doanh nghiệp.</a:t>
            </a:r>
          </a:p>
          <a:p>
            <a:r>
              <a:t>Em xin gửi lời cảm ơn chân thành và sâu sắc nhất tới Thầy TS. Hà Ngọc Long đã luôn tận tình chỉ dẫn và định hướng học thuật cho em trong suốt thời gian qua.</a:t>
            </a:r>
          </a:p>
          <a:p>
            <a:r>
              <a:t>Em xin trân trọng cảm ơn và kính mời Thầy cùng các bạn sinh viên đặt câu hỏi thảo luận!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ce_logo.png"/>
          <p:cNvPicPr>
            <a:picLocks noChangeAspect="1"/>
          </p:cNvPicPr>
          <p:nvPr/>
        </p:nvPicPr>
        <p:blipFill>
          <a:blip r:embed="rId2"/>
          <a:stretch>
            <a:fillRect/>
          </a:stretch>
        </p:blipFill>
        <p:spPr>
          <a:xfrm>
            <a:off x="731520" y="502920"/>
            <a:ext cx="1005840" cy="1010330"/>
          </a:xfrm>
          <a:prstGeom prst="rect">
            <a:avLst/>
          </a:prstGeom>
        </p:spPr>
      </p:pic>
      <p:sp>
        <p:nvSpPr>
          <p:cNvPr id="5" name="TextBox 4"/>
          <p:cNvSpPr txBox="1"/>
          <p:nvPr/>
        </p:nvSpPr>
        <p:spPr>
          <a:xfrm>
            <a:off x="1920240" y="475488"/>
            <a:ext cx="9326880" cy="822960"/>
          </a:xfrm>
          <a:prstGeom prst="rect">
            <a:avLst/>
          </a:prstGeom>
          <a:noFill/>
        </p:spPr>
        <p:txBody>
          <a:bodyPr wrap="square" lIns="0" tIns="0" rIns="0" bIns="0">
            <a:spAutoFit/>
          </a:bodyPr>
          <a:lstStyle/>
          <a:p>
            <a:r>
              <a:rPr sz="1500" b="1">
                <a:solidFill>
                  <a:srgbClr val="0EA5E9"/>
                </a:solidFill>
                <a:latin typeface="Segoe UI"/>
              </a:rPr>
              <a:t>BỘ GIÁO DỤC VÀ ĐÀO TẠO  •  ĐẠI HỌC HUẾ</a:t>
            </a:r>
          </a:p>
          <a:p>
            <a:r>
              <a:rPr sz="1750" b="1">
                <a:solidFill>
                  <a:srgbClr val="FFFFFF"/>
                </a:solidFill>
                <a:latin typeface="Segoe UI"/>
              </a:rPr>
              <a:t>TRƯỜNG ĐẠI HỌC KINH TẾ  —  KHOA HỆ THỐNG THÔNG TIN KINH TẾ</a:t>
            </a:r>
          </a:p>
        </p:txBody>
      </p:sp>
      <p:sp>
        <p:nvSpPr>
          <p:cNvPr id="6" name="Rounded Rectangle 5"/>
          <p:cNvSpPr/>
          <p:nvPr/>
        </p:nvSpPr>
        <p:spPr>
          <a:xfrm>
            <a:off x="731520" y="1645920"/>
            <a:ext cx="4389120" cy="347472"/>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0EA5E9"/>
                </a:solidFill>
                <a:latin typeface="Segoe UI"/>
              </a:rPr>
              <a:t>BÁO CÁO ĐỒ ÁN MÔN HỌC: LẬP TRÌNH ỨNG DỤNG WEB</a:t>
            </a:r>
          </a:p>
        </p:txBody>
      </p:sp>
      <p:sp>
        <p:nvSpPr>
          <p:cNvPr id="7" name="TextBox 6"/>
          <p:cNvSpPr txBox="1"/>
          <p:nvPr/>
        </p:nvSpPr>
        <p:spPr>
          <a:xfrm>
            <a:off x="731520" y="2148840"/>
            <a:ext cx="10728655" cy="1463040"/>
          </a:xfrm>
          <a:prstGeom prst="rect">
            <a:avLst/>
          </a:prstGeom>
          <a:noFill/>
        </p:spPr>
        <p:txBody>
          <a:bodyPr wrap="square" lIns="0" tIns="0" rIns="0" bIns="0">
            <a:spAutoFit/>
          </a:bodyPr>
          <a:lstStyle/>
          <a:p>
            <a:r>
              <a:rPr sz="3600" b="1">
                <a:solidFill>
                  <a:srgbClr val="FFFFFF"/>
                </a:solidFill>
                <a:latin typeface="Segoe UI"/>
              </a:rPr>
              <a:t>XÂY DỰNG HỆ THỐNG ỨNG DỤNG WEB
CHẤM CÔNG VÀ TÍNH LƯƠNG TỰ ĐỘNG</a:t>
            </a:r>
          </a:p>
          <a:p>
            <a:pPr>
              <a:spcBef>
                <a:spcPts val="800"/>
              </a:spcBef>
            </a:pPr>
            <a:r>
              <a:rPr sz="1800">
                <a:solidFill>
                  <a:srgbClr val="94A3B8"/>
                </a:solidFill>
                <a:latin typeface="Segoe UI"/>
              </a:rPr>
              <a:t>Timesheet &amp; Payroll Automation System — Clean Architecture 4 Tầng &amp; .NET 10 Blazor</a:t>
            </a:r>
          </a:p>
        </p:txBody>
      </p:sp>
      <p:sp>
        <p:nvSpPr>
          <p:cNvPr id="8" name="Rounded Rectangle 7"/>
          <p:cNvSpPr/>
          <p:nvPr/>
        </p:nvSpPr>
        <p:spPr>
          <a:xfrm>
            <a:off x="731520" y="3840480"/>
            <a:ext cx="2542032" cy="365760"/>
          </a:xfrm>
          <a:prstGeom prst="roundRect">
            <a:avLst/>
          </a:prstGeom>
          <a:solidFill>
            <a:srgbClr val="1E293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FFFFFF"/>
                </a:solidFill>
                <a:latin typeface="Segoe UI"/>
              </a:rPr>
              <a:t>Clean Architecture 4 Tầng</a:t>
            </a:r>
          </a:p>
        </p:txBody>
      </p:sp>
      <p:sp>
        <p:nvSpPr>
          <p:cNvPr id="9" name="Rounded Rectangle 8"/>
          <p:cNvSpPr/>
          <p:nvPr/>
        </p:nvSpPr>
        <p:spPr>
          <a:xfrm>
            <a:off x="3456432" y="3840480"/>
            <a:ext cx="2542032" cy="365760"/>
          </a:xfrm>
          <a:prstGeom prst="roundRect">
            <a:avLst/>
          </a:prstGeom>
          <a:solidFill>
            <a:srgbClr val="1E293B"/>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FFFFFF"/>
                </a:solidFill>
                <a:latin typeface="Segoe UI"/>
              </a:rPr>
              <a:t>.NET 10 Blazor Server</a:t>
            </a:r>
          </a:p>
        </p:txBody>
      </p:sp>
      <p:sp>
        <p:nvSpPr>
          <p:cNvPr id="10" name="Rounded Rectangle 9"/>
          <p:cNvSpPr/>
          <p:nvPr/>
        </p:nvSpPr>
        <p:spPr>
          <a:xfrm>
            <a:off x="6181344" y="3840480"/>
            <a:ext cx="2542032" cy="365760"/>
          </a:xfrm>
          <a:prstGeom prst="roundRect">
            <a:avLst/>
          </a:prstGeom>
          <a:solidFill>
            <a:srgbClr val="1E293B"/>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FFFFFF"/>
                </a:solidFill>
                <a:latin typeface="Segoe UI"/>
              </a:rPr>
              <a:t>SQL Server &amp; Dapper ORM</a:t>
            </a:r>
          </a:p>
        </p:txBody>
      </p:sp>
      <p:sp>
        <p:nvSpPr>
          <p:cNvPr id="11" name="Rounded Rectangle 10"/>
          <p:cNvSpPr/>
          <p:nvPr/>
        </p:nvSpPr>
        <p:spPr>
          <a:xfrm>
            <a:off x="8906256" y="3840480"/>
            <a:ext cx="2542032" cy="36576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FFFFFF"/>
                </a:solidFill>
                <a:latin typeface="Segoe UI"/>
              </a:rPr>
              <a:t>Tích hợp Trợ lý Lương AI</a:t>
            </a:r>
          </a:p>
        </p:txBody>
      </p:sp>
      <p:sp>
        <p:nvSpPr>
          <p:cNvPr id="12" name="Rounded Rectangle 11"/>
          <p:cNvSpPr/>
          <p:nvPr/>
        </p:nvSpPr>
        <p:spPr>
          <a:xfrm>
            <a:off x="731520" y="4434840"/>
            <a:ext cx="10728655" cy="1783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572000"/>
            <a:ext cx="2542032" cy="1508760"/>
          </a:xfrm>
          <a:prstGeom prst="rect">
            <a:avLst/>
          </a:prstGeom>
          <a:noFill/>
        </p:spPr>
        <p:txBody>
          <a:bodyPr wrap="square" lIns="0" tIns="0" rIns="0" bIns="0">
            <a:spAutoFit/>
          </a:bodyPr>
          <a:lstStyle/>
          <a:p>
            <a:r>
              <a:rPr sz="1350" b="1">
                <a:solidFill>
                  <a:srgbClr val="0EA5E9"/>
                </a:solidFill>
                <a:latin typeface="Segoe UI"/>
              </a:rPr>
              <a:t>GIẢNG VIÊN HƯỚNG DẪN</a:t>
            </a:r>
          </a:p>
          <a:p>
            <a:pPr>
              <a:spcBef>
                <a:spcPts val="400"/>
              </a:spcBef>
            </a:pPr>
            <a:r>
              <a:rPr sz="1750" b="1">
                <a:solidFill>
                  <a:srgbClr val="FFFFFF"/>
                </a:solidFill>
                <a:latin typeface="Segoe UI"/>
              </a:rPr>
              <a:t>TS. Hà Ngọc Long</a:t>
            </a:r>
          </a:p>
          <a:p>
            <a:pPr>
              <a:spcBef>
                <a:spcPts val="300"/>
              </a:spcBef>
            </a:pPr>
            <a:r>
              <a:rPr sz="1350">
                <a:solidFill>
                  <a:srgbClr val="94A3B8"/>
                </a:solidFill>
                <a:latin typeface="Segoe UI"/>
              </a:rPr>
              <a:t>Khoa Hệ thống Thông tin Kinh tế
Trường Đại học Kinh tế, ĐH Huế</a:t>
            </a:r>
          </a:p>
        </p:txBody>
      </p:sp>
      <p:sp>
        <p:nvSpPr>
          <p:cNvPr id="14" name="TextBox 13"/>
          <p:cNvSpPr txBox="1"/>
          <p:nvPr/>
        </p:nvSpPr>
        <p:spPr>
          <a:xfrm>
            <a:off x="3520439" y="4572000"/>
            <a:ext cx="2542032" cy="1508760"/>
          </a:xfrm>
          <a:prstGeom prst="rect">
            <a:avLst/>
          </a:prstGeom>
          <a:noFill/>
        </p:spPr>
        <p:txBody>
          <a:bodyPr wrap="square" lIns="0" tIns="0" rIns="0" bIns="0">
            <a:spAutoFit/>
          </a:bodyPr>
          <a:lstStyle/>
          <a:p>
            <a:r>
              <a:rPr sz="1350" b="1">
                <a:solidFill>
                  <a:srgbClr val="0EA5E9"/>
                </a:solidFill>
                <a:latin typeface="Segoe UI"/>
              </a:rPr>
              <a:t>SINH VIÊN THỰC HIỆN</a:t>
            </a:r>
          </a:p>
          <a:p>
            <a:pPr>
              <a:spcBef>
                <a:spcPts val="400"/>
              </a:spcBef>
            </a:pPr>
            <a:r>
              <a:rPr sz="1750" b="1">
                <a:solidFill>
                  <a:srgbClr val="FFFFFF"/>
                </a:solidFill>
                <a:latin typeface="Segoe UI"/>
              </a:rPr>
              <a:t>Trần Viết Mạnh Cường</a:t>
            </a:r>
          </a:p>
          <a:p>
            <a:pPr>
              <a:spcBef>
                <a:spcPts val="300"/>
              </a:spcBef>
            </a:pPr>
            <a:r>
              <a:rPr sz="1350">
                <a:solidFill>
                  <a:srgbClr val="94A3B8"/>
                </a:solidFill>
                <a:latin typeface="Segoe UI"/>
              </a:rPr>
              <a:t>Mã SV: 23K4080003
Lớp: K57 Tin học Kinh tế</a:t>
            </a:r>
          </a:p>
        </p:txBody>
      </p:sp>
      <p:sp>
        <p:nvSpPr>
          <p:cNvPr id="15" name="TextBox 14"/>
          <p:cNvSpPr txBox="1"/>
          <p:nvPr/>
        </p:nvSpPr>
        <p:spPr>
          <a:xfrm>
            <a:off x="6172200" y="4572000"/>
            <a:ext cx="2542032" cy="1508760"/>
          </a:xfrm>
          <a:prstGeom prst="rect">
            <a:avLst/>
          </a:prstGeom>
          <a:noFill/>
        </p:spPr>
        <p:txBody>
          <a:bodyPr wrap="square" lIns="0" tIns="0" rIns="0" bIns="0">
            <a:spAutoFit/>
          </a:bodyPr>
          <a:lstStyle/>
          <a:p>
            <a:r>
              <a:rPr sz="1350" b="1">
                <a:solidFill>
                  <a:srgbClr val="0EA5E9"/>
                </a:solidFill>
                <a:latin typeface="Segoe UI"/>
              </a:rPr>
              <a:t>NGÀNH &amp; CHUYÊN NGÀNH</a:t>
            </a:r>
          </a:p>
          <a:p>
            <a:pPr>
              <a:spcBef>
                <a:spcPts val="400"/>
              </a:spcBef>
            </a:pPr>
            <a:r>
              <a:rPr sz="1750" b="1">
                <a:solidFill>
                  <a:srgbClr val="FFFFFF"/>
                </a:solidFill>
                <a:latin typeface="Segoe UI"/>
              </a:rPr>
              <a:t>Hệ thống Thông tin Quản lý</a:t>
            </a:r>
          </a:p>
          <a:p>
            <a:pPr>
              <a:spcBef>
                <a:spcPts val="300"/>
              </a:spcBef>
            </a:pPr>
            <a:r>
              <a:rPr sz="1350">
                <a:solidFill>
                  <a:srgbClr val="94A3B8"/>
                </a:solidFill>
                <a:latin typeface="Segoe UI"/>
              </a:rPr>
              <a:t>Chuyên ngành: Tin học Kinh tế
Khóa học: 2023 – 2027</a:t>
            </a:r>
          </a:p>
        </p:txBody>
      </p:sp>
      <p:sp>
        <p:nvSpPr>
          <p:cNvPr id="16" name="TextBox 15"/>
          <p:cNvSpPr txBox="1"/>
          <p:nvPr/>
        </p:nvSpPr>
        <p:spPr>
          <a:xfrm>
            <a:off x="8823959" y="4572000"/>
            <a:ext cx="2542032" cy="1508760"/>
          </a:xfrm>
          <a:prstGeom prst="rect">
            <a:avLst/>
          </a:prstGeom>
          <a:noFill/>
        </p:spPr>
        <p:txBody>
          <a:bodyPr wrap="square" lIns="0" tIns="0" rIns="0" bIns="0">
            <a:spAutoFit/>
          </a:bodyPr>
          <a:lstStyle/>
          <a:p>
            <a:r>
              <a:rPr sz="1350" b="1">
                <a:solidFill>
                  <a:srgbClr val="0EA5E9"/>
                </a:solidFill>
                <a:latin typeface="Segoe UI"/>
              </a:rPr>
              <a:t>THÔNG TIN BÁO CÁO</a:t>
            </a:r>
          </a:p>
          <a:p>
            <a:pPr>
              <a:spcBef>
                <a:spcPts val="400"/>
              </a:spcBef>
            </a:pPr>
            <a:r>
              <a:rPr sz="1750" b="1">
                <a:solidFill>
                  <a:srgbClr val="FFFFFF"/>
                </a:solidFill>
                <a:latin typeface="Segoe UI"/>
              </a:rPr>
              <a:t>Đồ Án Lập Trình Web</a:t>
            </a:r>
          </a:p>
          <a:p>
            <a:pPr>
              <a:spcBef>
                <a:spcPts val="300"/>
              </a:spcBef>
            </a:pPr>
            <a:r>
              <a:rPr sz="1350">
                <a:solidFill>
                  <a:srgbClr val="94A3B8"/>
                </a:solidFill>
                <a:latin typeface="Segoe UI"/>
              </a:rPr>
              <a:t>Thời gian: Năm 2026
Địa điểm: TP. Huế</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BỐI CẢNH &amp; MỤC TIÊU</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01. Giới thiệu tổng quan đề tài &amp; Lý do phát triển</a:t>
            </a:r>
          </a:p>
          <a:p>
            <a:r>
              <a:rPr sz="1500">
                <a:solidFill>
                  <a:srgbClr val="64748B"/>
                </a:solidFill>
                <a:latin typeface="Segoe UI"/>
              </a:rPr>
              <a:t>Giải pháp tự động hóa toàn diện từ theo dõi ngày công đến quyết toán tiền lương doanh nghiệp</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02 / 15</a:t>
            </a:r>
          </a:p>
        </p:txBody>
      </p:sp>
      <p:sp>
        <p:nvSpPr>
          <p:cNvPr id="10" name="Rounded Rectangle 9"/>
          <p:cNvSpPr/>
          <p:nvPr/>
        </p:nvSpPr>
        <p:spPr>
          <a:xfrm>
            <a:off x="731520" y="1600200"/>
            <a:ext cx="5166360" cy="3520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83080"/>
            <a:ext cx="4709160" cy="3154680"/>
          </a:xfrm>
          <a:prstGeom prst="rect">
            <a:avLst/>
          </a:prstGeom>
          <a:noFill/>
        </p:spPr>
        <p:txBody>
          <a:bodyPr wrap="square" lIns="0" tIns="0" rIns="0" bIns="0">
            <a:spAutoFit/>
          </a:bodyPr>
          <a:lstStyle/>
          <a:p>
            <a:r>
              <a:rPr sz="1800" b="1">
                <a:solidFill>
                  <a:srgbClr val="0F172A"/>
                </a:solidFill>
                <a:latin typeface="Segoe UI"/>
              </a:rPr>
              <a:t>Thực trạng Quản lý Tiền lương tại Doanh nghiệp SME</a:t>
            </a:r>
          </a:p>
          <a:p>
            <a:pPr>
              <a:spcBef>
                <a:spcPts val="800"/>
              </a:spcBef>
            </a:pPr>
            <a:r>
              <a:rPr b="1" sz="1500">
                <a:solidFill>
                  <a:srgbClr val="EF4444"/>
                </a:solidFill>
              </a:rPr>
              <a:t>• Nghiệp vụ tài chính cốt lõi:</a:t>
            </a:r>
            <a:r>
              <a:rPr sz="1400">
                <a:solidFill>
                  <a:srgbClr val="0F172A"/>
                </a:solidFill>
              </a:rPr>
              <a:t> Đi đôi với quản lý nhân sự, tính lương là công tác trọng yếu tác động trực tiếp đến quyền lợi người lao động và nghĩa vụ pháp lý của doanh nghiệp.</a:t>
            </a:r>
          </a:p>
          <a:p>
            <a:pPr>
              <a:spcBef>
                <a:spcPts val="800"/>
              </a:spcBef>
            </a:pPr>
            <a:r>
              <a:rPr b="1" sz="1500">
                <a:solidFill>
                  <a:srgbClr val="EF4444"/>
                </a:solidFill>
              </a:rPr>
              <a:t>• Sự lệ thuộc vào bảng tính Excel:</a:t>
            </a:r>
            <a:r>
              <a:rPr sz="1400">
                <a:solidFill>
                  <a:srgbClr val="0F172A"/>
                </a:solidFill>
              </a:rPr>
              <a:t> Hầu hết doanh nghiệp vừa và nhỏ (20-50 nhân sự) vẫn dùng Excel thủ công, tiềm ẩn rủi ro kéo nhầm công thức gây sai lệch tiền lương.</a:t>
            </a:r>
          </a:p>
          <a:p>
            <a:pPr>
              <a:spcBef>
                <a:spcPts val="800"/>
              </a:spcBef>
            </a:pPr>
            <a:r>
              <a:rPr b="1" sz="1500">
                <a:solidFill>
                  <a:srgbClr val="EF4444"/>
                </a:solidFill>
              </a:rPr>
              <a:t>• Nguy cơ mất an toàn thông tin:</a:t>
            </a:r>
            <a:r>
              <a:rPr sz="1400">
                <a:solidFill>
                  <a:srgbClr val="0F172A"/>
                </a:solidFill>
              </a:rPr>
              <a:t> Chia sẻ chung file tính lương dẫn đến lộ mức thu nhập cá nhân, gây mất đoàn kết nội bộ và vi phạm quyền riêng tư.</a:t>
            </a:r>
          </a:p>
          <a:p>
            <a:pPr>
              <a:spcBef>
                <a:spcPts val="800"/>
              </a:spcBef>
            </a:pPr>
            <a:r>
              <a:rPr b="1" sz="1500">
                <a:solidFill>
                  <a:srgbClr val="EF4444"/>
                </a:solidFill>
              </a:rPr>
              <a:t>• Khó khăn khi cập nhật chính sách:</a:t>
            </a:r>
            <a:r>
              <a:rPr sz="1400">
                <a:solidFill>
                  <a:srgbClr val="0F172A"/>
                </a:solidFill>
              </a:rPr>
              <a:t> Các quy định về BHXH (8%), BHYT (1.5%), BHTN (1%) và biểu thuế TNCN thường xuyên thay đổi, rất khó đồng bộ trên bảng tính phân tán.</a:t>
            </a:r>
          </a:p>
        </p:txBody>
      </p:sp>
      <p:sp>
        <p:nvSpPr>
          <p:cNvPr id="13" name="Rounded Rectangle 12"/>
          <p:cNvSpPr/>
          <p:nvPr/>
        </p:nvSpPr>
        <p:spPr>
          <a:xfrm>
            <a:off x="6263640" y="1600200"/>
            <a:ext cx="5166360" cy="3520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4709160" cy="3154680"/>
          </a:xfrm>
          <a:prstGeom prst="rect">
            <a:avLst/>
          </a:prstGeom>
          <a:noFill/>
        </p:spPr>
        <p:txBody>
          <a:bodyPr wrap="square" lIns="0" tIns="0" rIns="0" bIns="0">
            <a:spAutoFit/>
          </a:bodyPr>
          <a:lstStyle/>
          <a:p>
            <a:r>
              <a:rPr sz="1800" b="1">
                <a:solidFill>
                  <a:srgbClr val="0F172A"/>
                </a:solidFill>
                <a:latin typeface="Segoe UI"/>
              </a:rPr>
              <a:t>3 Trụ cột Mục tiêu Đột phá của Ứng dụng Web</a:t>
            </a:r>
          </a:p>
          <a:p>
            <a:pPr>
              <a:spcBef>
                <a:spcPts val="800"/>
              </a:spcBef>
            </a:pPr>
            <a:r>
              <a:rPr b="1" sz="1500">
                <a:solidFill>
                  <a:srgbClr val="10B981"/>
                </a:solidFill>
              </a:rPr>
              <a:t>✓ Tự động hóa 1-Chạm (1-Click Run):</a:t>
            </a:r>
            <a:r>
              <a:rPr sz="1400">
                <a:solidFill>
                  <a:srgbClr val="0F172A"/>
                </a:solidFill>
              </a:rPr>
              <a:t> Khép kín quy trình từ điểm danh, tổng hợp ngày công thực tế đến tính toán bảng lương hoàn tất chỉ trong 1.5 giây.</a:t>
            </a:r>
          </a:p>
          <a:p>
            <a:pPr>
              <a:spcBef>
                <a:spcPts val="800"/>
              </a:spcBef>
            </a:pPr>
            <a:r>
              <a:rPr b="1" sz="1500">
                <a:solidFill>
                  <a:srgbClr val="10B981"/>
                </a:solidFill>
              </a:rPr>
              <a:t>✓ Chuẩn hóa 100% theo Luật Lao Động:</a:t>
            </a:r>
            <a:r>
              <a:rPr sz="1400">
                <a:solidFill>
                  <a:srgbClr val="0F172A"/>
                </a:solidFill>
              </a:rPr>
              <a:t> Động cơ nạp tỷ lệ trích nộp bảo hiểm động (10.5%) và biểu thuế lũy tiến từng phần, khóa sổ kỳ lương bất biến (Read-Only).</a:t>
            </a:r>
          </a:p>
          <a:p>
            <a:pPr>
              <a:spcBef>
                <a:spcPts val="800"/>
              </a:spcBef>
            </a:pPr>
            <a:r>
              <a:rPr b="1" sz="1500">
                <a:solidFill>
                  <a:srgbClr val="10B981"/>
                </a:solidFill>
              </a:rPr>
              <a:t>✓ Bảo mật đa tầng &amp; Quyền riêng tư:</a:t>
            </a:r>
            <a:r>
              <a:rPr sz="1400">
                <a:solidFill>
                  <a:srgbClr val="0F172A"/>
                </a:solidFill>
              </a:rPr>
              <a:t> Phân quyền RBAC, mật khẩu băm BCrypt, chống lộ lương IDOR và chặn truy cập trái phép bằng HTTP 403.</a:t>
            </a:r>
          </a:p>
          <a:p>
            <a:pPr>
              <a:spcBef>
                <a:spcPts val="800"/>
              </a:spcBef>
            </a:pPr>
            <a:r>
              <a:rPr b="1" sz="1500">
                <a:solidFill>
                  <a:srgbClr val="10B981"/>
                </a:solidFill>
              </a:rPr>
              <a:t>✓ Cổng tự phục vụ &amp; Trợ lý AI:</a:t>
            </a:r>
            <a:r>
              <a:rPr sz="1400">
                <a:solidFill>
                  <a:srgbClr val="0F172A"/>
                </a:solidFill>
              </a:rPr>
              <a:t> Nhân viên chủ động tra cứu phiếu lương cá nhân an toàn và tương tác hỏi đáp với Trợ lý Lương AI (Google Gemini API).</a:t>
            </a:r>
          </a:p>
        </p:txBody>
      </p:sp>
      <p:sp>
        <p:nvSpPr>
          <p:cNvPr id="16" name="Rounded Rectangle 15"/>
          <p:cNvSpPr/>
          <p:nvPr/>
        </p:nvSpPr>
        <p:spPr>
          <a:xfrm>
            <a:off x="731520" y="5257800"/>
            <a:ext cx="3328416"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321808"/>
            <a:ext cx="2962656" cy="868680"/>
          </a:xfrm>
          <a:prstGeom prst="rect">
            <a:avLst/>
          </a:prstGeom>
          <a:noFill/>
        </p:spPr>
        <p:txBody>
          <a:bodyPr wrap="square" lIns="0" tIns="0" rIns="0" bIns="0">
            <a:spAutoFit/>
          </a:bodyPr>
          <a:lstStyle/>
          <a:p>
            <a:r>
              <a:rPr sz="1250" b="1">
                <a:solidFill>
                  <a:srgbClr val="2563EB"/>
                </a:solidFill>
                <a:latin typeface="Segoe UI"/>
              </a:rPr>
              <a:t>QUY MÔ NHÂN SỰ</a:t>
            </a:r>
          </a:p>
          <a:p>
            <a:r>
              <a:rPr sz="2800" b="1">
                <a:solidFill>
                  <a:srgbClr val="0F172A"/>
                </a:solidFill>
                <a:latin typeface="Segoe UI"/>
              </a:rPr>
              <a:t>20 – 50</a:t>
            </a:r>
          </a:p>
          <a:p>
            <a:r>
              <a:rPr sz="1250">
                <a:solidFill>
                  <a:srgbClr val="64748B"/>
                </a:solidFill>
                <a:latin typeface="Segoe UI"/>
              </a:rPr>
              <a:t>Nhân sự doanh nghiệp SME</a:t>
            </a:r>
          </a:p>
        </p:txBody>
      </p:sp>
      <p:sp>
        <p:nvSpPr>
          <p:cNvPr id="18" name="Rounded Rectangle 17"/>
          <p:cNvSpPr/>
          <p:nvPr/>
        </p:nvSpPr>
        <p:spPr>
          <a:xfrm>
            <a:off x="4425696" y="5257800"/>
            <a:ext cx="3328416"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576" y="5321808"/>
            <a:ext cx="2962656" cy="868680"/>
          </a:xfrm>
          <a:prstGeom prst="rect">
            <a:avLst/>
          </a:prstGeom>
          <a:noFill/>
        </p:spPr>
        <p:txBody>
          <a:bodyPr wrap="square" lIns="0" tIns="0" rIns="0" bIns="0">
            <a:spAutoFit/>
          </a:bodyPr>
          <a:lstStyle/>
          <a:p>
            <a:r>
              <a:rPr sz="1250" b="1">
                <a:solidFill>
                  <a:srgbClr val="10B981"/>
                </a:solidFill>
                <a:latin typeface="Segoe UI"/>
              </a:rPr>
              <a:t>TÍNH TOÁN BẢNG LƯƠNG</a:t>
            </a:r>
          </a:p>
          <a:p>
            <a:r>
              <a:rPr sz="2800" b="1">
                <a:solidFill>
                  <a:srgbClr val="0F172A"/>
                </a:solidFill>
                <a:latin typeface="Segoe UI"/>
              </a:rPr>
              <a:t>1-Click Run</a:t>
            </a:r>
          </a:p>
          <a:p>
            <a:r>
              <a:rPr sz="1250">
                <a:solidFill>
                  <a:srgbClr val="64748B"/>
                </a:solidFill>
                <a:latin typeface="Segoe UI"/>
              </a:rPr>
              <a:t>Tự động hoàn toàn trong &lt; 1.5s</a:t>
            </a:r>
          </a:p>
        </p:txBody>
      </p:sp>
      <p:sp>
        <p:nvSpPr>
          <p:cNvPr id="20" name="Rounded Rectangle 19"/>
          <p:cNvSpPr/>
          <p:nvPr/>
        </p:nvSpPr>
        <p:spPr>
          <a:xfrm>
            <a:off x="8119872" y="5257800"/>
            <a:ext cx="3328416"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5321808"/>
            <a:ext cx="2962656" cy="868680"/>
          </a:xfrm>
          <a:prstGeom prst="rect">
            <a:avLst/>
          </a:prstGeom>
          <a:noFill/>
        </p:spPr>
        <p:txBody>
          <a:bodyPr wrap="square" lIns="0" tIns="0" rIns="0" bIns="0">
            <a:spAutoFit/>
          </a:bodyPr>
          <a:lstStyle/>
          <a:p>
            <a:r>
              <a:rPr sz="1250" b="1">
                <a:solidFill>
                  <a:srgbClr val="9333EA"/>
                </a:solidFill>
                <a:latin typeface="Segoe UI"/>
              </a:rPr>
              <a:t>ĐỘ CHÍNH XÁC &amp; BẢO MẬT</a:t>
            </a:r>
          </a:p>
          <a:p>
            <a:r>
              <a:rPr sz="2800" b="1">
                <a:solidFill>
                  <a:srgbClr val="0F172A"/>
                </a:solidFill>
                <a:latin typeface="Segoe UI"/>
              </a:rPr>
              <a:t>100%</a:t>
            </a:r>
          </a:p>
          <a:p>
            <a:r>
              <a:rPr sz="1250">
                <a:solidFill>
                  <a:srgbClr val="64748B"/>
                </a:solidFill>
                <a:latin typeface="Segoe UI"/>
              </a:rPr>
              <a:t>Chuẩn luật &amp; Chống lộ IDOR</a:t>
            </a:r>
          </a:p>
        </p:txBody>
      </p:sp>
    </p:spTree>
  </p:cSld>
  <p:clrMapOvr>
    <a:masterClrMapping/>
  </p:clrMapOvr>
  <p:transition spd="med" advClick="1">
    <p:push dir="r"/>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TỔNG QUAN KIẾN THỨC</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02. Các khái niệm cốt lõi trong lập trình ứng dụng Web</a:t>
            </a:r>
          </a:p>
          <a:p>
            <a:r>
              <a:rPr sz="1500">
                <a:solidFill>
                  <a:srgbClr val="64748B"/>
                </a:solidFill>
                <a:latin typeface="Segoe UI"/>
              </a:rPr>
              <a:t>Nền tảng kiến trúc phần mềm, bảo mật đa tầng và cơ sở dữ liệu quan hệ doanh nghiệp</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03 / 15</a:t>
            </a:r>
          </a:p>
        </p:txBody>
      </p:sp>
      <p:sp>
        <p:nvSpPr>
          <p:cNvPr id="10" name="Rounded Rectangle 9"/>
          <p:cNvSpPr/>
          <p:nvPr/>
        </p:nvSpPr>
        <p:spPr>
          <a:xfrm>
            <a:off x="731520" y="160020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64792"/>
            <a:ext cx="4709160" cy="1965960"/>
          </a:xfrm>
          <a:prstGeom prst="rect">
            <a:avLst/>
          </a:prstGeom>
          <a:noFill/>
        </p:spPr>
        <p:txBody>
          <a:bodyPr wrap="square" lIns="0" tIns="0" rIns="0" bIns="0">
            <a:spAutoFit/>
          </a:bodyPr>
          <a:lstStyle/>
          <a:p>
            <a:r>
              <a:rPr sz="1650" b="1">
                <a:solidFill>
                  <a:srgbClr val="2563EB"/>
                </a:solidFill>
                <a:latin typeface="Segoe UI"/>
              </a:rPr>
              <a:t>01. KIẾN TRÚC SẠCH (CLEAN ARCHITECTURE)</a:t>
            </a:r>
          </a:p>
          <a:p>
            <a:pPr>
              <a:spcBef>
                <a:spcPts val="400"/>
              </a:spcBef>
            </a:pPr>
            <a:r>
              <a:rPr b="1" sz="1400">
                <a:solidFill>
                  <a:srgbClr val="0F172A"/>
                </a:solidFill>
              </a:rPr>
              <a:t>• Mô hình 4 Tầng Phân Tách:</a:t>
            </a:r>
            <a:r>
              <a:rPr sz="1350">
                <a:solidFill>
                  <a:srgbClr val="0F172A"/>
                </a:solidFill>
              </a:rPr>
              <a:t> Presentation (UI), Use Cases (Nghiệp vụ), Core Domain (Miền cốt lõi) và Infrastructure (Hạ tầng DB).</a:t>
            </a:r>
          </a:p>
          <a:p>
            <a:pPr>
              <a:spcBef>
                <a:spcPts val="400"/>
              </a:spcBef>
            </a:pPr>
            <a:r>
              <a:rPr b="1" sz="1400">
                <a:solidFill>
                  <a:srgbClr val="0F172A"/>
                </a:solidFill>
              </a:rPr>
              <a:t>• Quy tắc Phụ thuộc (Dependency Rule):</a:t>
            </a:r>
            <a:r>
              <a:rPr sz="1350">
                <a:solidFill>
                  <a:srgbClr val="0F172A"/>
                </a:solidFill>
              </a:rPr>
              <a:t> Chiều phụ thuộc luôn hướng vào trung tâm (Domain). Miền nghiệp vụ không phụ thuộc bất kỳ thư viện hay framework bên ngoài nào.</a:t>
            </a:r>
          </a:p>
          <a:p>
            <a:pPr>
              <a:spcBef>
                <a:spcPts val="400"/>
              </a:spcBef>
            </a:pPr>
            <a:r>
              <a:rPr b="1" sz="1400">
                <a:solidFill>
                  <a:srgbClr val="0F172A"/>
                </a:solidFill>
              </a:rPr>
              <a:t>• Lợi ích kỹ thuật:</a:t>
            </a:r>
            <a:r>
              <a:rPr sz="1350">
                <a:solidFill>
                  <a:srgbClr val="0F172A"/>
                </a:solidFill>
              </a:rPr>
              <a:t> Mã nguồn độc lập công nghệ UI và CSDL, khả năng viết Unit Test cao, bảo trì và mở rộng linh hoạt.</a:t>
            </a:r>
          </a:p>
        </p:txBody>
      </p:sp>
      <p:sp>
        <p:nvSpPr>
          <p:cNvPr id="13" name="Rounded Rectangle 12"/>
          <p:cNvSpPr/>
          <p:nvPr/>
        </p:nvSpPr>
        <p:spPr>
          <a:xfrm>
            <a:off x="6263640" y="160020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64792"/>
            <a:ext cx="4709160" cy="1965960"/>
          </a:xfrm>
          <a:prstGeom prst="rect">
            <a:avLst/>
          </a:prstGeom>
          <a:noFill/>
        </p:spPr>
        <p:txBody>
          <a:bodyPr wrap="square" lIns="0" tIns="0" rIns="0" bIns="0">
            <a:spAutoFit/>
          </a:bodyPr>
          <a:lstStyle/>
          <a:p>
            <a:r>
              <a:rPr sz="1650" b="1">
                <a:solidFill>
                  <a:srgbClr val="0EA5E9"/>
                </a:solidFill>
                <a:latin typeface="Segoe UI"/>
              </a:rPr>
              <a:t>02. MÔ HÌNH ỨNG DỤNG WEB INTERACTIVE (BLAZOR SERVER)</a:t>
            </a:r>
          </a:p>
          <a:p>
            <a:pPr>
              <a:spcBef>
                <a:spcPts val="400"/>
              </a:spcBef>
            </a:pPr>
            <a:r>
              <a:rPr b="1" sz="1400">
                <a:solidFill>
                  <a:srgbClr val="0F172A"/>
                </a:solidFill>
              </a:rPr>
              <a:t>• Giao tiếp Real-time SignalR:</a:t>
            </a:r>
            <a:r>
              <a:rPr sz="1350">
                <a:solidFill>
                  <a:srgbClr val="0F172A"/>
                </a:solidFill>
              </a:rPr>
              <a:t> Sử dụng kênh WebSocket duy trì trạng thái phiên hai chiều giữa Client và Server, phản hồi DOM tức thì mà không cần nạp lại trang.</a:t>
            </a:r>
          </a:p>
          <a:p>
            <a:pPr>
              <a:spcBef>
                <a:spcPts val="400"/>
              </a:spcBef>
            </a:pPr>
            <a:r>
              <a:rPr b="1" sz="1400">
                <a:solidFill>
                  <a:srgbClr val="0F172A"/>
                </a:solidFill>
              </a:rPr>
              <a:t>• Mô hình Single Page Application (SPA):</a:t>
            </a:r>
            <a:r>
              <a:rPr sz="1350">
                <a:solidFill>
                  <a:srgbClr val="0F172A"/>
                </a:solidFill>
              </a:rPr>
              <a:t> Mang lại trải nghiệm người dùng mượt mà, tốc độ chuyển trang dưới 1.2 giây.</a:t>
            </a:r>
          </a:p>
          <a:p>
            <a:pPr>
              <a:spcBef>
                <a:spcPts val="400"/>
              </a:spcBef>
            </a:pPr>
            <a:r>
              <a:rPr b="1" sz="1400">
                <a:solidFill>
                  <a:srgbClr val="0F172A"/>
                </a:solidFill>
              </a:rPr>
              <a:t>• Lập trình đồng nhất (Unified C#):</a:t>
            </a:r>
            <a:r>
              <a:rPr sz="1350">
                <a:solidFill>
                  <a:srgbClr val="0F172A"/>
                </a:solidFill>
              </a:rPr>
              <a:t> Sử dụng hoàn toàn ngôn ngữ C# cả giao diện lẫn xử lý nghiệp vụ, tận dụng tối đa hệ thống kiểm tra kiểu tĩnh (Strongly Typed).</a:t>
            </a:r>
          </a:p>
        </p:txBody>
      </p:sp>
      <p:sp>
        <p:nvSpPr>
          <p:cNvPr id="16" name="Rounded Rectangle 15"/>
          <p:cNvSpPr/>
          <p:nvPr/>
        </p:nvSpPr>
        <p:spPr>
          <a:xfrm>
            <a:off x="731520" y="3977639"/>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977639"/>
            <a:ext cx="5166360"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142231"/>
            <a:ext cx="4709160" cy="1965960"/>
          </a:xfrm>
          <a:prstGeom prst="rect">
            <a:avLst/>
          </a:prstGeom>
          <a:noFill/>
        </p:spPr>
        <p:txBody>
          <a:bodyPr wrap="square" lIns="0" tIns="0" rIns="0" bIns="0">
            <a:spAutoFit/>
          </a:bodyPr>
          <a:lstStyle/>
          <a:p>
            <a:r>
              <a:rPr sz="1650" b="1">
                <a:solidFill>
                  <a:srgbClr val="9333EA"/>
                </a:solidFill>
                <a:latin typeface="Segoe UI"/>
              </a:rPr>
              <a:t>03. BẢO MẬT PHÂN QUYỀN RBAC &amp; BCRYPT</a:t>
            </a:r>
          </a:p>
          <a:p>
            <a:pPr>
              <a:spcBef>
                <a:spcPts val="400"/>
              </a:spcBef>
            </a:pPr>
            <a:r>
              <a:rPr b="1" sz="1400">
                <a:solidFill>
                  <a:srgbClr val="0F172A"/>
                </a:solidFill>
              </a:rPr>
              <a:t>• Xác thực Mật khẩu BCrypt:</a:t>
            </a:r>
            <a:r>
              <a:rPr sz="1350">
                <a:solidFill>
                  <a:srgbClr val="0F172A"/>
                </a:solidFill>
              </a:rPr>
              <a:t> Băm một chiều kèm Salt ngẫu nhiên với hệ số WorkFactor = 11, chống tấn công dò từ điển (Dictionary Attack) và Rainbow Table.</a:t>
            </a:r>
          </a:p>
          <a:p>
            <a:pPr>
              <a:spcBef>
                <a:spcPts val="400"/>
              </a:spcBef>
            </a:pPr>
            <a:r>
              <a:rPr b="1" sz="1400">
                <a:solidFill>
                  <a:srgbClr val="0F172A"/>
                </a:solidFill>
              </a:rPr>
              <a:t>• Kiểm soát truy cập dựa trên vai trò (RBAC):</a:t>
            </a:r>
            <a:r>
              <a:rPr sz="1350">
                <a:solidFill>
                  <a:srgbClr val="0F172A"/>
                </a:solidFill>
              </a:rPr>
              <a:t> Phân định rạch ròi 3 vai trò `ROLE_EMPLOYEE`, `ROLE_HR_ACCOUNTANT`, `ROLE_ADMIN`.</a:t>
            </a:r>
          </a:p>
          <a:p>
            <a:pPr>
              <a:spcBef>
                <a:spcPts val="400"/>
              </a:spcBef>
            </a:pPr>
            <a:r>
              <a:rPr b="1" sz="1400">
                <a:solidFill>
                  <a:srgbClr val="0F172A"/>
                </a:solidFill>
              </a:rPr>
              <a:t>• Phòng vệ chống IDOR &amp; URL Bypass:</a:t>
            </a:r>
            <a:r>
              <a:rPr sz="1350">
                <a:solidFill>
                  <a:srgbClr val="0F172A"/>
                </a:solidFill>
              </a:rPr>
              <a:t> Chặn truy cập trái phép bằng `AuthorizeRouteView` (HTTP 403 Forbidden) và bảo vệ dữ liệu cấp bản ghi.</a:t>
            </a:r>
          </a:p>
        </p:txBody>
      </p:sp>
      <p:sp>
        <p:nvSpPr>
          <p:cNvPr id="19" name="Rounded Rectangle 18"/>
          <p:cNvSpPr/>
          <p:nvPr/>
        </p:nvSpPr>
        <p:spPr>
          <a:xfrm>
            <a:off x="6263640" y="3977639"/>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63640" y="3977639"/>
            <a:ext cx="516636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142231"/>
            <a:ext cx="4709160" cy="1965960"/>
          </a:xfrm>
          <a:prstGeom prst="rect">
            <a:avLst/>
          </a:prstGeom>
          <a:noFill/>
        </p:spPr>
        <p:txBody>
          <a:bodyPr wrap="square" lIns="0" tIns="0" rIns="0" bIns="0">
            <a:spAutoFit/>
          </a:bodyPr>
          <a:lstStyle/>
          <a:p>
            <a:r>
              <a:rPr sz="1650" b="1">
                <a:solidFill>
                  <a:srgbClr val="0D9488"/>
                </a:solidFill>
                <a:latin typeface="Segoe UI"/>
              </a:rPr>
              <a:t>04. CƠ SỞ DỮ LIỆU CHUẨN HÓA 3NF &amp; GIAO DỊCH ACID</a:t>
            </a:r>
          </a:p>
          <a:p>
            <a:pPr>
              <a:spcBef>
                <a:spcPts val="400"/>
              </a:spcBef>
            </a:pPr>
            <a:r>
              <a:rPr b="1" sz="1400">
                <a:solidFill>
                  <a:srgbClr val="0F172A"/>
                </a:solidFill>
              </a:rPr>
              <a:t>• Chuẩn hóa Dạng chuẩn 3 (3NF):</a:t>
            </a:r>
            <a:r>
              <a:rPr sz="1350">
                <a:solidFill>
                  <a:srgbClr val="0F172A"/>
                </a:solidFill>
              </a:rPr>
              <a:t> Loại bỏ hoàn toàn dư thừa dữ liệu và dị thường cập nhật trên 11 bảng thực thể quan hệ.</a:t>
            </a:r>
          </a:p>
          <a:p>
            <a:pPr>
              <a:spcBef>
                <a:spcPts val="400"/>
              </a:spcBef>
            </a:pPr>
            <a:r>
              <a:rPr b="1" sz="1400">
                <a:solidFill>
                  <a:srgbClr val="0F172A"/>
                </a:solidFill>
              </a:rPr>
              <a:t>• Truy xuất dữ liệu siêu tốc Dapper Micro-ORM:</a:t>
            </a:r>
            <a:r>
              <a:rPr sz="1350">
                <a:solidFill>
                  <a:srgbClr val="0F172A"/>
                </a:solidFill>
              </a:rPr>
              <a:t> 100% câu lệnh SQL tham số hóa (Parameterized Query), triệt tiêu nguy cơ SQL Injection.</a:t>
            </a:r>
          </a:p>
          <a:p>
            <a:pPr>
              <a:spcBef>
                <a:spcPts val="400"/>
              </a:spcBef>
            </a:pPr>
            <a:r>
              <a:rPr b="1" sz="1400">
                <a:solidFill>
                  <a:srgbClr val="0F172A"/>
                </a:solidFill>
              </a:rPr>
              <a:t>• Toàn vẹn Giao dịch ACID:</a:t>
            </a:r>
            <a:r>
              <a:rPr sz="1350">
                <a:solidFill>
                  <a:srgbClr val="0F172A"/>
                </a:solidFill>
              </a:rPr>
              <a:t> Áp dụng cơ chế Database Transaction cho cặp Header-Line (`payslips` - `payslip_lines`), đảm bảo tính nguyên tử (Atomicity).</a:t>
            </a:r>
          </a:p>
        </p:txBody>
      </p:sp>
    </p:spTree>
  </p:cSld>
  <p:clrMapOvr>
    <a:masterClrMapping/>
  </p:clrMapOvr>
  <p:transition spd="med" advClick="1">
    <p:split orient="horz" dir="ou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PHÂN TÍCH YÊU CẦU</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03. Phân tích yêu cầu bài toán &amp; Ma trận phân quyền (RBAC)</a:t>
            </a:r>
          </a:p>
          <a:p>
            <a:r>
              <a:rPr sz="1500">
                <a:solidFill>
                  <a:srgbClr val="64748B"/>
                </a:solidFill>
                <a:latin typeface="Segoe UI"/>
              </a:rPr>
              <a:t>Xác định rõ vấn đề cần giải quyết, nhóm đối tượng sử dụng và phạm vi chức năng</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04 / 15</a:t>
            </a:r>
          </a:p>
        </p:txBody>
      </p:sp>
      <p:sp>
        <p:nvSpPr>
          <p:cNvPr id="10" name="Rounded Rectangle 9"/>
          <p:cNvSpPr/>
          <p:nvPr/>
        </p:nvSpPr>
        <p:spPr>
          <a:xfrm>
            <a:off x="73152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83080"/>
            <a:ext cx="4709160" cy="4251960"/>
          </a:xfrm>
          <a:prstGeom prst="rect">
            <a:avLst/>
          </a:prstGeom>
          <a:noFill/>
        </p:spPr>
        <p:txBody>
          <a:bodyPr wrap="square" lIns="0" tIns="0" rIns="0" bIns="0">
            <a:spAutoFit/>
          </a:bodyPr>
          <a:lstStyle/>
          <a:p>
            <a:r>
              <a:rPr sz="1750" b="1">
                <a:solidFill>
                  <a:srgbClr val="EF4444"/>
                </a:solidFill>
                <a:latin typeface="Segoe UI"/>
              </a:rPr>
              <a:t>4 Nỗi Đau Lớn Của Phương Pháp Quản Lý Thủ Công</a:t>
            </a:r>
          </a:p>
          <a:p>
            <a:pPr>
              <a:spcBef>
                <a:spcPts val="800"/>
              </a:spcBef>
            </a:pPr>
            <a:r>
              <a:rPr b="1" sz="1400">
                <a:solidFill>
                  <a:srgbClr val="0F172A"/>
                </a:solidFill>
              </a:rPr>
              <a:t>⚠ Rất dễ kéo lệch ô công thức Excel:</a:t>
            </a:r>
            <a:r>
              <a:rPr sz="1400">
                <a:solidFill>
                  <a:srgbClr val="64748B"/>
                </a:solidFill>
              </a:rPr>
              <a:t> Kế toán chỉ cần copy nhầm hàng hoặc sai dấu ngoặc đơn là lương nhân viên bị tính thiếu hoặc thừa hàng triệu đồng, dẫn đến tranh chấp gay gắt.</a:t>
            </a:r>
          </a:p>
          <a:p>
            <a:pPr>
              <a:spcBef>
                <a:spcPts val="800"/>
              </a:spcBef>
            </a:pPr>
            <a:r>
              <a:rPr b="1" sz="1400">
                <a:solidFill>
                  <a:srgbClr val="0F172A"/>
                </a:solidFill>
              </a:rPr>
              <a:t>⚠ Tiêu tốn nguồn lực và thời gian:</a:t>
            </a:r>
            <a:r>
              <a:rPr sz="1400">
                <a:solidFill>
                  <a:srgbClr val="64748B"/>
                </a:solidFill>
              </a:rPr>
              <a:t> Cuối tháng kế toán mất từ 2 đến 3 ngày làm việc chỉ để đối soát từng tờ phiếu chấm công, kiểm tra đơn phép giấy và dò tìm ngày nghỉ.</a:t>
            </a:r>
          </a:p>
          <a:p>
            <a:pPr>
              <a:spcBef>
                <a:spcPts val="800"/>
              </a:spcBef>
            </a:pPr>
            <a:r>
              <a:rPr b="1" sz="1400">
                <a:solidFill>
                  <a:srgbClr val="0F172A"/>
                </a:solidFill>
              </a:rPr>
              <a:t>⚠ Lộ bí mật thu nhập nội bộ (Privacy):</a:t>
            </a:r>
            <a:r>
              <a:rPr sz="1400">
                <a:solidFill>
                  <a:srgbClr val="64748B"/>
                </a:solidFill>
              </a:rPr>
              <a:t> Chia sẻ chung một file Excel bảng lương rất dễ khiến nhân viên dòm ngó mức thu nhập của đồng nghiệp, gây mất đoàn kết và vi phạm bảo mật.</a:t>
            </a:r>
          </a:p>
          <a:p>
            <a:pPr>
              <a:spcBef>
                <a:spcPts val="800"/>
              </a:spcBef>
            </a:pPr>
            <a:r>
              <a:rPr b="1" sz="1400">
                <a:solidFill>
                  <a:srgbClr val="0F172A"/>
                </a:solidFill>
              </a:rPr>
              <a:t>⚠ Bất cập khi thay đổi chính sách pháp luật:</a:t>
            </a:r>
            <a:r>
              <a:rPr sz="1400">
                <a:solidFill>
                  <a:srgbClr val="64748B"/>
                </a:solidFill>
              </a:rPr>
              <a:t> Mức lương cơ sở, tỷ lệ bảo hiểm (10.5%) hay mức giảm trừ gia cảnh thuế TNCN thay đổi thường xuyên. Nếu bị hardcode trong Excel thì cực kỳ khó cập nhật.</a:t>
            </a:r>
          </a:p>
        </p:txBody>
      </p:sp>
      <p:sp>
        <p:nvSpPr>
          <p:cNvPr id="13" name="Rounded Rectangle 12"/>
          <p:cNvSpPr/>
          <p:nvPr/>
        </p:nvSpPr>
        <p:spPr>
          <a:xfrm>
            <a:off x="626364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4709160" cy="4251960"/>
          </a:xfrm>
          <a:prstGeom prst="rect">
            <a:avLst/>
          </a:prstGeom>
          <a:noFill/>
        </p:spPr>
        <p:txBody>
          <a:bodyPr wrap="square" lIns="0" tIns="0" rIns="0" bIns="0">
            <a:spAutoFit/>
          </a:bodyPr>
          <a:lstStyle/>
          <a:p>
            <a:r>
              <a:rPr sz="1750" b="1">
                <a:solidFill>
                  <a:srgbClr val="2563EB"/>
                </a:solidFill>
                <a:latin typeface="Segoe UI"/>
              </a:rPr>
              <a:t>Ma Trận Phân Quyền Người Dùng Hệ Thống (RBAC)</a:t>
            </a:r>
          </a:p>
          <a:p>
            <a:pPr>
              <a:spcBef>
                <a:spcPts val="800"/>
              </a:spcBef>
            </a:pPr>
            <a:r>
              <a:rPr b="1" sz="1400">
                <a:solidFill>
                  <a:srgbClr val="0EA5E9"/>
                </a:solidFill>
              </a:rPr>
              <a:t>VAI TRÒ 1: NHÂN VIÊN (ROLE_EMPLOYEE)</a:t>
            </a:r>
          </a:p>
          <a:p>
            <a:pPr>
              <a:spcBef>
                <a:spcPts val="200"/>
              </a:spcBef>
            </a:pPr>
            <a:r>
              <a:rPr sz="1350">
                <a:solidFill>
                  <a:srgbClr val="0F172A"/>
                </a:solidFill>
              </a:rPr>
              <a:t>  • Điểm danh Check-in / Check-out hàng ngày theo ca làm việc.</a:t>
            </a:r>
          </a:p>
          <a:p>
            <a:pPr>
              <a:spcBef>
                <a:spcPts val="200"/>
              </a:spcBef>
            </a:pPr>
            <a:r>
              <a:rPr sz="1350">
                <a:solidFill>
                  <a:srgbClr val="0F172A"/>
                </a:solidFill>
              </a:rPr>
              <a:t>  • Nộp đơn xin nghỉ phép trực tuyến có xác thực validation ngày tháng.</a:t>
            </a:r>
          </a:p>
          <a:p>
            <a:pPr>
              <a:spcBef>
                <a:spcPts val="200"/>
              </a:spcBef>
            </a:pPr>
            <a:r>
              <a:rPr sz="1350">
                <a:solidFill>
                  <a:srgbClr val="0F172A"/>
                </a:solidFill>
              </a:rPr>
              <a:t>  • Xem phiếu lương cá nhân bảo mật (Anti-IDOR - không xem lén người khác).</a:t>
            </a:r>
          </a:p>
          <a:p>
            <a:pPr>
              <a:spcBef>
                <a:spcPts val="200"/>
              </a:spcBef>
            </a:pPr>
            <a:r>
              <a:rPr sz="1350">
                <a:solidFill>
                  <a:srgbClr val="0F172A"/>
                </a:solidFill>
              </a:rPr>
              <a:t>  • Tương tác cùng Trợ lý Lương AI hỏi đáp và mô phỏng What-If thu nhập.</a:t>
            </a:r>
          </a:p>
          <a:p>
            <a:pPr>
              <a:spcBef>
                <a:spcPts val="800"/>
              </a:spcBef>
            </a:pPr>
            <a:r>
              <a:rPr b="1" sz="1400">
                <a:solidFill>
                  <a:srgbClr val="10B981"/>
                </a:solidFill>
              </a:rPr>
              <a:t>VAI TRÒ 2: KẾ TOÁN / NHÂN SỰ (ROLE_HR_ACCOUNTANT)</a:t>
            </a:r>
          </a:p>
          <a:p>
            <a:pPr>
              <a:spcBef>
                <a:spcPts val="200"/>
              </a:spcBef>
            </a:pPr>
            <a:r>
              <a:rPr sz="1350">
                <a:solidFill>
                  <a:srgbClr val="0F172A"/>
                </a:solidFill>
              </a:rPr>
              <a:t>  • Xét duyệt hoặc từ chối các đơn xin nghỉ phép của nhân viên.</a:t>
            </a:r>
          </a:p>
          <a:p>
            <a:pPr>
              <a:spcBef>
                <a:spcPts val="200"/>
              </a:spcBef>
            </a:pPr>
            <a:r>
              <a:rPr sz="1350">
                <a:solidFill>
                  <a:srgbClr val="0F172A"/>
                </a:solidFill>
              </a:rPr>
              <a:t>  • Thực thi tính toán bảng lương tự động hàng loạt 1-Chạm (1-Click Run).</a:t>
            </a:r>
          </a:p>
          <a:p>
            <a:pPr>
              <a:spcBef>
                <a:spcPts val="200"/>
              </a:spcBef>
            </a:pPr>
            <a:r>
              <a:rPr sz="1350">
                <a:solidFill>
                  <a:srgbClr val="0F172A"/>
                </a:solidFill>
              </a:rPr>
              <a:t>  • Xem bảng lương tổng hợp đối soát và Chốt khóa sổ kỳ lương (LOCKED).</a:t>
            </a:r>
          </a:p>
          <a:p>
            <a:pPr>
              <a:spcBef>
                <a:spcPts val="200"/>
              </a:spcBef>
            </a:pPr>
            <a:r>
              <a:rPr sz="1350">
                <a:solidFill>
                  <a:srgbClr val="0F172A"/>
                </a:solidFill>
              </a:rPr>
              <a:t>  • Xuất báo cáo bảng lương Excel Mẫu số 02-LĐTL và file CSV ngân hàng.</a:t>
            </a:r>
          </a:p>
          <a:p>
            <a:pPr>
              <a:spcBef>
                <a:spcPts val="800"/>
              </a:spcBef>
            </a:pPr>
            <a:r>
              <a:rPr b="1" sz="1400">
                <a:solidFill>
                  <a:srgbClr val="9333EA"/>
                </a:solidFill>
              </a:rPr>
              <a:t>VAI TRÒ 3: QUẢN TRỊ VIÊN HỆ THỐNG (ROLE_ADMIN)</a:t>
            </a:r>
          </a:p>
          <a:p>
            <a:pPr>
              <a:spcBef>
                <a:spcPts val="200"/>
              </a:spcBef>
            </a:pPr>
            <a:r>
              <a:rPr sz="1350">
                <a:solidFill>
                  <a:srgbClr val="0F172A"/>
                </a:solidFill>
              </a:rPr>
              <a:t>  • Quản lý tài khoản người dùng, cấp quyền và quản lý phòng ban/hợp đồng.</a:t>
            </a:r>
          </a:p>
          <a:p>
            <a:pPr>
              <a:spcBef>
                <a:spcPts val="200"/>
              </a:spcBef>
            </a:pPr>
            <a:r>
              <a:rPr sz="1350">
                <a:solidFill>
                  <a:srgbClr val="0F172A"/>
                </a:solidFill>
              </a:rPr>
              <a:t>  • Cấu hình các tỷ lệ trích nộp bảo hiểm động (CSDL deduction_rates).</a:t>
            </a:r>
          </a:p>
          <a:p>
            <a:pPr>
              <a:spcBef>
                <a:spcPts val="200"/>
              </a:spcBef>
            </a:pPr>
            <a:r>
              <a:rPr sz="1350">
                <a:solidFill>
                  <a:srgbClr val="0F172A"/>
                </a:solidFill>
              </a:rPr>
              <a:t>  • Giám sát toàn bộ tiến trình chốt sổ và bảo toàn dữ liệu tài chính.</a:t>
            </a:r>
          </a:p>
        </p:txBody>
      </p:sp>
    </p:spTree>
  </p:cSld>
  <p:clrMapOvr>
    <a:masterClrMapping/>
  </p:clrMapOvr>
  <p:transition spd="med" advClick="1">
    <p:wipe dir="r"/>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CÔNG NGHỆ SỬ DỤNG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04. Ngăn xếp công nghệ phát triển đạt chuẩn công nghiệp</a:t>
            </a:r>
          </a:p>
          <a:p>
            <a:r>
              <a:rPr sz="1500">
                <a:solidFill>
                  <a:srgbClr val="64748B"/>
                </a:solidFill>
                <a:latin typeface="Segoe UI"/>
              </a:rPr>
              <a:t>Sự kết hợp tối ưu giữa hệ sinh thái Microsoft .NET 10, SQL Server, Dapper và AI</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05 / 15</a:t>
            </a:r>
          </a:p>
        </p:txBody>
      </p:sp>
      <p:sp>
        <p:nvSpPr>
          <p:cNvPr id="10" name="Rounded Rectangle 9"/>
          <p:cNvSpPr/>
          <p:nvPr/>
        </p:nvSpPr>
        <p:spPr>
          <a:xfrm>
            <a:off x="731520" y="1600200"/>
            <a:ext cx="25420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2542032"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64792"/>
            <a:ext cx="2176272" cy="3383280"/>
          </a:xfrm>
          <a:prstGeom prst="rect">
            <a:avLst/>
          </a:prstGeom>
          <a:noFill/>
        </p:spPr>
        <p:txBody>
          <a:bodyPr wrap="square" lIns="0" tIns="0" rIns="0" bIns="0">
            <a:spAutoFit/>
          </a:bodyPr>
          <a:lstStyle/>
          <a:p>
            <a:r>
              <a:rPr sz="1500" b="1">
                <a:solidFill>
                  <a:srgbClr val="0EA5E9"/>
                </a:solidFill>
                <a:latin typeface="Segoe UI"/>
              </a:rPr>
              <a:t>GIAO DIỆN &amp; WEB (UI/UX)</a:t>
            </a:r>
          </a:p>
          <a:p>
            <a:pPr>
              <a:spcBef>
                <a:spcPts val="700"/>
              </a:spcBef>
            </a:pPr>
            <a:r>
              <a:rPr b="1" sz="1400">
                <a:solidFill>
                  <a:srgbClr val="0F172A"/>
                </a:solidFill>
              </a:rPr>
              <a:t>• .NET 10 Blazor Server
</a:t>
            </a:r>
            <a:r>
              <a:rPr sz="1250">
                <a:solidFill>
                  <a:srgbClr val="64748B"/>
                </a:solidFill>
              </a:rPr>
              <a:t>   Interactive Server Components</a:t>
            </a:r>
          </a:p>
          <a:p>
            <a:pPr>
              <a:spcBef>
                <a:spcPts val="700"/>
              </a:spcBef>
            </a:pPr>
            <a:r>
              <a:rPr b="1" sz="1400">
                <a:solidFill>
                  <a:srgbClr val="0F172A"/>
                </a:solidFill>
              </a:rPr>
              <a:t>• SignalR WebSocket
</a:t>
            </a:r>
            <a:r>
              <a:rPr sz="1250">
                <a:solidFill>
                  <a:srgbClr val="64748B"/>
                </a:solidFill>
              </a:rPr>
              <a:t>   Kênh truyền dữ liệu thời gian thực</a:t>
            </a:r>
          </a:p>
          <a:p>
            <a:pPr>
              <a:spcBef>
                <a:spcPts val="700"/>
              </a:spcBef>
            </a:pPr>
            <a:r>
              <a:rPr b="1" sz="1400">
                <a:solidFill>
                  <a:srgbClr val="0F172A"/>
                </a:solidFill>
              </a:rPr>
              <a:t>• Bootstrap 5.3 &amp; CSS
</a:t>
            </a:r>
            <a:r>
              <a:rPr sz="1250">
                <a:solidFill>
                  <a:srgbClr val="64748B"/>
                </a:solidFill>
              </a:rPr>
              <a:t>   Responsive Layout tối ưu mobile 390px</a:t>
            </a:r>
          </a:p>
          <a:p>
            <a:pPr>
              <a:spcBef>
                <a:spcPts val="700"/>
              </a:spcBef>
            </a:pPr>
            <a:r>
              <a:rPr b="1" sz="1400">
                <a:solidFill>
                  <a:srgbClr val="0F172A"/>
                </a:solidFill>
              </a:rPr>
              <a:t>• FontAwesome 6 Pro
</a:t>
            </a:r>
            <a:r>
              <a:rPr sz="1250">
                <a:solidFill>
                  <a:srgbClr val="64748B"/>
                </a:solidFill>
              </a:rPr>
              <a:t>   Bộ biểu tượng giao diện hiện đại</a:t>
            </a:r>
          </a:p>
          <a:p>
            <a:pPr>
              <a:spcBef>
                <a:spcPts val="700"/>
              </a:spcBef>
            </a:pPr>
            <a:r>
              <a:rPr b="1" sz="1400">
                <a:solidFill>
                  <a:srgbClr val="0F172A"/>
                </a:solidFill>
              </a:rPr>
              <a:t>• Vanilla JS Interop
</a:t>
            </a:r>
            <a:r>
              <a:rPr sz="1250">
                <a:solidFill>
                  <a:srgbClr val="64748B"/>
                </a:solidFill>
              </a:rPr>
              <a:t>   Hỗ trợ xuất tệp Base64 tải trực tiếp</a:t>
            </a:r>
          </a:p>
        </p:txBody>
      </p:sp>
      <p:sp>
        <p:nvSpPr>
          <p:cNvPr id="13" name="Rounded Rectangle 12"/>
          <p:cNvSpPr/>
          <p:nvPr/>
        </p:nvSpPr>
        <p:spPr>
          <a:xfrm>
            <a:off x="3456432" y="1600200"/>
            <a:ext cx="25420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56432" y="1600200"/>
            <a:ext cx="25420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9312" y="1764792"/>
            <a:ext cx="2176272" cy="3383280"/>
          </a:xfrm>
          <a:prstGeom prst="rect">
            <a:avLst/>
          </a:prstGeom>
          <a:noFill/>
        </p:spPr>
        <p:txBody>
          <a:bodyPr wrap="square" lIns="0" tIns="0" rIns="0" bIns="0">
            <a:spAutoFit/>
          </a:bodyPr>
          <a:lstStyle/>
          <a:p>
            <a:r>
              <a:rPr sz="1500" b="1">
                <a:solidFill>
                  <a:srgbClr val="2563EB"/>
                </a:solidFill>
                <a:latin typeface="Segoe UI"/>
              </a:rPr>
              <a:t>BACKEND &amp; KIẾN TRÚC</a:t>
            </a:r>
          </a:p>
          <a:p>
            <a:pPr>
              <a:spcBef>
                <a:spcPts val="700"/>
              </a:spcBef>
            </a:pPr>
            <a:r>
              <a:rPr b="1" sz="1400">
                <a:solidFill>
                  <a:srgbClr val="0F172A"/>
                </a:solidFill>
              </a:rPr>
              <a:t>• Ngôn ngữ C# 13
</a:t>
            </a:r>
            <a:r>
              <a:rPr sz="1250">
                <a:solidFill>
                  <a:srgbClr val="64748B"/>
                </a:solidFill>
              </a:rPr>
              <a:t>   Tính năng hiện đại, kiểu tĩnh an toàn</a:t>
            </a:r>
          </a:p>
          <a:p>
            <a:pPr>
              <a:spcBef>
                <a:spcPts val="700"/>
              </a:spcBef>
            </a:pPr>
            <a:r>
              <a:rPr b="1" sz="1400">
                <a:solidFill>
                  <a:srgbClr val="0F172A"/>
                </a:solidFill>
              </a:rPr>
              <a:t>• Clean Architecture
</a:t>
            </a:r>
            <a:r>
              <a:rPr sz="1250">
                <a:solidFill>
                  <a:srgbClr val="64748B"/>
                </a:solidFill>
              </a:rPr>
              <a:t>   Tổ chức 4 tầng theo chuẩn Robert Martin</a:t>
            </a:r>
          </a:p>
          <a:p>
            <a:pPr>
              <a:spcBef>
                <a:spcPts val="700"/>
              </a:spcBef>
            </a:pPr>
            <a:r>
              <a:rPr b="1" sz="1400">
                <a:solidFill>
                  <a:srgbClr val="0F172A"/>
                </a:solidFill>
              </a:rPr>
              <a:t>• Dependency Injection
</a:t>
            </a:r>
            <a:r>
              <a:rPr sz="1250">
                <a:solidFill>
                  <a:srgbClr val="64748B"/>
                </a:solidFill>
              </a:rPr>
              <a:t>   Tiêm phụ thuộc lỏng (Loose Coupling)</a:t>
            </a:r>
          </a:p>
          <a:p>
            <a:pPr>
              <a:spcBef>
                <a:spcPts val="700"/>
              </a:spcBef>
            </a:pPr>
            <a:r>
              <a:rPr b="1" sz="1400">
                <a:solidFill>
                  <a:srgbClr val="0F172A"/>
                </a:solidFill>
              </a:rPr>
              <a:t>• Use Cases Pattern
</a:t>
            </a:r>
            <a:r>
              <a:rPr sz="1250">
                <a:solidFill>
                  <a:srgbClr val="64748B"/>
                </a:solidFill>
              </a:rPr>
              <a:t>   Đóng gói ca sử dụng nghiệp vụ độc lập</a:t>
            </a:r>
          </a:p>
          <a:p>
            <a:pPr>
              <a:spcBef>
                <a:spcPts val="700"/>
              </a:spcBef>
            </a:pPr>
            <a:r>
              <a:rPr b="1" sz="1400">
                <a:solidFill>
                  <a:srgbClr val="0F172A"/>
                </a:solidFill>
              </a:rPr>
              <a:t>• SalaryFormulaEngine
</a:t>
            </a:r>
            <a:r>
              <a:rPr sz="1250">
                <a:solidFill>
                  <a:srgbClr val="64748B"/>
                </a:solidFill>
              </a:rPr>
              <a:t>   Động cơ tính toán độc lập 0 dependency</a:t>
            </a:r>
          </a:p>
        </p:txBody>
      </p:sp>
      <p:sp>
        <p:nvSpPr>
          <p:cNvPr id="16" name="Rounded Rectangle 15"/>
          <p:cNvSpPr/>
          <p:nvPr/>
        </p:nvSpPr>
        <p:spPr>
          <a:xfrm>
            <a:off x="6181344" y="1600200"/>
            <a:ext cx="25420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1344" y="1600200"/>
            <a:ext cx="25420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764792"/>
            <a:ext cx="2176272" cy="3383280"/>
          </a:xfrm>
          <a:prstGeom prst="rect">
            <a:avLst/>
          </a:prstGeom>
          <a:noFill/>
        </p:spPr>
        <p:txBody>
          <a:bodyPr wrap="square" lIns="0" tIns="0" rIns="0" bIns="0">
            <a:spAutoFit/>
          </a:bodyPr>
          <a:lstStyle/>
          <a:p>
            <a:r>
              <a:rPr sz="1500" b="1">
                <a:solidFill>
                  <a:srgbClr val="0D9488"/>
                </a:solidFill>
                <a:latin typeface="Segoe UI"/>
              </a:rPr>
              <a:t>CƠ SỞ DỮ LIỆU &amp; ORM</a:t>
            </a:r>
          </a:p>
          <a:p>
            <a:pPr>
              <a:spcBef>
                <a:spcPts val="700"/>
              </a:spcBef>
            </a:pPr>
            <a:r>
              <a:rPr b="1" sz="1400">
                <a:solidFill>
                  <a:srgbClr val="0F172A"/>
                </a:solidFill>
              </a:rPr>
              <a:t>• Microsoft SQL Server
</a:t>
            </a:r>
            <a:r>
              <a:rPr sz="1250">
                <a:solidFill>
                  <a:srgbClr val="64748B"/>
                </a:solidFill>
              </a:rPr>
              <a:t>   CSDL quan hệ doanh nghiệp BangChamCongDB</a:t>
            </a:r>
          </a:p>
          <a:p>
            <a:pPr>
              <a:spcBef>
                <a:spcPts val="700"/>
              </a:spcBef>
            </a:pPr>
            <a:r>
              <a:rPr b="1" sz="1400">
                <a:solidFill>
                  <a:srgbClr val="0F172A"/>
                </a:solidFill>
              </a:rPr>
              <a:t>• Dapper Micro-ORM
</a:t>
            </a:r>
            <a:r>
              <a:rPr sz="1250">
                <a:solidFill>
                  <a:srgbClr val="64748B"/>
                </a:solidFill>
              </a:rPr>
              <a:t>   Truy xuất siêu tốc, ánh xạ đối tượng mượt</a:t>
            </a:r>
          </a:p>
          <a:p>
            <a:pPr>
              <a:spcBef>
                <a:spcPts val="700"/>
              </a:spcBef>
            </a:pPr>
            <a:r>
              <a:rPr b="1" sz="1400">
                <a:solidFill>
                  <a:srgbClr val="0F172A"/>
                </a:solidFill>
              </a:rPr>
              <a:t>• 100% Parameterized
</a:t>
            </a:r>
            <a:r>
              <a:rPr sz="1250">
                <a:solidFill>
                  <a:srgbClr val="64748B"/>
                </a:solidFill>
              </a:rPr>
              <a:t>   Triệt tiêu hoàn toàn lỗi SQL Injection</a:t>
            </a:r>
          </a:p>
          <a:p>
            <a:pPr>
              <a:spcBef>
                <a:spcPts val="700"/>
              </a:spcBef>
            </a:pPr>
            <a:r>
              <a:rPr b="1" sz="1400">
                <a:solidFill>
                  <a:srgbClr val="0F172A"/>
                </a:solidFill>
              </a:rPr>
              <a:t>• ACID Transactions
</a:t>
            </a:r>
            <a:r>
              <a:rPr sz="1250">
                <a:solidFill>
                  <a:srgbClr val="64748B"/>
                </a:solidFill>
              </a:rPr>
              <a:t>   Toàn vẹn Header-Line khi tính lương</a:t>
            </a:r>
          </a:p>
          <a:p>
            <a:pPr>
              <a:spcBef>
                <a:spcPts val="700"/>
              </a:spcBef>
            </a:pPr>
            <a:r>
              <a:rPr b="1" sz="1400">
                <a:solidFill>
                  <a:srgbClr val="0F172A"/>
                </a:solidFill>
              </a:rPr>
              <a:t>• CHECK Constraints
</a:t>
            </a:r>
            <a:r>
              <a:rPr sz="1250">
                <a:solidFill>
                  <a:srgbClr val="64748B"/>
                </a:solidFill>
              </a:rPr>
              <a:t>   Ràng buộc toàn vẹn lương &gt;= 0 và tháng 1-12</a:t>
            </a:r>
          </a:p>
        </p:txBody>
      </p:sp>
      <p:sp>
        <p:nvSpPr>
          <p:cNvPr id="19" name="Rounded Rectangle 18"/>
          <p:cNvSpPr/>
          <p:nvPr/>
        </p:nvSpPr>
        <p:spPr>
          <a:xfrm>
            <a:off x="8906256" y="1600200"/>
            <a:ext cx="25420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06256" y="1600200"/>
            <a:ext cx="2542032"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1764792"/>
            <a:ext cx="2176272" cy="3383280"/>
          </a:xfrm>
          <a:prstGeom prst="rect">
            <a:avLst/>
          </a:prstGeom>
          <a:noFill/>
        </p:spPr>
        <p:txBody>
          <a:bodyPr wrap="square" lIns="0" tIns="0" rIns="0" bIns="0">
            <a:spAutoFit/>
          </a:bodyPr>
          <a:lstStyle/>
          <a:p>
            <a:r>
              <a:rPr sz="1500" b="1">
                <a:solidFill>
                  <a:srgbClr val="9333EA"/>
                </a:solidFill>
                <a:latin typeface="Segoe UI"/>
              </a:rPr>
              <a:t>BẢO MẬT &amp; TRÍ TUỆ NHÂN TẠO</a:t>
            </a:r>
          </a:p>
          <a:p>
            <a:pPr>
              <a:spcBef>
                <a:spcPts val="700"/>
              </a:spcBef>
            </a:pPr>
            <a:r>
              <a:rPr b="1" sz="1400">
                <a:solidFill>
                  <a:srgbClr val="0F172A"/>
                </a:solidFill>
              </a:rPr>
              <a:t>• BCrypt.Net-Next
</a:t>
            </a:r>
            <a:r>
              <a:rPr sz="1250">
                <a:solidFill>
                  <a:srgbClr val="64748B"/>
                </a:solidFill>
              </a:rPr>
              <a:t>   Băm mật khẩu 1 chiều, Salt ngẫu nhiên</a:t>
            </a:r>
          </a:p>
          <a:p>
            <a:pPr>
              <a:spcBef>
                <a:spcPts val="700"/>
              </a:spcBef>
            </a:pPr>
            <a:r>
              <a:rPr b="1" sz="1400">
                <a:solidFill>
                  <a:srgbClr val="0F172A"/>
                </a:solidFill>
              </a:rPr>
              <a:t>• RBAC Authorization
</a:t>
            </a:r>
            <a:r>
              <a:rPr sz="1250">
                <a:solidFill>
                  <a:srgbClr val="64748B"/>
                </a:solidFill>
              </a:rPr>
              <a:t>   Phân quyền theo vai trò và Claims an toàn</a:t>
            </a:r>
          </a:p>
          <a:p>
            <a:pPr>
              <a:spcBef>
                <a:spcPts val="700"/>
              </a:spcBef>
            </a:pPr>
            <a:r>
              <a:rPr b="1" sz="1400">
                <a:solidFill>
                  <a:srgbClr val="0F172A"/>
                </a:solidFill>
              </a:rPr>
              <a:t>• AuthorizeRouteView
</a:t>
            </a:r>
            <a:r>
              <a:rPr sz="1250">
                <a:solidFill>
                  <a:srgbClr val="64748B"/>
                </a:solidFill>
              </a:rPr>
              <a:t>   Phòng vệ URL, chặn HTTP 403 Forbidden</a:t>
            </a:r>
          </a:p>
          <a:p>
            <a:pPr>
              <a:spcBef>
                <a:spcPts val="700"/>
              </a:spcBef>
            </a:pPr>
            <a:r>
              <a:rPr b="1" sz="1400">
                <a:solidFill>
                  <a:srgbClr val="0F172A"/>
                </a:solidFill>
              </a:rPr>
              <a:t>• Google Gemini API
</a:t>
            </a:r>
            <a:r>
              <a:rPr sz="1250">
                <a:solidFill>
                  <a:srgbClr val="64748B"/>
                </a:solidFill>
              </a:rPr>
              <a:t>   Trợ lý Lương AI giải đáp thắc mắc lương</a:t>
            </a:r>
          </a:p>
          <a:p>
            <a:pPr>
              <a:spcBef>
                <a:spcPts val="700"/>
              </a:spcBef>
            </a:pPr>
            <a:r>
              <a:rPr b="1" sz="1400">
                <a:solidFill>
                  <a:srgbClr val="0F172A"/>
                </a:solidFill>
              </a:rPr>
              <a:t>• Local Fallback Engine
</a:t>
            </a:r>
            <a:r>
              <a:rPr sz="1250">
                <a:solidFill>
                  <a:srgbClr val="64748B"/>
                </a:solidFill>
              </a:rPr>
              <a:t>   Động cơ quy tắc nội bộ khi mất mạng</a:t>
            </a:r>
          </a:p>
        </p:txBody>
      </p:sp>
      <p:sp>
        <p:nvSpPr>
          <p:cNvPr id="22" name="Rounded Rectangle 21"/>
          <p:cNvSpPr/>
          <p:nvPr/>
        </p:nvSpPr>
        <p:spPr>
          <a:xfrm>
            <a:off x="731520" y="5440680"/>
            <a:ext cx="10728655" cy="8229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504688"/>
            <a:ext cx="10241280" cy="685800"/>
          </a:xfrm>
          <a:prstGeom prst="rect">
            <a:avLst/>
          </a:prstGeom>
          <a:noFill/>
        </p:spPr>
        <p:txBody>
          <a:bodyPr wrap="square" lIns="0" tIns="0" rIns="0" bIns="0">
            <a:spAutoFit/>
          </a:bodyPr>
          <a:lstStyle/>
          <a:p>
            <a:r>
              <a:rPr sz="1400" b="1">
                <a:solidFill>
                  <a:srgbClr val="2563EB"/>
                </a:solidFill>
                <a:latin typeface="Segoe UI"/>
              </a:rPr>
              <a:t>★ NGUYÊN TẮC CỐT LÕI TRONG LỰA CHỌN CÔNG NGHỆ: </a:t>
            </a:r>
            <a:r>
              <a:rPr sz="1400">
                <a:solidFill>
                  <a:srgbClr val="0F172A"/>
                </a:solidFill>
                <a:latin typeface="Segoe UI"/>
              </a:rPr>
              <a:t>Tầng Core Domain được thiết kế cô lập hoàn toàn (Zero Reference), không phụ thuộc vào bất kỳ framework giao diện hay thư viện truy xuất CSDL nào. Điều này bảo đảm khả năng kiểm thử độc lập 100% và dễ dàng bảo trì nâng cấp trong tương lai.</a:t>
            </a:r>
          </a:p>
        </p:txBody>
      </p:sp>
    </p:spTree>
  </p:cSld>
  <p:clrMapOvr>
    <a:masterClrMapping/>
  </p:clrMapOvr>
  <p:transition spd="med" advClick="1">
    <p:comb orient="horz"/>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THIẾT KẾ KIẾN TRÚC</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05. Kiến trúc Clean Architecture 4 tầng &amp; Sơ đồ Use Case</a:t>
            </a:r>
          </a:p>
          <a:p>
            <a:r>
              <a:rPr sz="1500">
                <a:solidFill>
                  <a:srgbClr val="64748B"/>
                </a:solidFill>
                <a:latin typeface="Segoe UI"/>
              </a:rPr>
              <a:t>Tổ chức mã nguồn rành mạch theo trách nhiệm và mô hình hóa chức năng hệ thống</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06 / 15</a:t>
            </a:r>
          </a:p>
        </p:txBody>
      </p:sp>
      <p:sp>
        <p:nvSpPr>
          <p:cNvPr id="10" name="Rounded Rectangle 9"/>
          <p:cNvSpPr/>
          <p:nvPr/>
        </p:nvSpPr>
        <p:spPr>
          <a:xfrm>
            <a:off x="73152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37360"/>
            <a:ext cx="4709160" cy="4343400"/>
          </a:xfrm>
          <a:prstGeom prst="rect">
            <a:avLst/>
          </a:prstGeom>
          <a:noFill/>
        </p:spPr>
        <p:txBody>
          <a:bodyPr wrap="square" lIns="0" tIns="0" rIns="0" bIns="0">
            <a:spAutoFit/>
          </a:bodyPr>
          <a:lstStyle/>
          <a:p>
            <a:r>
              <a:rPr sz="1750" b="1">
                <a:solidFill>
                  <a:srgbClr val="2563EB"/>
                </a:solidFill>
                <a:latin typeface="Segoe UI"/>
              </a:rPr>
              <a:t>Cấu Trúc Giải Pháp Clean Architecture 4 Tầng</a:t>
            </a:r>
          </a:p>
          <a:p>
            <a:pPr>
              <a:spcBef>
                <a:spcPts val="600"/>
              </a:spcBef>
            </a:pPr>
            <a:r>
              <a:rPr b="1" sz="1350">
                <a:solidFill>
                  <a:srgbClr val="0EA5E9"/>
                </a:solidFill>
              </a:rPr>
              <a:t>TẦNG 1: PRESENTATION LAYER (GIAO DIỆN &amp; WEB)</a:t>
            </a:r>
          </a:p>
          <a:p>
            <a:pPr>
              <a:spcBef>
                <a:spcPts val="100"/>
              </a:spcBef>
            </a:pPr>
            <a:r>
              <a:rPr sz="1250">
                <a:solidFill>
                  <a:srgbClr val="0F172A"/>
                </a:solidFill>
              </a:rPr>
              <a:t>• TimesheetPayroll.Web (.NET 10 Blazor Interactive Server)
• AdminPortal &amp; EmployeePortal Pages, Components
• Responsive CSS 390px Mobile, SignalR WebSocket</a:t>
            </a:r>
          </a:p>
          <a:p>
            <a:pPr>
              <a:spcBef>
                <a:spcPts val="600"/>
              </a:spcBef>
            </a:pPr>
            <a:r>
              <a:rPr b="1" sz="1350">
                <a:solidFill>
                  <a:srgbClr val="2563EB"/>
                </a:solidFill>
              </a:rPr>
              <a:t>TẦNG 2: APPLICATION &amp; USE CASES LAYER (NGHIỆP VỤ)</a:t>
            </a:r>
          </a:p>
          <a:p>
            <a:pPr>
              <a:spcBef>
                <a:spcPts val="100"/>
              </a:spcBef>
            </a:pPr>
            <a:r>
              <a:rPr sz="1250">
                <a:solidFill>
                  <a:srgbClr val="0F172A"/>
                </a:solidFill>
              </a:rPr>
              <a:t>• TimesheetPayroll.UseCases
• CalculatePayrollBatchUseCase, ExportExcelUseCase, SalaryAi...
• Định nghĩa Repository Interfaces (IEmployeeRepository...)</a:t>
            </a:r>
          </a:p>
          <a:p>
            <a:pPr>
              <a:spcBef>
                <a:spcPts val="600"/>
              </a:spcBef>
            </a:pPr>
            <a:r>
              <a:rPr b="1" sz="1350">
                <a:solidFill>
                  <a:srgbClr val="10B981"/>
                </a:solidFill>
              </a:rPr>
              <a:t>TẦNG 3: CORE DOMAIN LAYER (TRUNG TÂM MIỀN NGHIỆP VỤ)</a:t>
            </a:r>
          </a:p>
          <a:p>
            <a:pPr>
              <a:spcBef>
                <a:spcPts val="100"/>
              </a:spcBef>
            </a:pPr>
            <a:r>
              <a:rPr sz="1250">
                <a:solidFill>
                  <a:srgbClr val="0F172A"/>
                </a:solidFill>
              </a:rPr>
              <a:t>• TimesheetPayroll.CoreBusiness (0 External Reference)
• Entities: Employee, Department, Contract, Timesheet, Payslip...
• Động cơ tính lương: SalaryFormulaEngine.cs độc lập</a:t>
            </a:r>
          </a:p>
          <a:p>
            <a:pPr>
              <a:spcBef>
                <a:spcPts val="600"/>
              </a:spcBef>
            </a:pPr>
            <a:r>
              <a:rPr b="1" sz="1350">
                <a:solidFill>
                  <a:srgbClr val="9333EA"/>
                </a:solidFill>
              </a:rPr>
              <a:t>TẦNG 4: INFRASTRUCTURE &amp; PLUGINS LAYER (HẠ TẦNG CSDL)</a:t>
            </a:r>
          </a:p>
          <a:p>
            <a:pPr>
              <a:spcBef>
                <a:spcPts val="100"/>
              </a:spcBef>
            </a:pPr>
            <a:r>
              <a:rPr sz="1250">
                <a:solidFill>
                  <a:srgbClr val="0F172A"/>
                </a:solidFill>
              </a:rPr>
              <a:t>• TimesheetPayroll.DataStore.SQL.Dapper
• Triển khai các Interface bằng Dapper Micro-ORM
• Cơ sở dữ liệu quan hệ Microsoft SQL Server (BangChamCongDB)</a:t>
            </a:r>
          </a:p>
        </p:txBody>
      </p:sp>
      <p:sp>
        <p:nvSpPr>
          <p:cNvPr id="13" name="Rounded Rectangle 12"/>
          <p:cNvSpPr/>
          <p:nvPr/>
        </p:nvSpPr>
        <p:spPr>
          <a:xfrm>
            <a:off x="626364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37360"/>
            <a:ext cx="4709160" cy="365760"/>
          </a:xfrm>
          <a:prstGeom prst="rect">
            <a:avLst/>
          </a:prstGeom>
          <a:noFill/>
        </p:spPr>
        <p:txBody>
          <a:bodyPr wrap="none" lIns="0" tIns="0" rIns="0" bIns="0">
            <a:spAutoFit/>
          </a:bodyPr>
          <a:lstStyle/>
          <a:p>
            <a:r>
              <a:rPr sz="1750" b="1">
                <a:solidFill>
                  <a:srgbClr val="9333EA"/>
                </a:solidFill>
                <a:latin typeface="Segoe UI"/>
              </a:rPr>
              <a:t>Sơ Đồ Use Case Tổng Quan (PlantUML Overview)</a:t>
            </a:r>
          </a:p>
        </p:txBody>
      </p:sp>
      <p:pic>
        <p:nvPicPr>
          <p:cNvPr id="16" name="Picture 15" descr="01_usecase_overview.png"/>
          <p:cNvPicPr>
            <a:picLocks noChangeAspect="1"/>
          </p:cNvPicPr>
          <p:nvPr/>
        </p:nvPicPr>
        <p:blipFill>
          <a:blip r:embed="rId2"/>
          <a:stretch>
            <a:fillRect/>
          </a:stretch>
        </p:blipFill>
        <p:spPr>
          <a:xfrm>
            <a:off x="6446520" y="2148840"/>
            <a:ext cx="4800600" cy="2894932"/>
          </a:xfrm>
          <a:prstGeom prst="rect">
            <a:avLst/>
          </a:prstGeom>
        </p:spPr>
      </p:pic>
      <p:sp>
        <p:nvSpPr>
          <p:cNvPr id="17" name="TextBox 16"/>
          <p:cNvSpPr txBox="1"/>
          <p:nvPr/>
        </p:nvSpPr>
        <p:spPr>
          <a:xfrm>
            <a:off x="6492240" y="5623560"/>
            <a:ext cx="4709160" cy="502920"/>
          </a:xfrm>
          <a:prstGeom prst="rect">
            <a:avLst/>
          </a:prstGeom>
          <a:noFill/>
        </p:spPr>
        <p:txBody>
          <a:bodyPr wrap="square" lIns="0" tIns="0" rIns="0" bIns="0">
            <a:spAutoFit/>
          </a:bodyPr>
          <a:lstStyle/>
          <a:p>
            <a:r>
              <a:rPr sz="1250">
                <a:solidFill>
                  <a:srgbClr val="64748B"/>
                </a:solidFill>
                <a:latin typeface="Segoe UI"/>
              </a:rPr>
              <a:t>★ Phân định 3 Actor người dùng và 1 AI Assistant điều khiển 19 Use Cases trải dài qua 3 phân hệ cốt lõi: Nhân sự, Chấm công và Quyết toán tiền lương.</a:t>
            </a:r>
          </a:p>
        </p:txBody>
      </p:sp>
    </p:spTree>
  </p:cSld>
  <p:clrMapOvr>
    <a:masterClrMapping/>
  </p:clrMapOvr>
  <p:transition spd="med" advClick="1">
    <p:checker dir="horz"/>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CƠ SỞ DỮ LIỆU</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06. Thiết kế Cơ sở dữ liệu quan hệ chuẩn 3NF &amp; Toàn vẹn ACID</a:t>
            </a:r>
          </a:p>
          <a:p>
            <a:r>
              <a:rPr sz="1500">
                <a:solidFill>
                  <a:srgbClr val="64748B"/>
                </a:solidFill>
                <a:latin typeface="Segoe UI"/>
              </a:rPr>
              <a:t>Cấu trúc 11 bảng thực thể cốt lõi trên SQL Server đảm bảo tính nhất quán tuyệt đối</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07 / 15</a:t>
            </a:r>
          </a:p>
        </p:txBody>
      </p:sp>
      <p:sp>
        <p:nvSpPr>
          <p:cNvPr id="10" name="Rounded Rectangle 9"/>
          <p:cNvSpPr/>
          <p:nvPr/>
        </p:nvSpPr>
        <p:spPr>
          <a:xfrm>
            <a:off x="73152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37360"/>
            <a:ext cx="4709160" cy="4343400"/>
          </a:xfrm>
          <a:prstGeom prst="rect">
            <a:avLst/>
          </a:prstGeom>
          <a:noFill/>
        </p:spPr>
        <p:txBody>
          <a:bodyPr wrap="square" lIns="0" tIns="0" rIns="0" bIns="0">
            <a:spAutoFit/>
          </a:bodyPr>
          <a:lstStyle/>
          <a:p>
            <a:r>
              <a:rPr sz="1750" b="1">
                <a:solidFill>
                  <a:srgbClr val="0D9488"/>
                </a:solidFill>
                <a:latin typeface="Segoe UI"/>
              </a:rPr>
              <a:t>Danh Mục 11 Bảng Thực Thể Chuẩn Hóa 3NF</a:t>
            </a:r>
          </a:p>
          <a:p>
            <a:pPr>
              <a:spcBef>
                <a:spcPts val="600"/>
              </a:spcBef>
            </a:pPr>
            <a:r>
              <a:rPr b="1" sz="1350">
                <a:solidFill>
                  <a:srgbClr val="0F172A"/>
                </a:solidFill>
              </a:rPr>
              <a:t>1. Nhóm Quản Trị &amp; Nhân Sự:</a:t>
            </a:r>
          </a:p>
          <a:p>
            <a:pPr>
              <a:spcBef>
                <a:spcPts val="200"/>
              </a:spcBef>
            </a:pPr>
            <a:r>
              <a:rPr sz="1250">
                <a:solidFill>
                  <a:srgbClr val="64748B"/>
                </a:solidFill>
              </a:rPr>
              <a:t>  • `departments`: Danh mục phòng ban, mã code UNIQUE</a:t>
            </a:r>
          </a:p>
          <a:p>
            <a:pPr>
              <a:spcBef>
                <a:spcPts val="200"/>
              </a:spcBef>
            </a:pPr>
            <a:r>
              <a:rPr sz="1250">
                <a:solidFill>
                  <a:srgbClr val="64748B"/>
                </a:solidFill>
              </a:rPr>
              <a:t>  • `employees`: Hồ sơ nhân sự, số CCCD UNIQUE, STK ngân hàng</a:t>
            </a:r>
          </a:p>
          <a:p>
            <a:pPr>
              <a:spcBef>
                <a:spcPts val="200"/>
              </a:spcBef>
            </a:pPr>
            <a:r>
              <a:rPr sz="1250">
                <a:solidFill>
                  <a:srgbClr val="64748B"/>
                </a:solidFill>
              </a:rPr>
              <a:t>  • `user_accounts`: Tài khoản đăng nhập, password_hash (BCrypt), role</a:t>
            </a:r>
          </a:p>
          <a:p>
            <a:pPr>
              <a:spcBef>
                <a:spcPts val="200"/>
              </a:spcBef>
            </a:pPr>
            <a:r>
              <a:rPr sz="1250">
                <a:solidFill>
                  <a:srgbClr val="64748B"/>
                </a:solidFill>
              </a:rPr>
              <a:t>  • `contracts`: Hợp đồng lao động, mức lương cơ bản (base_salary &gt;= 0)</a:t>
            </a:r>
          </a:p>
          <a:p>
            <a:pPr>
              <a:spcBef>
                <a:spcPts val="200"/>
              </a:spcBef>
            </a:pPr>
            <a:r>
              <a:rPr sz="1250">
                <a:solidFill>
                  <a:srgbClr val="64748B"/>
                </a:solidFill>
              </a:rPr>
              <a:t>  • `deduction_rates`: Tỷ lệ trích nộp bảo hiểm động (BHXH 8%, BHYT 1.5%...)</a:t>
            </a:r>
          </a:p>
          <a:p>
            <a:pPr>
              <a:spcBef>
                <a:spcPts val="600"/>
              </a:spcBef>
            </a:pPr>
            <a:r>
              <a:rPr b="1" sz="1350">
                <a:solidFill>
                  <a:srgbClr val="0F172A"/>
                </a:solidFill>
              </a:rPr>
              <a:t>2. Nhóm Chấm Công &amp; Phép:</a:t>
            </a:r>
          </a:p>
          <a:p>
            <a:pPr>
              <a:spcBef>
                <a:spcPts val="200"/>
              </a:spcBef>
            </a:pPr>
            <a:r>
              <a:rPr sz="1250">
                <a:solidFill>
                  <a:srgbClr val="64748B"/>
                </a:solidFill>
              </a:rPr>
              <a:t>  • `work_shifts`: Danh mục ca làm việc và hệ số làm thêm</a:t>
            </a:r>
          </a:p>
          <a:p>
            <a:pPr>
              <a:spcBef>
                <a:spcPts val="200"/>
              </a:spcBef>
            </a:pPr>
            <a:r>
              <a:rPr sz="1250">
                <a:solidFill>
                  <a:srgbClr val="64748B"/>
                </a:solidFill>
              </a:rPr>
              <a:t>  • `timesheets`: Nhật ký điểm danh Check-in/out, ngày công thực tế</a:t>
            </a:r>
          </a:p>
          <a:p>
            <a:pPr>
              <a:spcBef>
                <a:spcPts val="200"/>
              </a:spcBef>
            </a:pPr>
            <a:r>
              <a:rPr sz="1250">
                <a:solidFill>
                  <a:srgbClr val="64748B"/>
                </a:solidFill>
              </a:rPr>
              <a:t>  • `leave_requests`: Đơn xin nghỉ phép, trạng thái PENDING/APPROVED</a:t>
            </a:r>
          </a:p>
          <a:p>
            <a:pPr>
              <a:spcBef>
                <a:spcPts val="600"/>
              </a:spcBef>
            </a:pPr>
            <a:r>
              <a:rPr b="1" sz="1350">
                <a:solidFill>
                  <a:srgbClr val="0F172A"/>
                </a:solidFill>
              </a:rPr>
              <a:t>3. Nhóm Kỳ Lương &amp; Quyết Toán (Header - Line Pattern):</a:t>
            </a:r>
          </a:p>
          <a:p>
            <a:pPr>
              <a:spcBef>
                <a:spcPts val="200"/>
              </a:spcBef>
            </a:pPr>
            <a:r>
              <a:rPr sz="1250">
                <a:solidFill>
                  <a:srgbClr val="64748B"/>
                </a:solidFill>
              </a:rPr>
              <a:t>  • `payroll_periods`: Kỳ lương tháng, trạng thái DRAFT -&gt; LOCKED -&gt; PAID</a:t>
            </a:r>
          </a:p>
          <a:p>
            <a:pPr>
              <a:spcBef>
                <a:spcPts val="200"/>
              </a:spcBef>
            </a:pPr>
            <a:r>
              <a:rPr sz="1250">
                <a:solidFill>
                  <a:srgbClr val="64748B"/>
                </a:solidFill>
              </a:rPr>
              <a:t>  • `payslips` (Header): Phiếu lương tổng hợp từng nhân viên</a:t>
            </a:r>
          </a:p>
          <a:p>
            <a:pPr>
              <a:spcBef>
                <a:spcPts val="200"/>
              </a:spcBef>
            </a:pPr>
            <a:r>
              <a:rPr sz="1250">
                <a:solidFill>
                  <a:srgbClr val="64748B"/>
                </a:solidFill>
              </a:rPr>
              <a:t>  • `payslip_lines` (Line): Chi tiết từng dòng thu nhập và khấu trừ thuế/BH</a:t>
            </a:r>
          </a:p>
        </p:txBody>
      </p:sp>
      <p:sp>
        <p:nvSpPr>
          <p:cNvPr id="13" name="Rounded Rectangle 12"/>
          <p:cNvSpPr/>
          <p:nvPr/>
        </p:nvSpPr>
        <p:spPr>
          <a:xfrm>
            <a:off x="626364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37360"/>
            <a:ext cx="4709160" cy="4343400"/>
          </a:xfrm>
          <a:prstGeom prst="rect">
            <a:avLst/>
          </a:prstGeom>
          <a:noFill/>
        </p:spPr>
        <p:txBody>
          <a:bodyPr wrap="square" lIns="0" tIns="0" rIns="0" bIns="0">
            <a:spAutoFit/>
          </a:bodyPr>
          <a:lstStyle/>
          <a:p>
            <a:r>
              <a:rPr sz="1750" b="1">
                <a:solidFill>
                  <a:srgbClr val="2563EB"/>
                </a:solidFill>
                <a:latin typeface="Segoe UI"/>
              </a:rPr>
              <a:t>Ràng Buộc Toàn Vẹn Dữ Liệu &amp; Giao Dịch ACID</a:t>
            </a:r>
          </a:p>
          <a:p>
            <a:pPr>
              <a:spcBef>
                <a:spcPts val="600"/>
              </a:spcBef>
            </a:pPr>
            <a:r>
              <a:rPr b="1" sz="1350">
                <a:solidFill>
                  <a:srgbClr val="0F172A"/>
                </a:solidFill>
              </a:rPr>
              <a:t>✓ Mô hình Cặp Header - Line (`payslips` - `payslip_lines`):
</a:t>
            </a:r>
            <a:r>
              <a:rPr sz="1250">
                <a:solidFill>
                  <a:srgbClr val="64748B"/>
                </a:solidFill>
              </a:rPr>
              <a:t>Khi tính lương, thông tin tổng quát lưu tại `payslips`, các khoản chi tiết (lương ngày công, phụ cấp ăn trưa, trừ BHXH 8%, BHYT 1.5%, thuế TNCN) được lưu tại `payslip_lines` với khóa ngoại ON DELETE CASCADE.</a:t>
            </a:r>
          </a:p>
          <a:p>
            <a:pPr>
              <a:spcBef>
                <a:spcPts val="600"/>
              </a:spcBef>
            </a:pPr>
            <a:r>
              <a:rPr b="1" sz="1350">
                <a:solidFill>
                  <a:srgbClr val="0F172A"/>
                </a:solidFill>
              </a:rPr>
              <a:t>✓ Ràng buộc kiểm tra nghiêm ngặt (CHECK Constraints):
</a:t>
            </a:r>
            <a:r>
              <a:rPr sz="1250">
                <a:solidFill>
                  <a:srgbClr val="64748B"/>
                </a:solidFill>
              </a:rPr>
              <a:t>• `chk_contract_salary`: Lương cơ bản không âm: `CHECK (base_salary &gt;= 0)`.
• `chk_period_month`: Tháng kỳ lương hợp lệ: `CHECK (period_month BETWEEN 1 AND 12)`.
• `chk_period_status`: Trạng thái: `CHECK (status IN ('DRAFT', 'CALCULATED', 'LOCKED', 'PAID'))`.</a:t>
            </a:r>
          </a:p>
          <a:p>
            <a:pPr>
              <a:spcBef>
                <a:spcPts val="600"/>
              </a:spcBef>
            </a:pPr>
            <a:r>
              <a:rPr b="1" sz="1350">
                <a:solidFill>
                  <a:srgbClr val="0F172A"/>
                </a:solidFill>
              </a:rPr>
              <a:t>✓ Toàn vẹn giao dịch Database Transaction (ACID):
</a:t>
            </a:r>
            <a:r>
              <a:rPr sz="1250">
                <a:solidFill>
                  <a:srgbClr val="64748B"/>
                </a:solidFill>
              </a:rPr>
              <a:t>Quá trình ghi nhận bảng lương cho toàn bộ công ty được bọc trọn vẹn trong một giao dịch `using var tx = conn.BeginTransaction()`. Nếu xảy ra bất kỳ lỗi tính toán nào, hệ thống lập tức Rollback 100%, bảo vệ tuyệt đối tính nhất quán kế toán.</a:t>
            </a:r>
          </a:p>
          <a:p>
            <a:pPr>
              <a:spcBef>
                <a:spcPts val="600"/>
              </a:spcBef>
            </a:pPr>
            <a:r>
              <a:rPr b="1" sz="1350">
                <a:solidFill>
                  <a:srgbClr val="0F172A"/>
                </a:solidFill>
              </a:rPr>
              <a:t>✓ Động cơ Tỷ lệ Bảo hiểm Động (Dynamic Rates):
</a:t>
            </a:r>
            <a:r>
              <a:rPr sz="1250">
                <a:solidFill>
                  <a:srgbClr val="64748B"/>
                </a:solidFill>
              </a:rPr>
              <a:t>Tỷ lệ trích nộp được nạp động từ bảng `deduction_rates` thay vì hardcode. Khi Nhà nước điều chỉnh mức đóng, quản trị viên chỉ cần cập nhật CSDL mà không cần sửa code.</a:t>
            </a:r>
          </a:p>
        </p:txBody>
      </p:sp>
    </p:spTree>
  </p:cSld>
  <p:clrMapOvr>
    <a:masterClrMapping/>
  </p:clrMapOvr>
  <p:transition spd="med" advClick="1">
    <p:circl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THIẾT KẾ GIAO DIỆN</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07. Trải nghiệm người dùng UI/UX &amp; Responsive Mobile 390px</a:t>
            </a:r>
          </a:p>
          <a:p>
            <a:r>
              <a:rPr sz="1500">
                <a:solidFill>
                  <a:srgbClr val="64748B"/>
                </a:solidFill>
                <a:latin typeface="Segoe UI"/>
              </a:rPr>
              <a:t>Giao diện hiện đại, trực quan, tối ưu cho cả màn hình máy tính và thiết bị di động</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08 / 15</a:t>
            </a:r>
          </a:p>
        </p:txBody>
      </p:sp>
      <p:sp>
        <p:nvSpPr>
          <p:cNvPr id="10" name="Rounded Rectangle 9"/>
          <p:cNvSpPr/>
          <p:nvPr/>
        </p:nvSpPr>
        <p:spPr>
          <a:xfrm>
            <a:off x="731520"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3328416"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64792"/>
            <a:ext cx="2962656" cy="3383280"/>
          </a:xfrm>
          <a:prstGeom prst="rect">
            <a:avLst/>
          </a:prstGeom>
          <a:noFill/>
        </p:spPr>
        <p:txBody>
          <a:bodyPr wrap="square" lIns="0" tIns="0" rIns="0" bIns="0">
            <a:spAutoFit/>
          </a:bodyPr>
          <a:lstStyle/>
          <a:p>
            <a:r>
              <a:rPr sz="1500" b="1">
                <a:solidFill>
                  <a:srgbClr val="2563EB"/>
                </a:solidFill>
                <a:latin typeface="Segoe UI"/>
              </a:rPr>
              <a:t>DASHBOARD &amp; ĐỐI SOÁT QUỸ LƯƠNG</a:t>
            </a:r>
          </a:p>
          <a:p>
            <a:pPr>
              <a:spcBef>
                <a:spcPts val="700"/>
              </a:spcBef>
            </a:pPr>
            <a:r>
              <a:rPr b="1" sz="1400">
                <a:solidFill>
                  <a:srgbClr val="0F172A"/>
                </a:solidFill>
              </a:rPr>
              <a:t>• 4 Thẻ Chỉ Số KPI Trực Quan:
</a:t>
            </a:r>
            <a:r>
              <a:rPr sz="1250">
                <a:solidFill>
                  <a:srgbClr val="64748B"/>
                </a:solidFill>
              </a:rPr>
              <a:t>    Hiển thị tổng nhân sự, tổng giờ công làm việc, tổng quỹ lương thực chi và trạng thái khóa sổ kỳ lương.</a:t>
            </a:r>
          </a:p>
          <a:p>
            <a:pPr>
              <a:spcBef>
                <a:spcPts val="700"/>
              </a:spcBef>
            </a:pPr>
            <a:r>
              <a:rPr b="1" sz="1400">
                <a:solidFill>
                  <a:srgbClr val="0F172A"/>
                </a:solidFill>
              </a:rPr>
              <a:t>• Bảng Tổng Hợp Đối Soát Đa Cột:
</a:t>
            </a:r>
            <a:r>
              <a:rPr sz="1250">
                <a:solidFill>
                  <a:srgbClr val="64748B"/>
                </a:solidFill>
              </a:rPr>
              <a:t>    Đối soát chi tiết từng nhân viên: Lương hợp đồng, Ngày công thực tế, Phụ cấp, Giảm trừ BHXH/BHYT/BHTN, Thuế TNCN và Thực lĩnh (Net).</a:t>
            </a:r>
          </a:p>
          <a:p>
            <a:pPr>
              <a:spcBef>
                <a:spcPts val="700"/>
              </a:spcBef>
            </a:pPr>
            <a:r>
              <a:rPr b="1" sz="1400">
                <a:solidFill>
                  <a:srgbClr val="0F172A"/>
                </a:solidFill>
              </a:rPr>
              <a:t>• Thao Tác 1-Chạm Tiện Lợi:
</a:t>
            </a:r>
            <a:r>
              <a:rPr sz="1250">
                <a:solidFill>
                  <a:srgbClr val="64748B"/>
                </a:solidFill>
              </a:rPr>
              <a:t>    Tích hợp nút 'Chạy Tính Lương Tự Động', nút 'Khóa Sổ Kỳ Lương' và nút 'Xuất Báo Cáo Excel'.</a:t>
            </a:r>
          </a:p>
        </p:txBody>
      </p:sp>
      <p:sp>
        <p:nvSpPr>
          <p:cNvPr id="13" name="Rounded Rectangle 12"/>
          <p:cNvSpPr/>
          <p:nvPr/>
        </p:nvSpPr>
        <p:spPr>
          <a:xfrm>
            <a:off x="4425696"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1600200"/>
            <a:ext cx="3328416"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764792"/>
            <a:ext cx="2962656" cy="3383280"/>
          </a:xfrm>
          <a:prstGeom prst="rect">
            <a:avLst/>
          </a:prstGeom>
          <a:noFill/>
        </p:spPr>
        <p:txBody>
          <a:bodyPr wrap="square" lIns="0" tIns="0" rIns="0" bIns="0">
            <a:spAutoFit/>
          </a:bodyPr>
          <a:lstStyle/>
          <a:p>
            <a:r>
              <a:rPr sz="1500" b="1">
                <a:solidFill>
                  <a:srgbClr val="0EA5E9"/>
                </a:solidFill>
                <a:latin typeface="Segoe UI"/>
              </a:rPr>
              <a:t>CỔNG TỰ PHỤC VỤ NHÂN VIÊN (ESS)</a:t>
            </a:r>
          </a:p>
          <a:p>
            <a:pPr>
              <a:spcBef>
                <a:spcPts val="700"/>
              </a:spcBef>
            </a:pPr>
            <a:r>
              <a:rPr b="1" sz="1400">
                <a:solidFill>
                  <a:srgbClr val="0F172A"/>
                </a:solidFill>
              </a:rPr>
              <a:t>• Điểm Danh Check-in / Out 1 Chạm:
</a:t>
            </a:r>
            <a:r>
              <a:rPr sz="1250">
                <a:solidFill>
                  <a:srgbClr val="64748B"/>
                </a:solidFill>
              </a:rPr>
              <a:t>    Giao diện điểm danh nhanh chóng, tự động đối chiếu khung giờ ca làm việc (`work_shifts`).</a:t>
            </a:r>
          </a:p>
          <a:p>
            <a:pPr>
              <a:spcBef>
                <a:spcPts val="700"/>
              </a:spcBef>
            </a:pPr>
            <a:r>
              <a:rPr b="1" sz="1400">
                <a:solidFill>
                  <a:srgbClr val="0F172A"/>
                </a:solidFill>
              </a:rPr>
              <a:t>• Tra Cứu Phiếu Lương An Toàn:
</a:t>
            </a:r>
            <a:r>
              <a:rPr sz="1250">
                <a:solidFill>
                  <a:srgbClr val="64748B"/>
                </a:solidFill>
              </a:rPr>
              <a:t>    Hiển thị chi tiết từng dòng lương cá nhân, bảo vệ chống xem lén tuyệt đối (Anti-IDOR).</a:t>
            </a:r>
          </a:p>
          <a:p>
            <a:pPr>
              <a:spcBef>
                <a:spcPts val="700"/>
              </a:spcBef>
            </a:pPr>
            <a:r>
              <a:rPr b="1" sz="1400">
                <a:solidFill>
                  <a:srgbClr val="0F172A"/>
                </a:solidFill>
              </a:rPr>
              <a:t>• Nộp Đơn Xin Nghỉ Phép Trực Tuyến:
</a:t>
            </a:r>
            <a:r>
              <a:rPr sz="1250">
                <a:solidFill>
                  <a:srgbClr val="64748B"/>
                </a:solidFill>
              </a:rPr>
              <a:t>    Form nhập liệu có validation kiểm tra ngày bắt đầu/kết thúc, cảnh báo lỗi thời gian thực.</a:t>
            </a:r>
          </a:p>
        </p:txBody>
      </p:sp>
      <p:sp>
        <p:nvSpPr>
          <p:cNvPr id="16" name="Rounded Rectangle 15"/>
          <p:cNvSpPr/>
          <p:nvPr/>
        </p:nvSpPr>
        <p:spPr>
          <a:xfrm>
            <a:off x="8119872"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9872" y="1600200"/>
            <a:ext cx="3328416"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764792"/>
            <a:ext cx="2962656" cy="3383280"/>
          </a:xfrm>
          <a:prstGeom prst="rect">
            <a:avLst/>
          </a:prstGeom>
          <a:noFill/>
        </p:spPr>
        <p:txBody>
          <a:bodyPr wrap="square" lIns="0" tIns="0" rIns="0" bIns="0">
            <a:spAutoFit/>
          </a:bodyPr>
          <a:lstStyle/>
          <a:p>
            <a:r>
              <a:rPr sz="1500" b="1">
                <a:solidFill>
                  <a:srgbClr val="10B981"/>
                </a:solidFill>
                <a:latin typeface="Segoe UI"/>
              </a:rPr>
              <a:t>TỐI ƯU MOBILE RESPONSIVE 390PX</a:t>
            </a:r>
          </a:p>
          <a:p>
            <a:pPr>
              <a:spcBef>
                <a:spcPts val="700"/>
              </a:spcBef>
            </a:pPr>
            <a:r>
              <a:rPr b="1" sz="1400">
                <a:solidFill>
                  <a:srgbClr val="0F172A"/>
                </a:solidFill>
              </a:rPr>
              <a:t>• Kiểm Thử Chuẩn Màn Hình 390px:
</a:t>
            </a:r>
            <a:r>
              <a:rPr sz="1250">
                <a:solidFill>
                  <a:srgbClr val="64748B"/>
                </a:solidFill>
              </a:rPr>
              <a:t>    Tương thích hoàn hảo trên các dòng điện thoại thông minh (iPhone 12/14/15/16).</a:t>
            </a:r>
          </a:p>
          <a:p>
            <a:pPr>
              <a:spcBef>
                <a:spcPts val="700"/>
              </a:spcBef>
            </a:pPr>
            <a:r>
              <a:rPr b="1" sz="1400">
                <a:solidFill>
                  <a:srgbClr val="0F172A"/>
                </a:solidFill>
              </a:rPr>
              <a:t>• Menu Tự Động Thu Gọn:
</a:t>
            </a:r>
            <a:r>
              <a:rPr sz="1250">
                <a:solidFill>
                  <a:srgbClr val="64748B"/>
                </a:solidFill>
              </a:rPr>
              <a:t>    Thanh điều hướng co giãn thành nút Hamburger mượt mà khi màn hình hẹp.</a:t>
            </a:r>
          </a:p>
          <a:p>
            <a:pPr>
              <a:spcBef>
                <a:spcPts val="700"/>
              </a:spcBef>
            </a:pPr>
            <a:r>
              <a:rPr b="1" sz="1400">
                <a:solidFill>
                  <a:srgbClr val="0F172A"/>
                </a:solidFill>
              </a:rPr>
              <a:t>• Bảng Tính Vuốt Chạm Cảm Ứng:
</a:t>
            </a:r>
            <a:r>
              <a:rPr sz="1250">
                <a:solidFill>
                  <a:srgbClr val="64748B"/>
                </a:solidFill>
              </a:rPr>
              <a:t>    Bọc trong container `.table-responsive` hỗ trợ vuốt cuộn ngang mượt mà, không vỡ layout.</a:t>
            </a:r>
          </a:p>
        </p:txBody>
      </p:sp>
      <p:sp>
        <p:nvSpPr>
          <p:cNvPr id="19" name="Rounded Rectangle 18"/>
          <p:cNvSpPr/>
          <p:nvPr/>
        </p:nvSpPr>
        <p:spPr>
          <a:xfrm>
            <a:off x="731520" y="5440680"/>
            <a:ext cx="10728655" cy="822960"/>
          </a:xfrm>
          <a:prstGeom prst="roundRect">
            <a:avLst/>
          </a:prstGeom>
          <a:solidFill>
            <a:srgbClr val="F5F3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504688"/>
            <a:ext cx="10241280" cy="685800"/>
          </a:xfrm>
          <a:prstGeom prst="rect">
            <a:avLst/>
          </a:prstGeom>
          <a:noFill/>
        </p:spPr>
        <p:txBody>
          <a:bodyPr wrap="square" lIns="0" tIns="0" rIns="0" bIns="0">
            <a:spAutoFit/>
          </a:bodyPr>
          <a:lstStyle/>
          <a:p>
            <a:r>
              <a:rPr sz="1400" b="1">
                <a:solidFill>
                  <a:srgbClr val="9333EA"/>
                </a:solidFill>
                <a:latin typeface="Segoe UI"/>
              </a:rPr>
              <a:t>✦ WIDGET TRỢ LÝ LƯƠNG AI NỔI TOÀN HỆ THỐNG (`FloatingAiAssistant.razor`): </a:t>
            </a:r>
            <a:r>
              <a:rPr sz="1400">
                <a:solidFill>
                  <a:srgbClr val="0F172A"/>
                </a:solidFill>
                <a:latin typeface="Segoe UI"/>
              </a:rPr>
              <a:t>Nút tròn thông minh nổi cố định ở góc phải dưới màn hình trên mọi trang. Bấm vào mở khung chat kính mờ hiện đại, hỗ trợ nhân viên hỏi đáp lương tức thì và tự động co giãn kích thước `calc(100vw - 20px)` khi xem trên di động.</a:t>
            </a:r>
          </a:p>
        </p:txBody>
      </p:sp>
    </p:spTree>
  </p:cSld>
  <p:clrMapOvr>
    <a:masterClrMapping/>
  </p:clrMapOvr>
  <p:transition spd="med" advClick="1">
    <p:wheel spokes="4"/>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QUY TRÌNH NGHIỆP VỤ</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08. Luồng nghiệp vụ Chấm công, Tính lương &amp; Khóa sổ kỳ lương</a:t>
            </a:r>
          </a:p>
          <a:p>
            <a:r>
              <a:rPr sz="1500">
                <a:solidFill>
                  <a:srgbClr val="64748B"/>
                </a:solidFill>
                <a:latin typeface="Segoe UI"/>
              </a:rPr>
              <a:t>Quy trình khép kín tự động hóa từ điểm danh hàng ngày đến chốt số liệu tài chính</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09 / 15</a:t>
            </a:r>
          </a:p>
        </p:txBody>
      </p:sp>
      <p:sp>
        <p:nvSpPr>
          <p:cNvPr id="10" name="Rounded Rectangle 9"/>
          <p:cNvSpPr/>
          <p:nvPr/>
        </p:nvSpPr>
        <p:spPr>
          <a:xfrm>
            <a:off x="731520" y="1600200"/>
            <a:ext cx="3328416"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3328416"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64792"/>
            <a:ext cx="2962656" cy="3474719"/>
          </a:xfrm>
          <a:prstGeom prst="rect">
            <a:avLst/>
          </a:prstGeom>
          <a:noFill/>
        </p:spPr>
        <p:txBody>
          <a:bodyPr wrap="square" lIns="0" tIns="0" rIns="0" bIns="0">
            <a:spAutoFit/>
          </a:bodyPr>
          <a:lstStyle/>
          <a:p>
            <a:r>
              <a:rPr sz="1500" b="1">
                <a:solidFill>
                  <a:srgbClr val="0EA5E9"/>
                </a:solidFill>
                <a:latin typeface="Segoe UI"/>
              </a:rPr>
              <a:t>LUỒNG 1: CHẤM CÔNG &amp; NGHỈ PHÉP</a:t>
            </a:r>
          </a:p>
          <a:p>
            <a:pPr>
              <a:spcBef>
                <a:spcPts val="600"/>
              </a:spcBef>
            </a:pPr>
            <a:r>
              <a:rPr b="1" sz="1350">
                <a:solidFill>
                  <a:srgbClr val="0F172A"/>
                </a:solidFill>
              </a:rPr>
              <a:t>Bước 1: </a:t>
            </a:r>
            <a:r>
              <a:rPr sz="1250">
                <a:solidFill>
                  <a:srgbClr val="64748B"/>
                </a:solidFill>
              </a:rPr>
              <a:t> Nhân viên điểm danh Check-in khi đến và Check-out khi về.</a:t>
            </a:r>
          </a:p>
          <a:p>
            <a:pPr>
              <a:spcBef>
                <a:spcPts val="600"/>
              </a:spcBef>
            </a:pPr>
            <a:r>
              <a:rPr b="1" sz="1350">
                <a:solidFill>
                  <a:srgbClr val="0F172A"/>
                </a:solidFill>
              </a:rPr>
              <a:t>Bước 2: </a:t>
            </a:r>
            <a:r>
              <a:rPr sz="1250">
                <a:solidFill>
                  <a:srgbClr val="64748B"/>
                </a:solidFill>
              </a:rPr>
              <a:t> Hệ thống so khớp khung giờ với danh mục ca làm (`work_shifts`) để tính số giờ và xác định trạng thái (Đúng giờ, Đi muộn, Về sớm).</a:t>
            </a:r>
          </a:p>
          <a:p>
            <a:pPr>
              <a:spcBef>
                <a:spcPts val="600"/>
              </a:spcBef>
            </a:pPr>
            <a:r>
              <a:rPr b="1" sz="1350">
                <a:solidFill>
                  <a:srgbClr val="0F172A"/>
                </a:solidFill>
              </a:rPr>
              <a:t>Bước 3: </a:t>
            </a:r>
            <a:r>
              <a:rPr sz="1250">
                <a:solidFill>
                  <a:srgbClr val="64748B"/>
                </a:solidFill>
              </a:rPr>
              <a:t> Nhân viên nộp đơn xin nghỉ phép trực tuyến (`leave_requests`).</a:t>
            </a:r>
          </a:p>
          <a:p>
            <a:pPr>
              <a:spcBef>
                <a:spcPts val="600"/>
              </a:spcBef>
            </a:pPr>
            <a:r>
              <a:rPr b="1" sz="1350">
                <a:solidFill>
                  <a:srgbClr val="0F172A"/>
                </a:solidFill>
              </a:rPr>
              <a:t>Bước 4: </a:t>
            </a:r>
            <a:r>
              <a:rPr sz="1250">
                <a:solidFill>
                  <a:srgbClr val="64748B"/>
                </a:solidFill>
              </a:rPr>
              <a:t> Kế toán/Quản lý xét duyệt đơn phép (`APPROVED`/`REJECTED`).</a:t>
            </a:r>
          </a:p>
          <a:p>
            <a:pPr>
              <a:spcBef>
                <a:spcPts val="600"/>
              </a:spcBef>
            </a:pPr>
            <a:r>
              <a:rPr b="1" sz="1350">
                <a:solidFill>
                  <a:srgbClr val="0F172A"/>
                </a:solidFill>
              </a:rPr>
              <a:t>Bước 5: </a:t>
            </a:r>
            <a:r>
              <a:rPr sz="1250">
                <a:solidFill>
                  <a:srgbClr val="64748B"/>
                </a:solidFill>
              </a:rPr>
              <a:t> Tổng hợp ngày công thực tế và ngày nghỉ có phép cho kỳ lương.</a:t>
            </a:r>
          </a:p>
        </p:txBody>
      </p:sp>
      <p:sp>
        <p:nvSpPr>
          <p:cNvPr id="13" name="Rounded Rectangle 12"/>
          <p:cNvSpPr/>
          <p:nvPr/>
        </p:nvSpPr>
        <p:spPr>
          <a:xfrm>
            <a:off x="4425696" y="1600200"/>
            <a:ext cx="3328416"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1600200"/>
            <a:ext cx="3328416"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764792"/>
            <a:ext cx="2962656" cy="3474719"/>
          </a:xfrm>
          <a:prstGeom prst="rect">
            <a:avLst/>
          </a:prstGeom>
          <a:noFill/>
        </p:spPr>
        <p:txBody>
          <a:bodyPr wrap="square" lIns="0" tIns="0" rIns="0" bIns="0">
            <a:spAutoFit/>
          </a:bodyPr>
          <a:lstStyle/>
          <a:p>
            <a:r>
              <a:rPr sz="1500" b="1">
                <a:solidFill>
                  <a:srgbClr val="10B981"/>
                </a:solidFill>
                <a:latin typeface="Segoe UI"/>
              </a:rPr>
              <a:t>LUỒNG 2: ĐỘNG CƠ TÍNH LƯƠNG 1-CHẠM</a:t>
            </a:r>
          </a:p>
          <a:p>
            <a:pPr>
              <a:spcBef>
                <a:spcPts val="600"/>
              </a:spcBef>
            </a:pPr>
            <a:r>
              <a:rPr b="1" sz="1350">
                <a:solidFill>
                  <a:srgbClr val="0F172A"/>
                </a:solidFill>
              </a:rPr>
              <a:t>Bước 1: </a:t>
            </a:r>
            <a:r>
              <a:rPr sz="1250">
                <a:solidFill>
                  <a:srgbClr val="64748B"/>
                </a:solidFill>
              </a:rPr>
              <a:t> Kế toán chọn kỳ lương cần tính toán (tháng/năm).</a:t>
            </a:r>
          </a:p>
          <a:p>
            <a:pPr>
              <a:spcBef>
                <a:spcPts val="600"/>
              </a:spcBef>
            </a:pPr>
            <a:r>
              <a:rPr b="1" sz="1350">
                <a:solidFill>
                  <a:srgbClr val="0F172A"/>
                </a:solidFill>
              </a:rPr>
              <a:t>Bước 2: </a:t>
            </a:r>
            <a:r>
              <a:rPr sz="1250">
                <a:solidFill>
                  <a:srgbClr val="64748B"/>
                </a:solidFill>
              </a:rPr>
              <a:t> Nạp danh sách nhân viên, hợp đồng và mức lương cơ bản.</a:t>
            </a:r>
          </a:p>
          <a:p>
            <a:pPr>
              <a:spcBef>
                <a:spcPts val="600"/>
              </a:spcBef>
            </a:pPr>
            <a:r>
              <a:rPr b="1" sz="1350">
                <a:solidFill>
                  <a:srgbClr val="0F172A"/>
                </a:solidFill>
              </a:rPr>
              <a:t>Bước 3: </a:t>
            </a:r>
            <a:r>
              <a:rPr sz="1250">
                <a:solidFill>
                  <a:srgbClr val="64748B"/>
                </a:solidFill>
              </a:rPr>
              <a:t> Nạp tổng số ngày công và ngày phép từ bảng `timesheets`.</a:t>
            </a:r>
          </a:p>
          <a:p>
            <a:pPr>
              <a:spcBef>
                <a:spcPts val="600"/>
              </a:spcBef>
            </a:pPr>
            <a:r>
              <a:rPr b="1" sz="1350">
                <a:solidFill>
                  <a:srgbClr val="0F172A"/>
                </a:solidFill>
              </a:rPr>
              <a:t>Bước 4: </a:t>
            </a:r>
            <a:r>
              <a:rPr sz="1250">
                <a:solidFill>
                  <a:srgbClr val="64748B"/>
                </a:solidFill>
              </a:rPr>
              <a:t> Nạp tỷ lệ trích nộp bảo hiểm động từ bảng `deduction_rates`.</a:t>
            </a:r>
          </a:p>
          <a:p>
            <a:pPr>
              <a:spcBef>
                <a:spcPts val="600"/>
              </a:spcBef>
            </a:pPr>
            <a:r>
              <a:rPr b="1" sz="1350">
                <a:solidFill>
                  <a:srgbClr val="0F172A"/>
                </a:solidFill>
              </a:rPr>
              <a:t>Bước 5: </a:t>
            </a:r>
            <a:r>
              <a:rPr sz="1250">
                <a:solidFill>
                  <a:srgbClr val="64748B"/>
                </a:solidFill>
              </a:rPr>
              <a:t> Thực thi động cơ `SalaryFormulaEngine` tính Gross, BH 10.5%, thuế TNCN lũy tiến và Net Salary trong 1 Transaction.</a:t>
            </a:r>
          </a:p>
        </p:txBody>
      </p:sp>
      <p:sp>
        <p:nvSpPr>
          <p:cNvPr id="16" name="Rounded Rectangle 15"/>
          <p:cNvSpPr/>
          <p:nvPr/>
        </p:nvSpPr>
        <p:spPr>
          <a:xfrm>
            <a:off x="8119872" y="1600200"/>
            <a:ext cx="3328416"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9872" y="1600200"/>
            <a:ext cx="3328416"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764792"/>
            <a:ext cx="2962656" cy="3474719"/>
          </a:xfrm>
          <a:prstGeom prst="rect">
            <a:avLst/>
          </a:prstGeom>
          <a:noFill/>
        </p:spPr>
        <p:txBody>
          <a:bodyPr wrap="square" lIns="0" tIns="0" rIns="0" bIns="0">
            <a:spAutoFit/>
          </a:bodyPr>
          <a:lstStyle/>
          <a:p>
            <a:r>
              <a:rPr sz="1500" b="1">
                <a:solidFill>
                  <a:srgbClr val="9333EA"/>
                </a:solidFill>
                <a:latin typeface="Segoe UI"/>
              </a:rPr>
              <a:t>LUỒNG 3: KHÓA SỔ KỲ LƯƠNG READ-ONLY</a:t>
            </a:r>
          </a:p>
          <a:p>
            <a:pPr>
              <a:spcBef>
                <a:spcPts val="600"/>
              </a:spcBef>
            </a:pPr>
            <a:r>
              <a:rPr b="1" sz="1350">
                <a:solidFill>
                  <a:srgbClr val="0F172A"/>
                </a:solidFill>
              </a:rPr>
              <a:t>Trạng thái 1: DRAFT </a:t>
            </a:r>
            <a:r>
              <a:rPr sz="1250">
                <a:solidFill>
                  <a:srgbClr val="64748B"/>
                </a:solidFill>
              </a:rPr>
              <a:t> Kỳ lương nháp, đang thu thập ngày công.</a:t>
            </a:r>
          </a:p>
          <a:p>
            <a:pPr>
              <a:spcBef>
                <a:spcPts val="600"/>
              </a:spcBef>
            </a:pPr>
            <a:r>
              <a:rPr b="1" sz="1350">
                <a:solidFill>
                  <a:srgbClr val="0F172A"/>
                </a:solidFill>
              </a:rPr>
              <a:t>Trạng thái 2: CALCULATED </a:t>
            </a:r>
            <a:r>
              <a:rPr sz="1250">
                <a:solidFill>
                  <a:srgbClr val="64748B"/>
                </a:solidFill>
              </a:rPr>
              <a:t> Đã tính toán xong, kế toán đối soát quỹ lương.</a:t>
            </a:r>
          </a:p>
          <a:p>
            <a:pPr>
              <a:spcBef>
                <a:spcPts val="600"/>
              </a:spcBef>
            </a:pPr>
            <a:r>
              <a:rPr b="1" sz="1350">
                <a:solidFill>
                  <a:srgbClr val="0F172A"/>
                </a:solidFill>
              </a:rPr>
              <a:t>Trạng thái 3: LOCKED </a:t>
            </a:r>
            <a:r>
              <a:rPr sz="1250">
                <a:solidFill>
                  <a:srgbClr val="64748B"/>
                </a:solidFill>
              </a:rPr>
              <a:t> Kế toán bấm 'Khóa Sổ' -&gt; Kỳ lương chuyển sang trạng thái Read-Only bất biến, tuyệt đối không được phép tính lại.</a:t>
            </a:r>
          </a:p>
          <a:p>
            <a:pPr>
              <a:spcBef>
                <a:spcPts val="600"/>
              </a:spcBef>
            </a:pPr>
            <a:r>
              <a:rPr b="1" sz="1350">
                <a:solidFill>
                  <a:srgbClr val="0F172A"/>
                </a:solidFill>
              </a:rPr>
              <a:t>Trạng thái 4: PAID </a:t>
            </a:r>
            <a:r>
              <a:rPr sz="1250">
                <a:solidFill>
                  <a:srgbClr val="64748B"/>
                </a:solidFill>
              </a:rPr>
              <a:t> Xuất ủy nhiệm chi ngân hàng và hoàn tất chi trả.</a:t>
            </a:r>
          </a:p>
          <a:p>
            <a:pPr>
              <a:spcBef>
                <a:spcPts val="600"/>
              </a:spcBef>
            </a:pPr>
            <a:r>
              <a:rPr b="1" sz="1350">
                <a:solidFill>
                  <a:srgbClr val="0F172A"/>
                </a:solidFill>
              </a:rPr>
              <a:t>Bảo mật tài chính: </a:t>
            </a:r>
            <a:r>
              <a:rPr sz="1250">
                <a:solidFill>
                  <a:srgbClr val="64748B"/>
                </a:solidFill>
              </a:rPr>
              <a:t> Ngăn chặn mọi hành vi gian lận hoặc can thiệp số liệu sau khi đã chốt sổ.</a:t>
            </a:r>
          </a:p>
        </p:txBody>
      </p:sp>
      <p:sp>
        <p:nvSpPr>
          <p:cNvPr id="19" name="Rounded Rectangle 18"/>
          <p:cNvSpPr/>
          <p:nvPr/>
        </p:nvSpPr>
        <p:spPr>
          <a:xfrm>
            <a:off x="731520" y="548640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532120"/>
            <a:ext cx="2926080" cy="731520"/>
          </a:xfrm>
          <a:prstGeom prst="rect">
            <a:avLst/>
          </a:prstGeom>
          <a:noFill/>
        </p:spPr>
        <p:txBody>
          <a:bodyPr wrap="square" lIns="0" tIns="0" rIns="0" bIns="0">
            <a:spAutoFit/>
          </a:bodyPr>
          <a:lstStyle/>
          <a:p>
            <a:r>
              <a:rPr sz="1350" b="1">
                <a:solidFill>
                  <a:srgbClr val="2563EB"/>
                </a:solidFill>
                <a:latin typeface="Segoe UI"/>
              </a:rPr>
              <a:t>SƠ ĐỒ TRẠNG THÁI KỲ LƯƠNG:
DRAFT → CALCULATED → LOCKED (Read-Only) → PAID</a:t>
            </a:r>
          </a:p>
        </p:txBody>
      </p:sp>
      <p:pic>
        <p:nvPicPr>
          <p:cNvPr id="21" name="Picture 20" descr="12_state_payroll_period.png"/>
          <p:cNvPicPr>
            <a:picLocks noChangeAspect="1"/>
          </p:cNvPicPr>
          <p:nvPr/>
        </p:nvPicPr>
        <p:blipFill>
          <a:blip r:embed="rId2"/>
          <a:stretch>
            <a:fillRect/>
          </a:stretch>
        </p:blipFill>
        <p:spPr>
          <a:xfrm>
            <a:off x="3931920" y="5532120"/>
            <a:ext cx="648337" cy="777240"/>
          </a:xfrm>
          <a:prstGeom prst="rect">
            <a:avLst/>
          </a:prstGeom>
        </p:spPr>
      </p:pic>
    </p:spTree>
  </p:cSld>
  <p:clrMapOvr>
    <a:masterClrMapping/>
  </p:clrMapOvr>
  <p:transition spd="med" advClick="1">
    <p:blinds dir="ver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MINH HỌA LẬP TRÌNH</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09. Đoạn mã nguồn tiêu biểu &amp; Kỹ thuật đảm bảo toàn vẹn</a:t>
            </a:r>
          </a:p>
          <a:p>
            <a:r>
              <a:rPr sz="1500">
                <a:solidFill>
                  <a:srgbClr val="64748B"/>
                </a:solidFill>
                <a:latin typeface="Segoe UI"/>
              </a:rPr>
              <a:t>Triển khai Database Transaction ACID và Động cơ tính lương theo luật</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10 / 15</a:t>
            </a:r>
          </a:p>
        </p:txBody>
      </p:sp>
      <p:sp>
        <p:nvSpPr>
          <p:cNvPr id="10" name="Rounded Rectangle 9"/>
          <p:cNvSpPr/>
          <p:nvPr/>
        </p:nvSpPr>
        <p:spPr>
          <a:xfrm>
            <a:off x="731520" y="1600200"/>
            <a:ext cx="5166360" cy="4617720"/>
          </a:xfrm>
          <a:prstGeom prst="roundRect">
            <a:avLst/>
          </a:prstGeom>
          <a:solidFill>
            <a:srgbClr val="18202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37360"/>
            <a:ext cx="4800600" cy="4343400"/>
          </a:xfrm>
          <a:prstGeom prst="rect">
            <a:avLst/>
          </a:prstGeom>
          <a:noFill/>
        </p:spPr>
        <p:txBody>
          <a:bodyPr wrap="square" lIns="0" tIns="0" rIns="0" bIns="0">
            <a:spAutoFit/>
          </a:bodyPr>
          <a:lstStyle/>
          <a:p>
            <a:r>
              <a:rPr sz="1500" b="1">
                <a:solidFill>
                  <a:srgbClr val="0EA5E9"/>
                </a:solidFill>
                <a:latin typeface="Segoe UI"/>
              </a:rPr>
              <a:t>1. Quản Trị Giao Dịch ACID (SqlRepositories.cs)</a:t>
            </a:r>
          </a:p>
          <a:p>
            <a:pPr>
              <a:spcBef>
                <a:spcPts val="600"/>
              </a:spcBef>
            </a:pPr>
            <a:r>
              <a:rPr sz="1250">
                <a:solidFill>
                  <a:srgbClr val="E2E8F0"/>
                </a:solidFill>
                <a:latin typeface="Consolas"/>
              </a:rPr>
              <a:t>// Mở giao dịch CSDL an toàn ACID
using var tx = conn.BeginTransaction();
try {
    foreach (var slip in payslips) {
        // 1. Lưu Header phiếu lương &amp; lấy ID
        var slipId = await conn.ExecuteScalarAsync&lt;long&gt;(
            sqlHeader, slip, tx);
        // 2. Lưu toàn bộ các dòng chi tiết Line
        foreach (var line in slip.Lines) {
            line.PayslipId = slipId;
            await conn.ExecuteAsync(sqlLine, line, tx);
        }
    }
    tx.Commit(); // Hoàn tất an toàn
} catch {
    tx.Rollback(); // Hoàn nguyên 100% nếu lỗi
    throw;
}</a:t>
            </a:r>
          </a:p>
          <a:p>
            <a:pPr>
              <a:spcBef>
                <a:spcPts val="600"/>
              </a:spcBef>
            </a:pPr>
            <a:r>
              <a:rPr sz="1250">
                <a:solidFill>
                  <a:srgbClr val="F59E0B"/>
                </a:solidFill>
                <a:latin typeface="Segoe UI"/>
              </a:rPr>
              <a:t>★ Bảo đảm: Nếu mất điện hoặc lỗi dữ liệu giữa chừng, không bao giờ xảy ra tình trạng lưu dở dang Header mà thiếu Line.</a:t>
            </a:r>
          </a:p>
        </p:txBody>
      </p:sp>
      <p:sp>
        <p:nvSpPr>
          <p:cNvPr id="13" name="Rounded Rectangle 12"/>
          <p:cNvSpPr/>
          <p:nvPr/>
        </p:nvSpPr>
        <p:spPr>
          <a:xfrm>
            <a:off x="6263640" y="1600200"/>
            <a:ext cx="5166360" cy="4617720"/>
          </a:xfrm>
          <a:prstGeom prst="roundRect">
            <a:avLst/>
          </a:prstGeom>
          <a:solidFill>
            <a:srgbClr val="18202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37360"/>
            <a:ext cx="4800600" cy="4343400"/>
          </a:xfrm>
          <a:prstGeom prst="rect">
            <a:avLst/>
          </a:prstGeom>
          <a:noFill/>
        </p:spPr>
        <p:txBody>
          <a:bodyPr wrap="square" lIns="0" tIns="0" rIns="0" bIns="0">
            <a:spAutoFit/>
          </a:bodyPr>
          <a:lstStyle/>
          <a:p>
            <a:r>
              <a:rPr sz="1500" b="1">
                <a:solidFill>
                  <a:srgbClr val="10B981"/>
                </a:solidFill>
                <a:latin typeface="Segoe UI"/>
              </a:rPr>
              <a:t>2. Động Cơ Tính Lương &amp; Phòng Vệ URL 403</a:t>
            </a:r>
          </a:p>
          <a:p>
            <a:pPr>
              <a:spcBef>
                <a:spcPts val="600"/>
              </a:spcBef>
            </a:pPr>
            <a:r>
              <a:rPr sz="1250">
                <a:solidFill>
                  <a:srgbClr val="E2E8F0"/>
                </a:solidFill>
                <a:latin typeface="Consolas"/>
              </a:rPr>
              <a:t>// Động cơ tính lương theo luật (SalaryFormulaEngine.cs)
decimal dayRate = contract.BaseSalary / standardDays;
decimal proratedBase = dayRate * actualWorkingDays;
// Khấu trừ BHXH 8%, BHYT 1.5%, BHTN 1% từ CSDL động
decimal bhxh = contract.BaseSalary * rates["BHXH_EMP"];
decimal totalDeductions = bhxh + bhyt + bhtn;
// Thuế TNCN lũy tiến 7 bậc sau giảm trừ gia cảnh 11tr
decimal pit = CalculatePersonalIncomeTax(taxableIncome);
decimal netSalary = grossSalary - totalDeductions - pit;
// Phòng vệ URL Router (Routes.razor)
&lt;AuthorizeRouteView RouteData="@routeData"&gt;
    &lt;NotAuthorized&gt;
        &lt;AccessDenied403 /&gt; &lt;!-- Chặn người thường --&gt;
    &lt;/NotAuthorized&gt;
&lt;/AuthorizeRouteView&gt;</a:t>
            </a:r>
          </a:p>
          <a:p>
            <a:pPr>
              <a:spcBef>
                <a:spcPts val="600"/>
              </a:spcBef>
            </a:pPr>
            <a:r>
              <a:rPr sz="1250">
                <a:solidFill>
                  <a:srgbClr val="0EA5E9"/>
                </a:solidFill>
                <a:latin typeface="Segoe UI"/>
              </a:rPr>
              <a:t>★ Bảo vệ đa tầng: Tỷ lệ bảo hiểm nạp động từ CSDL; Router chặn ngay lập tức nếu người dùng cố gõ URL quản trị trên thanh địa chỉ.</a:t>
            </a:r>
          </a:p>
        </p:txBody>
      </p:sp>
    </p:spTree>
  </p:cSld>
  <p:clrMapOvr>
    <a:masterClrMapping/>
  </p:clrMapOvr>
  <p:transition spd="med" advClick="1">
    <p:diamond/>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KẾT QUẢ THỰC HIỆN</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10. Hệ thống vận hành thực tế &amp; Các tính năng đột phá</a:t>
            </a:r>
          </a:p>
          <a:p>
            <a:r>
              <a:rPr sz="1500">
                <a:solidFill>
                  <a:srgbClr val="64748B"/>
                </a:solidFill>
                <a:latin typeface="Segoe UI"/>
              </a:rPr>
              <a:t>Sản phẩm phần mềm hoàn chỉnh với các năng lực tự động hóa và tích hợp AI</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11 / 15</a:t>
            </a:r>
          </a:p>
        </p:txBody>
      </p:sp>
      <p:sp>
        <p:nvSpPr>
          <p:cNvPr id="10" name="Rounded Rectangle 9"/>
          <p:cNvSpPr/>
          <p:nvPr/>
        </p:nvSpPr>
        <p:spPr>
          <a:xfrm>
            <a:off x="731520"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3328416"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64792"/>
            <a:ext cx="2962656" cy="3383280"/>
          </a:xfrm>
          <a:prstGeom prst="rect">
            <a:avLst/>
          </a:prstGeom>
          <a:noFill/>
        </p:spPr>
        <p:txBody>
          <a:bodyPr wrap="square" lIns="0" tIns="0" rIns="0" bIns="0">
            <a:spAutoFit/>
          </a:bodyPr>
          <a:lstStyle/>
          <a:p>
            <a:r>
              <a:rPr sz="1500" b="1">
                <a:solidFill>
                  <a:srgbClr val="10B981"/>
                </a:solidFill>
                <a:latin typeface="Segoe UI"/>
              </a:rPr>
              <a:t>TỰ ĐỘNG HÓA 1-CHẠM (1-CLICK RUN)</a:t>
            </a:r>
          </a:p>
          <a:p>
            <a:pPr>
              <a:spcBef>
                <a:spcPts val="700"/>
              </a:spcBef>
            </a:pPr>
            <a:r>
              <a:rPr b="1" sz="1400">
                <a:solidFill>
                  <a:srgbClr val="0F172A"/>
                </a:solidFill>
              </a:rPr>
              <a:t>✓ Tốc Độ Tính Toán Vượt Trội:
</a:t>
            </a:r>
            <a:r>
              <a:rPr sz="1250">
                <a:solidFill>
                  <a:srgbClr val="64748B"/>
                </a:solidFill>
              </a:rPr>
              <a:t>    Xử lý toàn bộ bảng lương công ty 20-50 nhân sự chỉ mất dưới 1.5 giây.</a:t>
            </a:r>
          </a:p>
          <a:p>
            <a:pPr>
              <a:spcBef>
                <a:spcPts val="700"/>
              </a:spcBef>
            </a:pPr>
            <a:r>
              <a:rPr b="1" sz="1400">
                <a:solidFill>
                  <a:srgbClr val="0F172A"/>
                </a:solidFill>
              </a:rPr>
              <a:t>✓ Độ Chính Xác Tuyệt Đối:
</a:t>
            </a:r>
            <a:r>
              <a:rPr sz="1250">
                <a:solidFill>
                  <a:srgbClr val="64748B"/>
                </a:solidFill>
              </a:rPr>
              <a:t>    Loại bỏ 100% rủi ro kéo nhầm dòng, lệch ô công thức thường gặp trên Excel.</a:t>
            </a:r>
          </a:p>
          <a:p>
            <a:pPr>
              <a:spcBef>
                <a:spcPts val="700"/>
              </a:spcBef>
            </a:pPr>
            <a:r>
              <a:rPr b="1" sz="1400">
                <a:solidFill>
                  <a:srgbClr val="0F172A"/>
                </a:solidFill>
              </a:rPr>
              <a:t>✓ Bảo Toàn Số Liệu Read-Only:
</a:t>
            </a:r>
            <a:r>
              <a:rPr sz="1250">
                <a:solidFill>
                  <a:srgbClr val="64748B"/>
                </a:solidFill>
              </a:rPr>
              <a:t>    Cơ chế khóa sổ kỳ lương (`LOCKED`) ngăn chặn tuyệt đối can thiệp sửa đổi trái phép sau khi duyệt.</a:t>
            </a:r>
          </a:p>
        </p:txBody>
      </p:sp>
      <p:sp>
        <p:nvSpPr>
          <p:cNvPr id="13" name="Rounded Rectangle 12"/>
          <p:cNvSpPr/>
          <p:nvPr/>
        </p:nvSpPr>
        <p:spPr>
          <a:xfrm>
            <a:off x="4425696"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25696" y="1600200"/>
            <a:ext cx="3328416"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764792"/>
            <a:ext cx="2962656" cy="3383280"/>
          </a:xfrm>
          <a:prstGeom prst="rect">
            <a:avLst/>
          </a:prstGeom>
          <a:noFill/>
        </p:spPr>
        <p:txBody>
          <a:bodyPr wrap="square" lIns="0" tIns="0" rIns="0" bIns="0">
            <a:spAutoFit/>
          </a:bodyPr>
          <a:lstStyle/>
          <a:p>
            <a:r>
              <a:rPr sz="1500" b="1">
                <a:solidFill>
                  <a:srgbClr val="9333EA"/>
                </a:solidFill>
                <a:latin typeface="Segoe UI"/>
              </a:rPr>
              <a:t>TRỢ LÝ LƯƠNG AI THÔNG MINH</a:t>
            </a:r>
          </a:p>
          <a:p>
            <a:pPr>
              <a:spcBef>
                <a:spcPts val="700"/>
              </a:spcBef>
            </a:pPr>
            <a:r>
              <a:rPr b="1" sz="1400">
                <a:solidFill>
                  <a:srgbClr val="0F172A"/>
                </a:solidFill>
              </a:rPr>
              <a:t>✓ Tích Hợp Google Gemini API:
</a:t>
            </a:r>
            <a:r>
              <a:rPr sz="1250">
                <a:solidFill>
                  <a:srgbClr val="64748B"/>
                </a:solidFill>
              </a:rPr>
              <a:t>    Giải đáp ngôn ngữ tự nhiên câu hỏi của nhân viên: 'Tại sao lương tháng này bị trừ?'.</a:t>
            </a:r>
          </a:p>
          <a:p>
            <a:pPr>
              <a:spcBef>
                <a:spcPts val="700"/>
              </a:spcBef>
            </a:pPr>
            <a:r>
              <a:rPr b="1" sz="1400">
                <a:solidFill>
                  <a:srgbClr val="0F172A"/>
                </a:solidFill>
              </a:rPr>
              <a:t>✓ Mô Phỏng Thu Nhập What-If:
</a:t>
            </a:r>
            <a:r>
              <a:rPr sz="1250">
                <a:solidFill>
                  <a:srgbClr val="64748B"/>
                </a:solidFill>
              </a:rPr>
              <a:t>    Cho phép nhân viên giả định: 'Nếu tháng này làm thêm 10 giờ OT thì thực lĩnh tăng bao nhiêu?'.</a:t>
            </a:r>
          </a:p>
          <a:p>
            <a:pPr>
              <a:spcBef>
                <a:spcPts val="700"/>
              </a:spcBef>
            </a:pPr>
            <a:r>
              <a:rPr b="1" sz="1400">
                <a:solidFill>
                  <a:srgbClr val="0F172A"/>
                </a:solidFill>
              </a:rPr>
              <a:t>✓ Local Fallback Engine:
</a:t>
            </a:r>
            <a:r>
              <a:rPr sz="1250">
                <a:solidFill>
                  <a:srgbClr val="64748B"/>
                </a:solidFill>
              </a:rPr>
              <a:t>    Động cơ quy tắc nội bộ tự động kích hoạt khi mất kết nối mạng, đảm bảo không bị gián đoạn.</a:t>
            </a:r>
          </a:p>
        </p:txBody>
      </p:sp>
      <p:sp>
        <p:nvSpPr>
          <p:cNvPr id="16" name="Rounded Rectangle 15"/>
          <p:cNvSpPr/>
          <p:nvPr/>
        </p:nvSpPr>
        <p:spPr>
          <a:xfrm>
            <a:off x="8119872"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19872" y="1600200"/>
            <a:ext cx="3328416"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764792"/>
            <a:ext cx="2962656" cy="3383280"/>
          </a:xfrm>
          <a:prstGeom prst="rect">
            <a:avLst/>
          </a:prstGeom>
          <a:noFill/>
        </p:spPr>
        <p:txBody>
          <a:bodyPr wrap="square" lIns="0" tIns="0" rIns="0" bIns="0">
            <a:spAutoFit/>
          </a:bodyPr>
          <a:lstStyle/>
          <a:p>
            <a:r>
              <a:rPr sz="1500" b="1">
                <a:solidFill>
                  <a:srgbClr val="2563EB"/>
                </a:solidFill>
                <a:latin typeface="Segoe UI"/>
              </a:rPr>
              <a:t>XUẤT BÁO CÁO TÀI CHÍNH CHUẨN MỰC</a:t>
            </a:r>
          </a:p>
          <a:p>
            <a:pPr>
              <a:spcBef>
                <a:spcPts val="700"/>
              </a:spcBef>
            </a:pPr>
            <a:r>
              <a:rPr b="1" sz="1400">
                <a:solidFill>
                  <a:srgbClr val="0F172A"/>
                </a:solidFill>
              </a:rPr>
              <a:t>✓ Excel Mẫu Số 02-LĐTL:
</a:t>
            </a:r>
            <a:r>
              <a:rPr sz="1250">
                <a:solidFill>
                  <a:srgbClr val="64748B"/>
                </a:solidFill>
              </a:rPr>
              <a:t>    Xuất bảng thanh toán tiền lương chuẩn theo Thông tư của Bộ Tài chính đầy đủ cột mục kế toán.</a:t>
            </a:r>
          </a:p>
          <a:p>
            <a:pPr>
              <a:spcBef>
                <a:spcPts val="700"/>
              </a:spcBef>
            </a:pPr>
            <a:r>
              <a:rPr b="1" sz="1400">
                <a:solidFill>
                  <a:srgbClr val="0F172A"/>
                </a:solidFill>
              </a:rPr>
              <a:t>✓ Định Dạng Tiền Tệ Kế Toán:
</a:t>
            </a:r>
            <a:r>
              <a:rPr sz="1250">
                <a:solidFill>
                  <a:srgbClr val="64748B"/>
                </a:solidFill>
              </a:rPr>
              <a:t>    Sử dụng định dạng tiền tệ chuyên nghiệp `mso-number-format: '#,##0' VNĐ`.</a:t>
            </a:r>
          </a:p>
          <a:p>
            <a:pPr>
              <a:spcBef>
                <a:spcPts val="700"/>
              </a:spcBef>
            </a:pPr>
            <a:r>
              <a:rPr b="1" sz="1400">
                <a:solidFill>
                  <a:srgbClr val="0F172A"/>
                </a:solidFill>
              </a:rPr>
              <a:t>✓ Tệp CSV Chuyển Khoản Ngân Hàng:
</a:t>
            </a:r>
            <a:r>
              <a:rPr sz="1250">
                <a:solidFill>
                  <a:srgbClr val="64748B"/>
                </a:solidFill>
              </a:rPr>
              <a:t>    Xuất file ủy nhiệm chi gửi trực tiếp ngân hàng (Vietcombank, MB Bank) để chi trả tự động.</a:t>
            </a:r>
          </a:p>
        </p:txBody>
      </p:sp>
      <p:sp>
        <p:nvSpPr>
          <p:cNvPr id="19" name="Rounded Rectangle 18"/>
          <p:cNvSpPr/>
          <p:nvPr/>
        </p:nvSpPr>
        <p:spPr>
          <a:xfrm>
            <a:off x="731520" y="5440680"/>
            <a:ext cx="10728655" cy="8229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504688"/>
            <a:ext cx="10241280" cy="685800"/>
          </a:xfrm>
          <a:prstGeom prst="rect">
            <a:avLst/>
          </a:prstGeom>
          <a:noFill/>
        </p:spPr>
        <p:txBody>
          <a:bodyPr wrap="square" lIns="0" tIns="0" rIns="0" bIns="0">
            <a:spAutoFit/>
          </a:bodyPr>
          <a:lstStyle/>
          <a:p>
            <a:r>
              <a:rPr sz="1400" b="1">
                <a:solidFill>
                  <a:srgbClr val="10B981"/>
                </a:solidFill>
                <a:latin typeface="Segoe UI"/>
              </a:rPr>
              <a:t>★ MINH CHỨNG VẬN HÀNH THỰC TẾ: </a:t>
            </a:r>
            <a:r>
              <a:rPr sz="1400">
                <a:solidFill>
                  <a:srgbClr val="0F172A"/>
                </a:solidFill>
                <a:latin typeface="Segoe UI"/>
              </a:rPr>
              <a:t>Ứng dụng đã được kiểm thử chạy thực tế trên môi trường .NET 10 Blazor Server và SQL Server 2022. Toàn bộ 5 phân hệ từ Đăng nhập, Điểm danh, Duyệt phép, Tính lương đến Xuất file Excel đều hoạt động trơn tru với độ phản hồi dưới 1.2s.</a:t>
            </a:r>
          </a:p>
        </p:txBody>
      </p:sp>
    </p:spTree>
  </p:cSld>
  <p:clrMapOvr>
    <a:masterClrMapping/>
  </p:clrMapOvr>
  <p:transition spd="med" advClick="1">
    <p:zoom dir="in"/>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KIỂM THỬ HỆ THỐNG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11. Kịch bản kiểm thử then chốt &amp; Đánh giá an toàn bảo mật</a:t>
            </a:r>
          </a:p>
          <a:p>
            <a:r>
              <a:rPr sz="1500">
                <a:solidFill>
                  <a:srgbClr val="64748B"/>
                </a:solidFill>
                <a:latin typeface="Segoe UI"/>
              </a:rPr>
              <a:t>Thực thi 10 Test Cases (TC01 – TC10) bao phủ chức năng, toàn vẹn dữ liệu và bảo mật</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12 / 15</a:t>
            </a:r>
          </a:p>
        </p:txBody>
      </p:sp>
      <p:graphicFrame>
        <p:nvGraphicFramePr>
          <p:cNvPr id="10" name="Table 9"/>
          <p:cNvGraphicFramePr>
            <a:graphicFrameLocks noGrp="1"/>
          </p:cNvGraphicFramePr>
          <p:nvPr/>
        </p:nvGraphicFramePr>
        <p:xfrm>
          <a:off x="731520" y="1600200"/>
          <a:ext cx="10728655" cy="3749039"/>
        </p:xfrm>
        <a:graphic>
          <a:graphicData uri="http://schemas.openxmlformats.org/drawingml/2006/table">
            <a:tbl>
              <a:tblPr firstRow="1" bandRow="1">
                <a:tableStyleId>{5C22544A-7EE6-4342-B048-85BDC9FD1C3A}</a:tableStyleId>
              </a:tblPr>
              <a:tblGrid>
                <a:gridCol w="1005840"/>
                <a:gridCol w="2926080"/>
                <a:gridCol w="3200400"/>
                <a:gridCol w="2499055"/>
                <a:gridCol w="1097280"/>
              </a:tblGrid>
              <a:tr h="468629">
                <a:tc>
                  <a:txBody>
                    <a:bodyPr/>
                    <a:lstStyle/>
                    <a:p>
                      <a:pPr algn="ctr"/>
                      <a:r>
                        <a:rPr sz="1400" b="1">
                          <a:solidFill>
                            <a:srgbClr val="FFFFFF"/>
                          </a:solidFill>
                          <a:latin typeface="Segoe UI"/>
                        </a:rPr>
                        <a:t>Mã TC</a:t>
                      </a:r>
                    </a:p>
                  </a:txBody>
                  <a:tcPr>
                    <a:solidFill>
                      <a:srgbClr val="0F172A"/>
                    </a:solidFill>
                  </a:tcPr>
                </a:tc>
                <a:tc>
                  <a:txBody>
                    <a:bodyPr/>
                    <a:lstStyle/>
                    <a:p>
                      <a:pPr algn="ctr"/>
                      <a:r>
                        <a:rPr sz="1400" b="1">
                          <a:solidFill>
                            <a:srgbClr val="FFFFFF"/>
                          </a:solidFill>
                          <a:latin typeface="Segoe UI"/>
                        </a:rPr>
                        <a:t>Chức Năng Kiểm Thử</a:t>
                      </a:r>
                    </a:p>
                  </a:txBody>
                  <a:tcPr>
                    <a:solidFill>
                      <a:srgbClr val="0F172A"/>
                    </a:solidFill>
                  </a:tcPr>
                </a:tc>
                <a:tc>
                  <a:txBody>
                    <a:bodyPr/>
                    <a:lstStyle/>
                    <a:p>
                      <a:pPr algn="ctr"/>
                      <a:r>
                        <a:rPr sz="1400" b="1">
                          <a:solidFill>
                            <a:srgbClr val="FFFFFF"/>
                          </a:solidFill>
                          <a:latin typeface="Segoe UI"/>
                        </a:rPr>
                        <a:t>Kết Quả Kỳ Vọng</a:t>
                      </a:r>
                    </a:p>
                  </a:txBody>
                  <a:tcPr>
                    <a:solidFill>
                      <a:srgbClr val="0F172A"/>
                    </a:solidFill>
                  </a:tcPr>
                </a:tc>
                <a:tc>
                  <a:txBody>
                    <a:bodyPr/>
                    <a:lstStyle/>
                    <a:p>
                      <a:pPr algn="ctr"/>
                      <a:r>
                        <a:rPr sz="1400" b="1">
                          <a:solidFill>
                            <a:srgbClr val="FFFFFF"/>
                          </a:solidFill>
                          <a:latin typeface="Segoe UI"/>
                        </a:rPr>
                        <a:t>Kết Quả Thực Tế</a:t>
                      </a:r>
                    </a:p>
                  </a:txBody>
                  <a:tcPr>
                    <a:solidFill>
                      <a:srgbClr val="0F172A"/>
                    </a:solidFill>
                  </a:tcPr>
                </a:tc>
                <a:tc>
                  <a:txBody>
                    <a:bodyPr/>
                    <a:lstStyle/>
                    <a:p>
                      <a:pPr algn="ctr"/>
                      <a:r>
                        <a:rPr sz="1400" b="1">
                          <a:solidFill>
                            <a:srgbClr val="FFFFFF"/>
                          </a:solidFill>
                          <a:latin typeface="Segoe UI"/>
                        </a:rPr>
                        <a:t>Đánh Giá</a:t>
                      </a:r>
                    </a:p>
                  </a:txBody>
                  <a:tcPr>
                    <a:solidFill>
                      <a:srgbClr val="0F172A"/>
                    </a:solidFill>
                  </a:tcPr>
                </a:tc>
              </a:tr>
              <a:tr h="468629">
                <a:tc>
                  <a:txBody>
                    <a:bodyPr/>
                    <a:lstStyle/>
                    <a:p>
                      <a:pPr algn="ctr"/>
                      <a:r>
                        <a:rPr sz="1250" b="1">
                          <a:solidFill>
                            <a:srgbClr val="2563EB"/>
                          </a:solidFill>
                          <a:latin typeface="Segoe UI"/>
                        </a:rPr>
                        <a:t>TC01</a:t>
                      </a:r>
                    </a:p>
                  </a:txBody>
                  <a:tcPr>
                    <a:solidFill>
                      <a:srgbClr val="FFFFFF"/>
                    </a:solidFill>
                  </a:tcPr>
                </a:tc>
                <a:tc>
                  <a:txBody>
                    <a:bodyPr/>
                    <a:lstStyle/>
                    <a:p>
                      <a:r>
                        <a:rPr sz="1250">
                          <a:solidFill>
                            <a:srgbClr val="0F172A"/>
                          </a:solidFill>
                          <a:latin typeface="Segoe UI"/>
                        </a:rPr>
                        <a:t>Đăng nhập xác thực BCrypt</a:t>
                      </a:r>
                    </a:p>
                  </a:txBody>
                  <a:tcPr>
                    <a:solidFill>
                      <a:srgbClr val="FFFFFF"/>
                    </a:solidFill>
                  </a:tcPr>
                </a:tc>
                <a:tc>
                  <a:txBody>
                    <a:bodyPr/>
                    <a:lstStyle/>
                    <a:p>
                      <a:r>
                        <a:rPr sz="1250">
                          <a:solidFill>
                            <a:srgbClr val="0F172A"/>
                          </a:solidFill>
                          <a:latin typeface="Segoe UI"/>
                        </a:rPr>
                        <a:t>Đăng nhập thành công, cấp Claims ROLE_ADMIN</a:t>
                      </a:r>
                    </a:p>
                  </a:txBody>
                  <a:tcPr>
                    <a:solidFill>
                      <a:srgbClr val="FFFFFF"/>
                    </a:solidFill>
                  </a:tcPr>
                </a:tc>
                <a:tc>
                  <a:txBody>
                    <a:bodyPr/>
                    <a:lstStyle/>
                    <a:p>
                      <a:r>
                        <a:rPr sz="1250">
                          <a:solidFill>
                            <a:srgbClr val="0F172A"/>
                          </a:solidFill>
                          <a:latin typeface="Segoe UI"/>
                        </a:rPr>
                        <a:t>Đăng nhập mượt mà, chuyển trang đúng vai trò</a:t>
                      </a:r>
                    </a:p>
                  </a:txBody>
                  <a:tcPr>
                    <a:solidFill>
                      <a:srgbClr val="FFFFFF"/>
                    </a:solidFill>
                  </a:tcPr>
                </a:tc>
                <a:tc>
                  <a:txBody>
                    <a:bodyPr/>
                    <a:lstStyle/>
                    <a:p>
                      <a:pPr algn="ctr"/>
                      <a:r>
                        <a:rPr sz="1250" b="1">
                          <a:solidFill>
                            <a:srgbClr val="10B981"/>
                          </a:solidFill>
                          <a:latin typeface="Segoe UI"/>
                        </a:rPr>
                        <a:t>ĐẠT (100%)</a:t>
                      </a:r>
                    </a:p>
                  </a:txBody>
                  <a:tcPr>
                    <a:solidFill>
                      <a:srgbClr val="FFFFFF"/>
                    </a:solidFill>
                  </a:tcPr>
                </a:tc>
              </a:tr>
              <a:tr h="468629">
                <a:tc>
                  <a:txBody>
                    <a:bodyPr/>
                    <a:lstStyle/>
                    <a:p>
                      <a:pPr algn="ctr"/>
                      <a:r>
                        <a:rPr sz="1250" b="1">
                          <a:solidFill>
                            <a:srgbClr val="2563EB"/>
                          </a:solidFill>
                          <a:latin typeface="Segoe UI"/>
                        </a:rPr>
                        <a:t>TC03</a:t>
                      </a:r>
                    </a:p>
                  </a:txBody>
                  <a:tcPr>
                    <a:solidFill>
                      <a:srgbClr val="F1F5F9"/>
                    </a:solidFill>
                  </a:tcPr>
                </a:tc>
                <a:tc>
                  <a:txBody>
                    <a:bodyPr/>
                    <a:lstStyle/>
                    <a:p>
                      <a:r>
                        <a:rPr sz="1250">
                          <a:solidFill>
                            <a:srgbClr val="0F172A"/>
                          </a:solidFill>
                          <a:latin typeface="Segoe UI"/>
                        </a:rPr>
                        <a:t>Ràng buộc kiểm tra Lương âm</a:t>
                      </a:r>
                    </a:p>
                  </a:txBody>
                  <a:tcPr>
                    <a:solidFill>
                      <a:srgbClr val="F1F5F9"/>
                    </a:solidFill>
                  </a:tcPr>
                </a:tc>
                <a:tc>
                  <a:txBody>
                    <a:bodyPr/>
                    <a:lstStyle/>
                    <a:p>
                      <a:r>
                        <a:rPr sz="1250">
                          <a:solidFill>
                            <a:srgbClr val="0F172A"/>
                          </a:solidFill>
                          <a:latin typeface="Segoe UI"/>
                        </a:rPr>
                        <a:t>CSDL chk_contract_salary từ chối base_salary &lt; 0</a:t>
                      </a:r>
                    </a:p>
                  </a:txBody>
                  <a:tcPr>
                    <a:solidFill>
                      <a:srgbClr val="F1F5F9"/>
                    </a:solidFill>
                  </a:tcPr>
                </a:tc>
                <a:tc>
                  <a:txBody>
                    <a:bodyPr/>
                    <a:lstStyle/>
                    <a:p>
                      <a:r>
                        <a:rPr sz="1250">
                          <a:solidFill>
                            <a:srgbClr val="0F172A"/>
                          </a:solidFill>
                          <a:latin typeface="Segoe UI"/>
                        </a:rPr>
                        <a:t>CSDL từ chối, ứng dụng báo alert đỏ thân thiện</a:t>
                      </a:r>
                    </a:p>
                  </a:txBody>
                  <a:tcPr>
                    <a:solidFill>
                      <a:srgbClr val="F1F5F9"/>
                    </a:solidFill>
                  </a:tcPr>
                </a:tc>
                <a:tc>
                  <a:txBody>
                    <a:bodyPr/>
                    <a:lstStyle/>
                    <a:p>
                      <a:pPr algn="ctr"/>
                      <a:r>
                        <a:rPr sz="1250" b="1">
                          <a:solidFill>
                            <a:srgbClr val="10B981"/>
                          </a:solidFill>
                          <a:latin typeface="Segoe UI"/>
                        </a:rPr>
                        <a:t>ĐẠT (100%)</a:t>
                      </a:r>
                    </a:p>
                  </a:txBody>
                  <a:tcPr>
                    <a:solidFill>
                      <a:srgbClr val="F1F5F9"/>
                    </a:solidFill>
                  </a:tcPr>
                </a:tc>
              </a:tr>
              <a:tr h="468629">
                <a:tc>
                  <a:txBody>
                    <a:bodyPr/>
                    <a:lstStyle/>
                    <a:p>
                      <a:pPr algn="ctr"/>
                      <a:r>
                        <a:rPr sz="1250" b="1">
                          <a:solidFill>
                            <a:srgbClr val="2563EB"/>
                          </a:solidFill>
                          <a:latin typeface="Segoe UI"/>
                        </a:rPr>
                        <a:t>TC05</a:t>
                      </a:r>
                    </a:p>
                  </a:txBody>
                  <a:tcPr>
                    <a:solidFill>
                      <a:srgbClr val="FFFFFF"/>
                    </a:solidFill>
                  </a:tcPr>
                </a:tc>
                <a:tc>
                  <a:txBody>
                    <a:bodyPr/>
                    <a:lstStyle/>
                    <a:p>
                      <a:r>
                        <a:rPr sz="1250">
                          <a:solidFill>
                            <a:srgbClr val="0F172A"/>
                          </a:solidFill>
                          <a:latin typeface="Segoe UI"/>
                        </a:rPr>
                        <a:t>Tính lương 1-chạm trong Transaction</a:t>
                      </a:r>
                    </a:p>
                  </a:txBody>
                  <a:tcPr>
                    <a:solidFill>
                      <a:srgbClr val="FFFFFF"/>
                    </a:solidFill>
                  </a:tcPr>
                </a:tc>
                <a:tc>
                  <a:txBody>
                    <a:bodyPr/>
                    <a:lstStyle/>
                    <a:p>
                      <a:r>
                        <a:rPr sz="1250">
                          <a:solidFill>
                            <a:srgbClr val="0F172A"/>
                          </a:solidFill>
                          <a:latin typeface="Segoe UI"/>
                        </a:rPr>
                        <a:t>Mở Transaction, lưu đồng thời payslips &amp; lines</a:t>
                      </a:r>
                    </a:p>
                  </a:txBody>
                  <a:tcPr>
                    <a:solidFill>
                      <a:srgbClr val="FFFFFF"/>
                    </a:solidFill>
                  </a:tcPr>
                </a:tc>
                <a:tc>
                  <a:txBody>
                    <a:bodyPr/>
                    <a:lstStyle/>
                    <a:p>
                      <a:r>
                        <a:rPr sz="1250">
                          <a:solidFill>
                            <a:srgbClr val="0F172A"/>
                          </a:solidFill>
                          <a:latin typeface="Segoe UI"/>
                        </a:rPr>
                        <a:t>Ghi nhận CSDL an toàn, trạng thái CALCULATED</a:t>
                      </a:r>
                    </a:p>
                  </a:txBody>
                  <a:tcPr>
                    <a:solidFill>
                      <a:srgbClr val="FFFFFF"/>
                    </a:solidFill>
                  </a:tcPr>
                </a:tc>
                <a:tc>
                  <a:txBody>
                    <a:bodyPr/>
                    <a:lstStyle/>
                    <a:p>
                      <a:pPr algn="ctr"/>
                      <a:r>
                        <a:rPr sz="1250" b="1">
                          <a:solidFill>
                            <a:srgbClr val="10B981"/>
                          </a:solidFill>
                          <a:latin typeface="Segoe UI"/>
                        </a:rPr>
                        <a:t>ĐẠT (100%)</a:t>
                      </a:r>
                    </a:p>
                  </a:txBody>
                  <a:tcPr>
                    <a:solidFill>
                      <a:srgbClr val="FFFFFF"/>
                    </a:solidFill>
                  </a:tcPr>
                </a:tc>
              </a:tr>
              <a:tr h="468629">
                <a:tc>
                  <a:txBody>
                    <a:bodyPr/>
                    <a:lstStyle/>
                    <a:p>
                      <a:pPr algn="ctr"/>
                      <a:r>
                        <a:rPr sz="1250" b="1">
                          <a:solidFill>
                            <a:srgbClr val="2563EB"/>
                          </a:solidFill>
                          <a:latin typeface="Segoe UI"/>
                        </a:rPr>
                        <a:t>TC06</a:t>
                      </a:r>
                    </a:p>
                  </a:txBody>
                  <a:tcPr>
                    <a:solidFill>
                      <a:srgbClr val="F1F5F9"/>
                    </a:solidFill>
                  </a:tcPr>
                </a:tc>
                <a:tc>
                  <a:txBody>
                    <a:bodyPr/>
                    <a:lstStyle/>
                    <a:p>
                      <a:r>
                        <a:rPr sz="1250">
                          <a:solidFill>
                            <a:srgbClr val="0F172A"/>
                          </a:solidFill>
                          <a:latin typeface="Segoe UI"/>
                        </a:rPr>
                        <a:t>Demo Khấu trừ Bảo hiểm 10.5%</a:t>
                      </a:r>
                    </a:p>
                  </a:txBody>
                  <a:tcPr>
                    <a:solidFill>
                      <a:srgbClr val="F1F5F9"/>
                    </a:solidFill>
                  </a:tcPr>
                </a:tc>
                <a:tc>
                  <a:txBody>
                    <a:bodyPr/>
                    <a:lstStyle/>
                    <a:p>
                      <a:r>
                        <a:rPr sz="1250">
                          <a:solidFill>
                            <a:srgbClr val="0F172A"/>
                          </a:solidFill>
                          <a:latin typeface="Segoe UI"/>
                        </a:rPr>
                        <a:t>Lương 10tr -&gt; Trừ BHXH 800k, BHYT 150k, BHTN 100k</a:t>
                      </a:r>
                    </a:p>
                  </a:txBody>
                  <a:tcPr>
                    <a:solidFill>
                      <a:srgbClr val="F1F5F9"/>
                    </a:solidFill>
                  </a:tcPr>
                </a:tc>
                <a:tc>
                  <a:txBody>
                    <a:bodyPr/>
                    <a:lstStyle/>
                    <a:p>
                      <a:r>
                        <a:rPr sz="1250">
                          <a:solidFill>
                            <a:srgbClr val="0F172A"/>
                          </a:solidFill>
                          <a:latin typeface="Segoe UI"/>
                        </a:rPr>
                        <a:t>Số liệu tính toán chuẩn xác 100% khớp bảng rates</a:t>
                      </a:r>
                    </a:p>
                  </a:txBody>
                  <a:tcPr>
                    <a:solidFill>
                      <a:srgbClr val="F1F5F9"/>
                    </a:solidFill>
                  </a:tcPr>
                </a:tc>
                <a:tc>
                  <a:txBody>
                    <a:bodyPr/>
                    <a:lstStyle/>
                    <a:p>
                      <a:pPr algn="ctr"/>
                      <a:r>
                        <a:rPr sz="1250" b="1">
                          <a:solidFill>
                            <a:srgbClr val="10B981"/>
                          </a:solidFill>
                          <a:latin typeface="Segoe UI"/>
                        </a:rPr>
                        <a:t>ĐẠT (100%)</a:t>
                      </a:r>
                    </a:p>
                  </a:txBody>
                  <a:tcPr>
                    <a:solidFill>
                      <a:srgbClr val="F1F5F9"/>
                    </a:solidFill>
                  </a:tcPr>
                </a:tc>
              </a:tr>
              <a:tr h="468629">
                <a:tc>
                  <a:txBody>
                    <a:bodyPr/>
                    <a:lstStyle/>
                    <a:p>
                      <a:pPr algn="ctr"/>
                      <a:r>
                        <a:rPr sz="1250" b="1">
                          <a:solidFill>
                            <a:srgbClr val="2563EB"/>
                          </a:solidFill>
                          <a:latin typeface="Segoe UI"/>
                        </a:rPr>
                        <a:t>TC07</a:t>
                      </a:r>
                    </a:p>
                  </a:txBody>
                  <a:tcPr>
                    <a:solidFill>
                      <a:srgbClr val="FFFFFF"/>
                    </a:solidFill>
                  </a:tcPr>
                </a:tc>
                <a:tc>
                  <a:txBody>
                    <a:bodyPr/>
                    <a:lstStyle/>
                    <a:p>
                      <a:r>
                        <a:rPr sz="1250">
                          <a:solidFill>
                            <a:srgbClr val="0F172A"/>
                          </a:solidFill>
                          <a:latin typeface="Segoe UI"/>
                        </a:rPr>
                        <a:t>Demo Khóa sổ kỳ lương Read-Only</a:t>
                      </a:r>
                    </a:p>
                  </a:txBody>
                  <a:tcPr>
                    <a:solidFill>
                      <a:srgbClr val="FFFFFF"/>
                    </a:solidFill>
                  </a:tcPr>
                </a:tc>
                <a:tc>
                  <a:txBody>
                    <a:bodyPr/>
                    <a:lstStyle/>
                    <a:p>
                      <a:r>
                        <a:rPr sz="1250">
                          <a:solidFill>
                            <a:srgbClr val="0F172A"/>
                          </a:solidFill>
                          <a:latin typeface="Segoe UI"/>
                        </a:rPr>
                        <a:t>Chặn tính lại khi kỳ lương đã ở trạng thái LOCKED</a:t>
                      </a:r>
                    </a:p>
                  </a:txBody>
                  <a:tcPr>
                    <a:solidFill>
                      <a:srgbClr val="FFFFFF"/>
                    </a:solidFill>
                  </a:tcPr>
                </a:tc>
                <a:tc>
                  <a:txBody>
                    <a:bodyPr/>
                    <a:lstStyle/>
                    <a:p>
                      <a:r>
                        <a:rPr sz="1250">
                          <a:solidFill>
                            <a:srgbClr val="0F172A"/>
                          </a:solidFill>
                          <a:latin typeface="Segoe UI"/>
                        </a:rPr>
                        <a:t>Ứng dụng chặn, báo lỗi thân thiện không văng app</a:t>
                      </a:r>
                    </a:p>
                  </a:txBody>
                  <a:tcPr>
                    <a:solidFill>
                      <a:srgbClr val="FFFFFF"/>
                    </a:solidFill>
                  </a:tcPr>
                </a:tc>
                <a:tc>
                  <a:txBody>
                    <a:bodyPr/>
                    <a:lstStyle/>
                    <a:p>
                      <a:pPr algn="ctr"/>
                      <a:r>
                        <a:rPr sz="1250" b="1">
                          <a:solidFill>
                            <a:srgbClr val="10B981"/>
                          </a:solidFill>
                          <a:latin typeface="Segoe UI"/>
                        </a:rPr>
                        <a:t>ĐẠT (100%)</a:t>
                      </a:r>
                    </a:p>
                  </a:txBody>
                  <a:tcPr>
                    <a:solidFill>
                      <a:srgbClr val="FFFFFF"/>
                    </a:solidFill>
                  </a:tcPr>
                </a:tc>
              </a:tr>
              <a:tr h="468629">
                <a:tc>
                  <a:txBody>
                    <a:bodyPr/>
                    <a:lstStyle/>
                    <a:p>
                      <a:pPr algn="ctr"/>
                      <a:r>
                        <a:rPr sz="1250" b="1">
                          <a:solidFill>
                            <a:srgbClr val="2563EB"/>
                          </a:solidFill>
                          <a:latin typeface="Segoe UI"/>
                        </a:rPr>
                        <a:t>TC08</a:t>
                      </a:r>
                    </a:p>
                  </a:txBody>
                  <a:tcPr>
                    <a:solidFill>
                      <a:srgbClr val="F1F5F9"/>
                    </a:solidFill>
                  </a:tcPr>
                </a:tc>
                <a:tc>
                  <a:txBody>
                    <a:bodyPr/>
                    <a:lstStyle/>
                    <a:p>
                      <a:r>
                        <a:rPr sz="1250">
                          <a:solidFill>
                            <a:srgbClr val="0F172A"/>
                          </a:solidFill>
                          <a:latin typeface="Segoe UI"/>
                        </a:rPr>
                        <a:t>Chặn vượt quyền URL trực tiếp</a:t>
                      </a:r>
                    </a:p>
                  </a:txBody>
                  <a:tcPr>
                    <a:solidFill>
                      <a:srgbClr val="F1F5F9"/>
                    </a:solidFill>
                  </a:tcPr>
                </a:tc>
                <a:tc>
                  <a:txBody>
                    <a:bodyPr/>
                    <a:lstStyle/>
                    <a:p>
                      <a:r>
                        <a:rPr sz="1250">
                          <a:solidFill>
                            <a:srgbClr val="0F172A"/>
                          </a:solidFill>
                          <a:latin typeface="Segoe UI"/>
                        </a:rPr>
                        <a:t>Nhân viên thường gõ URL quản trị /admin/...</a:t>
                      </a:r>
                    </a:p>
                  </a:txBody>
                  <a:tcPr>
                    <a:solidFill>
                      <a:srgbClr val="F1F5F9"/>
                    </a:solidFill>
                  </a:tcPr>
                </a:tc>
                <a:tc>
                  <a:txBody>
                    <a:bodyPr/>
                    <a:lstStyle/>
                    <a:p>
                      <a:r>
                        <a:rPr sz="1250">
                          <a:solidFill>
                            <a:srgbClr val="0F172A"/>
                          </a:solidFill>
                          <a:latin typeface="Segoe UI"/>
                        </a:rPr>
                        <a:t>Router AuthorizeRouteView chặn, hiện 403 Forbidden</a:t>
                      </a:r>
                    </a:p>
                  </a:txBody>
                  <a:tcPr>
                    <a:solidFill>
                      <a:srgbClr val="F1F5F9"/>
                    </a:solidFill>
                  </a:tcPr>
                </a:tc>
                <a:tc>
                  <a:txBody>
                    <a:bodyPr/>
                    <a:lstStyle/>
                    <a:p>
                      <a:pPr algn="ctr"/>
                      <a:r>
                        <a:rPr sz="1250" b="1">
                          <a:solidFill>
                            <a:srgbClr val="10B981"/>
                          </a:solidFill>
                          <a:latin typeface="Segoe UI"/>
                        </a:rPr>
                        <a:t>ĐẠT (100%)</a:t>
                      </a:r>
                    </a:p>
                  </a:txBody>
                  <a:tcPr>
                    <a:solidFill>
                      <a:srgbClr val="F1F5F9"/>
                    </a:solidFill>
                  </a:tcPr>
                </a:tc>
              </a:tr>
              <a:tr h="468636">
                <a:tc>
                  <a:txBody>
                    <a:bodyPr/>
                    <a:lstStyle/>
                    <a:p>
                      <a:pPr algn="ctr"/>
                      <a:r>
                        <a:rPr sz="1250" b="1">
                          <a:solidFill>
                            <a:srgbClr val="2563EB"/>
                          </a:solidFill>
                          <a:latin typeface="Segoe UI"/>
                        </a:rPr>
                        <a:t>TC10</a:t>
                      </a:r>
                    </a:p>
                  </a:txBody>
                  <a:tcPr>
                    <a:solidFill>
                      <a:srgbClr val="FFFFFF"/>
                    </a:solidFill>
                  </a:tcPr>
                </a:tc>
                <a:tc>
                  <a:txBody>
                    <a:bodyPr/>
                    <a:lstStyle/>
                    <a:p>
                      <a:r>
                        <a:rPr sz="1250">
                          <a:solidFill>
                            <a:srgbClr val="0F172A"/>
                          </a:solidFill>
                          <a:latin typeface="Segoe UI"/>
                        </a:rPr>
                        <a:t>Tương thích Responsive Mobile 390px</a:t>
                      </a:r>
                    </a:p>
                  </a:txBody>
                  <a:tcPr>
                    <a:solidFill>
                      <a:srgbClr val="FFFFFF"/>
                    </a:solidFill>
                  </a:tcPr>
                </a:tc>
                <a:tc>
                  <a:txBody>
                    <a:bodyPr/>
                    <a:lstStyle/>
                    <a:p>
                      <a:r>
                        <a:rPr sz="1250">
                          <a:solidFill>
                            <a:srgbClr val="0F172A"/>
                          </a:solidFill>
                          <a:latin typeface="Segoe UI"/>
                        </a:rPr>
                        <a:t>Menu thu gọn hamburger, bảng cuộn mượt mà</a:t>
                      </a:r>
                    </a:p>
                  </a:txBody>
                  <a:tcPr>
                    <a:solidFill>
                      <a:srgbClr val="FFFFFF"/>
                    </a:solidFill>
                  </a:tcPr>
                </a:tc>
                <a:tc>
                  <a:txBody>
                    <a:bodyPr/>
                    <a:lstStyle/>
                    <a:p>
                      <a:r>
                        <a:rPr sz="1250">
                          <a:solidFill>
                            <a:srgbClr val="0F172A"/>
                          </a:solidFill>
                          <a:latin typeface="Segoe UI"/>
                        </a:rPr>
                        <a:t>Giao diện hiển thị chuẩn responsive trên di động</a:t>
                      </a:r>
                    </a:p>
                  </a:txBody>
                  <a:tcPr>
                    <a:solidFill>
                      <a:srgbClr val="FFFFFF"/>
                    </a:solidFill>
                  </a:tcPr>
                </a:tc>
                <a:tc>
                  <a:txBody>
                    <a:bodyPr/>
                    <a:lstStyle/>
                    <a:p>
                      <a:pPr algn="ctr"/>
                      <a:r>
                        <a:rPr sz="1250" b="1">
                          <a:solidFill>
                            <a:srgbClr val="10B981"/>
                          </a:solidFill>
                          <a:latin typeface="Segoe UI"/>
                        </a:rPr>
                        <a:t>ĐẠT (100%)</a:t>
                      </a:r>
                    </a:p>
                  </a:txBody>
                  <a:tcPr>
                    <a:solidFill>
                      <a:srgbClr val="FFFFFF"/>
                    </a:solidFill>
                  </a:tcPr>
                </a:tc>
              </a:tr>
            </a:tbl>
          </a:graphicData>
        </a:graphic>
      </p:graphicFrame>
      <p:sp>
        <p:nvSpPr>
          <p:cNvPr id="11" name="Rounded Rectangle 10"/>
          <p:cNvSpPr/>
          <p:nvPr/>
        </p:nvSpPr>
        <p:spPr>
          <a:xfrm>
            <a:off x="731520" y="5486400"/>
            <a:ext cx="10728655" cy="7772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550408"/>
            <a:ext cx="10241280" cy="640080"/>
          </a:xfrm>
          <a:prstGeom prst="rect">
            <a:avLst/>
          </a:prstGeom>
          <a:noFill/>
        </p:spPr>
        <p:txBody>
          <a:bodyPr wrap="square" lIns="0" tIns="0" rIns="0" bIns="0">
            <a:spAutoFit/>
          </a:bodyPr>
          <a:lstStyle/>
          <a:p>
            <a:r>
              <a:rPr sz="1400" b="1">
                <a:solidFill>
                  <a:srgbClr val="10B981"/>
                </a:solidFill>
                <a:latin typeface="Segoe UI"/>
              </a:rPr>
              <a:t>★ TỔNG KẾT KẾT QUẢ KIỂM THỬ: </a:t>
            </a:r>
            <a:r>
              <a:rPr sz="1350">
                <a:solidFill>
                  <a:srgbClr val="0F172A"/>
                </a:solidFill>
                <a:latin typeface="Segoe UI"/>
              </a:rPr>
              <a:t>10/10 Kịch bản kiểm thử (TC01 – TC10) đều đạt kết quả kỳ vọng 100%. Hệ thống chứng minh khả năng phòng vệ đa tầng: triệt tiêu SQL Injection bằng Dapper, chống Bypass URL bằng HTTP 403 Forbidden và ngăn ngừa lỗ hổng IDOR khi tra cứu phiếu lương.</a:t>
            </a:r>
          </a:p>
        </p:txBody>
      </p:sp>
    </p:spTree>
  </p:cSld>
  <p:clrMapOvr>
    <a:masterClrMapping/>
  </p:clrMapOvr>
  <p:transition spd="med" advClick="1">
    <p:plus/>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ĐÁNH GIÁ HỆ THỐNG</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12. Đánh giá ưu điểm vượt trội &amp; Các hạn chế cần hoàn thiện</a:t>
            </a:r>
          </a:p>
          <a:p>
            <a:r>
              <a:rPr sz="1500">
                <a:solidFill>
                  <a:srgbClr val="64748B"/>
                </a:solidFill>
                <a:latin typeface="Segoe UI"/>
              </a:rPr>
              <a:t>Cái nhìn khách quan về kết quả đạt được và các thách thức trong triển khai thực tế</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13 / 15</a:t>
            </a:r>
          </a:p>
        </p:txBody>
      </p:sp>
      <p:sp>
        <p:nvSpPr>
          <p:cNvPr id="10" name="Rounded Rectangle 9"/>
          <p:cNvSpPr/>
          <p:nvPr/>
        </p:nvSpPr>
        <p:spPr>
          <a:xfrm>
            <a:off x="73152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83080"/>
            <a:ext cx="4709160" cy="4251960"/>
          </a:xfrm>
          <a:prstGeom prst="rect">
            <a:avLst/>
          </a:prstGeom>
          <a:noFill/>
        </p:spPr>
        <p:txBody>
          <a:bodyPr wrap="square" lIns="0" tIns="0" rIns="0" bIns="0">
            <a:spAutoFit/>
          </a:bodyPr>
          <a:lstStyle/>
          <a:p>
            <a:r>
              <a:rPr sz="1750" b="1">
                <a:solidFill>
                  <a:srgbClr val="10B981"/>
                </a:solidFill>
                <a:latin typeface="Segoe UI"/>
              </a:rPr>
              <a:t>Ưu Điểm Vượt Trội Của Hệ Thống (4 Điểm Sáng)</a:t>
            </a:r>
          </a:p>
          <a:p>
            <a:pPr>
              <a:spcBef>
                <a:spcPts val="800"/>
              </a:spcBef>
            </a:pPr>
            <a:r>
              <a:rPr b="1" sz="1400">
                <a:solidFill>
                  <a:srgbClr val="10B981"/>
                </a:solidFill>
              </a:rPr>
              <a:t>✓ Kiến trúc phần mềm chuẩn mực:</a:t>
            </a:r>
            <a:r>
              <a:rPr sz="1350">
                <a:solidFill>
                  <a:srgbClr val="0F172A"/>
                </a:solidFill>
              </a:rPr>
              <a:t> Áp dụng Clean Architecture 4 tầng phân tách độc lập, tuân thủ Dependency Inversion. Tầng Core Business không phụ thuộc framework ngoài, cực kỳ dễ bảo trì và mở rộng.</a:t>
            </a:r>
          </a:p>
          <a:p>
            <a:pPr>
              <a:spcBef>
                <a:spcPts val="800"/>
              </a:spcBef>
            </a:pPr>
            <a:r>
              <a:rPr b="1" sz="1400">
                <a:solidFill>
                  <a:srgbClr val="10B981"/>
                </a:solidFill>
              </a:rPr>
              <a:t>✓ Tự động hóa toàn diện 100% theo Luật:</a:t>
            </a:r>
            <a:r>
              <a:rPr sz="1350">
                <a:solidFill>
                  <a:srgbClr val="0F172A"/>
                </a:solidFill>
              </a:rPr>
              <a:t> Rút ngắn thời gian tính lương từ 2-3 ngày xuống còn 1.5 giây. Tỷ lệ trích nộp bảo hiểm động và thuế TNCN lũy tiến đảm bảo tính chuẩn xác tuyệt đối.</a:t>
            </a:r>
          </a:p>
          <a:p>
            <a:pPr>
              <a:spcBef>
                <a:spcPts val="800"/>
              </a:spcBef>
            </a:pPr>
            <a:r>
              <a:rPr b="1" sz="1400">
                <a:solidFill>
                  <a:srgbClr val="10B981"/>
                </a:solidFill>
              </a:rPr>
              <a:t>✓ Bảo mật đa tầng &amp; Quyền riêng tư:</a:t>
            </a:r>
            <a:r>
              <a:rPr sz="1350">
                <a:solidFill>
                  <a:srgbClr val="0F172A"/>
                </a:solidFill>
              </a:rPr>
              <a:t> Mã hóa BCrypt, phân quyền RBAC, Router chặn truy cập trái phép bằng HTTP 403 Forbidden và phòng vệ chống lộ dữ liệu IDOR.</a:t>
            </a:r>
          </a:p>
          <a:p>
            <a:pPr>
              <a:spcBef>
                <a:spcPts val="800"/>
              </a:spcBef>
            </a:pPr>
            <a:r>
              <a:rPr b="1" sz="1400">
                <a:solidFill>
                  <a:srgbClr val="10B981"/>
                </a:solidFill>
              </a:rPr>
              <a:t>✓ Trải nghiệm người dùng hiện đại:</a:t>
            </a:r>
            <a:r>
              <a:rPr sz="1350">
                <a:solidFill>
                  <a:srgbClr val="0F172A"/>
                </a:solidFill>
              </a:rPr>
              <a:t> Tích hợp Trợ lý Lương AI hỏi đáp tức thì và giao diện tương thích đa thiết bị Responsive Mobile 390px.</a:t>
            </a:r>
          </a:p>
        </p:txBody>
      </p:sp>
      <p:sp>
        <p:nvSpPr>
          <p:cNvPr id="13" name="Rounded Rectangle 12"/>
          <p:cNvSpPr/>
          <p:nvPr/>
        </p:nvSpPr>
        <p:spPr>
          <a:xfrm>
            <a:off x="6263640" y="1600200"/>
            <a:ext cx="516636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4709160" cy="4251960"/>
          </a:xfrm>
          <a:prstGeom prst="rect">
            <a:avLst/>
          </a:prstGeom>
          <a:noFill/>
        </p:spPr>
        <p:txBody>
          <a:bodyPr wrap="square" lIns="0" tIns="0" rIns="0" bIns="0">
            <a:spAutoFit/>
          </a:bodyPr>
          <a:lstStyle/>
          <a:p>
            <a:r>
              <a:rPr sz="1750" b="1">
                <a:solidFill>
                  <a:srgbClr val="F59E0B"/>
                </a:solidFill>
                <a:latin typeface="Segoe UI"/>
              </a:rPr>
              <a:t>Hạn Chế Hiện Tại &amp; Vấn Đề Cần Hoàn Thiện</a:t>
            </a:r>
          </a:p>
          <a:p>
            <a:pPr>
              <a:spcBef>
                <a:spcPts val="800"/>
              </a:spcBef>
            </a:pPr>
            <a:r>
              <a:rPr b="1" sz="1400">
                <a:solidFill>
                  <a:srgbClr val="F59E0B"/>
                </a:solidFill>
              </a:rPr>
              <a:t>⚠ Chưa kết nối trực tiếp phần cứng máy chấm công:</a:t>
            </a:r>
            <a:r>
              <a:rPr sz="1350">
                <a:solidFill>
                  <a:srgbClr val="64748B"/>
                </a:solidFill>
              </a:rPr>
              <a:t> Hiện tại việc điểm danh đang thực hiện qua giao diện web hoặc nạp dữ liệu. Chưa tích hợp SDK kết nối trực tiếp với máy chấm công vân tay, khuôn mặt (FaceID) tại văn phòng.</a:t>
            </a:r>
          </a:p>
          <a:p>
            <a:pPr>
              <a:spcBef>
                <a:spcPts val="800"/>
              </a:spcBef>
            </a:pPr>
            <a:r>
              <a:rPr b="1" sz="1400">
                <a:solidFill>
                  <a:srgbClr val="F59E0B"/>
                </a:solidFill>
              </a:rPr>
              <a:t>⚠ Chưa liên kết cổng thanh toán ngân hàng trực tuyến:</a:t>
            </a:r>
            <a:r>
              <a:rPr sz="1350">
                <a:solidFill>
                  <a:srgbClr val="64748B"/>
                </a:solidFill>
              </a:rPr>
              <a:t> Hệ thống mới dừng lại ở bước xuất file CSV chuẩn ngân hàng để kế toán tải lên Internet Banking, chưa gọi trực tiếp Open Banking API để tự động chuyển khoản tiền lương.</a:t>
            </a:r>
          </a:p>
          <a:p>
            <a:pPr>
              <a:spcBef>
                <a:spcPts val="800"/>
              </a:spcBef>
            </a:pPr>
            <a:r>
              <a:rPr b="1" sz="1400">
                <a:solidFill>
                  <a:srgbClr val="F59E0B"/>
                </a:solidFill>
              </a:rPr>
              <a:t>⚠ Phụ thuộc đường truyền Internet khi gọi Gemini API:</a:t>
            </a:r>
            <a:r>
              <a:rPr sz="1350">
                <a:solidFill>
                  <a:srgbClr val="64748B"/>
                </a:solidFill>
              </a:rPr>
              <a:t> Mặc dù đã có bộ Fallback Engine quy tắc nội bộ, nhưng tính năng giải thích ngôn ngữ tự nhiên nâng cao vẫn cần kết nối Internet ổn định.</a:t>
            </a:r>
          </a:p>
          <a:p>
            <a:pPr>
              <a:spcBef>
                <a:spcPts val="800"/>
              </a:spcBef>
            </a:pPr>
            <a:r>
              <a:rPr b="1" sz="1400">
                <a:solidFill>
                  <a:srgbClr val="F59E0B"/>
                </a:solidFill>
              </a:rPr>
              <a:t>⚠ Chưa hỗ trợ đa ngôn ngữ:</a:t>
            </a:r>
            <a:r>
              <a:rPr sz="1350">
                <a:solidFill>
                  <a:srgbClr val="64748B"/>
                </a:solidFill>
              </a:rPr>
              <a:t> Hệ thống hiện chỉ hỗ trợ giao diện tiếng Việt, cần bổ sung tiếng Anh nếu triển khai cho doanh nghiệp FDI.</a:t>
            </a:r>
          </a:p>
        </p:txBody>
      </p:sp>
    </p:spTree>
  </p:cSld>
  <p:clrMapOvr>
    <a:masterClrMapping/>
  </p:clrMapOvr>
  <p:transition spd="med" advClick="1">
    <p:cover dir="u"/>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38912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50" b="1">
                <a:solidFill>
                  <a:srgbClr val="2563EB"/>
                </a:solidFill>
                <a:latin typeface="Segoe UI"/>
              </a:rPr>
              <a:t>HƯỚNG PHÁT TRIỂN</a:t>
            </a:r>
          </a:p>
        </p:txBody>
      </p:sp>
      <p:sp>
        <p:nvSpPr>
          <p:cNvPr id="5" name="TextBox 4"/>
          <p:cNvSpPr txBox="1"/>
          <p:nvPr/>
        </p:nvSpPr>
        <p:spPr>
          <a:xfrm>
            <a:off x="731520" y="658368"/>
            <a:ext cx="10728655" cy="777240"/>
          </a:xfrm>
          <a:prstGeom prst="rect">
            <a:avLst/>
          </a:prstGeom>
          <a:noFill/>
        </p:spPr>
        <p:txBody>
          <a:bodyPr wrap="square" lIns="0" tIns="0" rIns="0" bIns="0">
            <a:spAutoFit/>
          </a:bodyPr>
          <a:lstStyle/>
          <a:p>
            <a:pPr>
              <a:spcAft>
                <a:spcPts val="200"/>
              </a:spcAft>
            </a:pPr>
            <a:r>
              <a:rPr sz="2800" b="1">
                <a:solidFill>
                  <a:srgbClr val="0F172A"/>
                </a:solidFill>
                <a:latin typeface="Segoe UI"/>
              </a:rPr>
              <a:t>13. Định hướng nghiên cứu &amp; Nâng cấp hệ thống trong tương lai</a:t>
            </a:r>
          </a:p>
          <a:p>
            <a:r>
              <a:rPr sz="1500">
                <a:solidFill>
                  <a:srgbClr val="64748B"/>
                </a:solidFill>
                <a:latin typeface="Segoe UI"/>
              </a:rPr>
              <a:t>Kế hoạch mở rộng khả năng kết nối thiết bị IoT, Fintech và Trí tuệ Nhân tạo</a:t>
            </a:r>
          </a:p>
        </p:txBody>
      </p:sp>
      <p:sp>
        <p:nvSpPr>
          <p:cNvPr id="6" name="Rectangle 5"/>
          <p:cNvSpPr/>
          <p:nvPr/>
        </p:nvSpPr>
        <p:spPr>
          <a:xfrm>
            <a:off x="731520" y="64008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320040"/>
          </a:xfrm>
          <a:prstGeom prst="rect">
            <a:avLst/>
          </a:prstGeom>
          <a:noFill/>
        </p:spPr>
        <p:txBody>
          <a:bodyPr wrap="square" lIns="0" tIns="0" rIns="0" bIns="0">
            <a:spAutoFit/>
          </a:bodyPr>
          <a:lstStyle/>
          <a:p>
            <a:r>
              <a:rPr sz="1250">
                <a:solidFill>
                  <a:srgbClr val="64748B"/>
                </a:solidFill>
                <a:latin typeface="Segoe UI"/>
              </a:rPr>
              <a:t>Lập trình ứng dụng Web | Đồ án: Timesheet &amp; Payroll Automation</a:t>
            </a:r>
          </a:p>
        </p:txBody>
      </p:sp>
      <p:sp>
        <p:nvSpPr>
          <p:cNvPr id="8" name="TextBox 7"/>
          <p:cNvSpPr txBox="1"/>
          <p:nvPr/>
        </p:nvSpPr>
        <p:spPr>
          <a:xfrm>
            <a:off x="5029200" y="6446520"/>
            <a:ext cx="4572000" cy="320040"/>
          </a:xfrm>
          <a:prstGeom prst="rect">
            <a:avLst/>
          </a:prstGeom>
          <a:noFill/>
        </p:spPr>
        <p:txBody>
          <a:bodyPr wrap="square" lIns="0" tIns="0" rIns="0" bIns="0">
            <a:spAutoFit/>
          </a:bodyPr>
          <a:lstStyle/>
          <a:p>
            <a:r>
              <a:rPr sz="1250">
                <a:solidFill>
                  <a:srgbClr val="64748B"/>
                </a:solidFill>
                <a:latin typeface="Segoe UI"/>
              </a:rPr>
              <a:t>Trần Viết Mạnh Cường (23K4080003) | ĐH Kinh tế Huế</a:t>
            </a:r>
          </a:p>
        </p:txBody>
      </p:sp>
      <p:sp>
        <p:nvSpPr>
          <p:cNvPr id="9" name="Rounded Rectangle 8"/>
          <p:cNvSpPr/>
          <p:nvPr/>
        </p:nvSpPr>
        <p:spPr>
          <a:xfrm>
            <a:off x="10637215" y="6446520"/>
            <a:ext cx="822960" cy="25603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50" b="1">
                <a:solidFill>
                  <a:srgbClr val="FFFFFF"/>
                </a:solidFill>
                <a:latin typeface="Segoe UI"/>
              </a:rPr>
              <a:t>14 / 15</a:t>
            </a:r>
          </a:p>
        </p:txBody>
      </p:sp>
      <p:sp>
        <p:nvSpPr>
          <p:cNvPr id="10" name="Rounded Rectangle 9"/>
          <p:cNvSpPr/>
          <p:nvPr/>
        </p:nvSpPr>
        <p:spPr>
          <a:xfrm>
            <a:off x="731520" y="160020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0200"/>
            <a:ext cx="5166360"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64792"/>
            <a:ext cx="4709160" cy="1965960"/>
          </a:xfrm>
          <a:prstGeom prst="rect">
            <a:avLst/>
          </a:prstGeom>
          <a:noFill/>
        </p:spPr>
        <p:txBody>
          <a:bodyPr wrap="square" lIns="0" tIns="0" rIns="0" bIns="0">
            <a:spAutoFit/>
          </a:bodyPr>
          <a:lstStyle/>
          <a:p>
            <a:r>
              <a:rPr sz="1650" b="1">
                <a:solidFill>
                  <a:srgbClr val="0EA5E9"/>
                </a:solidFill>
                <a:latin typeface="Segoe UI"/>
              </a:rPr>
              <a:t>01. KẾT NỐI MÁY CHẤM CÔNG PHẦN CỨNG (IOT)</a:t>
            </a:r>
          </a:p>
          <a:p>
            <a:pPr>
              <a:spcBef>
                <a:spcPts val="500"/>
              </a:spcBef>
            </a:pPr>
            <a:r>
              <a:rPr b="1" sz="1400">
                <a:solidFill>
                  <a:srgbClr val="0F172A"/>
                </a:solidFill>
              </a:rPr>
              <a:t>• Tích hợp SDK Thiết Bị:
</a:t>
            </a:r>
            <a:r>
              <a:rPr sz="1350">
                <a:solidFill>
                  <a:srgbClr val="64748B"/>
                </a:solidFill>
              </a:rPr>
              <a:t>    Kết nối trực tiếp máy chấm công vân tay, nhận diện khuôn mặt (FaceID) và thẻ từ thông minh (ZKTeco, Ronald Jack).</a:t>
            </a:r>
          </a:p>
          <a:p>
            <a:pPr>
              <a:spcBef>
                <a:spcPts val="500"/>
              </a:spcBef>
            </a:pPr>
            <a:r>
              <a:rPr b="1" sz="1400">
                <a:solidFill>
                  <a:srgbClr val="0F172A"/>
                </a:solidFill>
              </a:rPr>
              <a:t>• Đồng Bộ Thời Gian Thực:
</a:t>
            </a:r>
            <a:r>
              <a:rPr sz="1350">
                <a:solidFill>
                  <a:srgbClr val="64748B"/>
                </a:solidFill>
              </a:rPr>
              <a:t>    Sử dụng Webhook hoặc Background Worker tự động đồng bộ dữ liệu điểm danh về CSDL ngay khi nhân viên bấm vân tay tại cửa văn phòng.</a:t>
            </a:r>
          </a:p>
        </p:txBody>
      </p:sp>
      <p:sp>
        <p:nvSpPr>
          <p:cNvPr id="13" name="Rounded Rectangle 12"/>
          <p:cNvSpPr/>
          <p:nvPr/>
        </p:nvSpPr>
        <p:spPr>
          <a:xfrm>
            <a:off x="6263640" y="160020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600200"/>
            <a:ext cx="51663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64792"/>
            <a:ext cx="4709160" cy="1965960"/>
          </a:xfrm>
          <a:prstGeom prst="rect">
            <a:avLst/>
          </a:prstGeom>
          <a:noFill/>
        </p:spPr>
        <p:txBody>
          <a:bodyPr wrap="square" lIns="0" tIns="0" rIns="0" bIns="0">
            <a:spAutoFit/>
          </a:bodyPr>
          <a:lstStyle/>
          <a:p>
            <a:r>
              <a:rPr sz="1650" b="1">
                <a:solidFill>
                  <a:srgbClr val="10B981"/>
                </a:solidFill>
                <a:latin typeface="Segoe UI"/>
              </a:rPr>
              <a:t>02. TÍCH HỢP CỔNG OPEN BANKING API</a:t>
            </a:r>
          </a:p>
          <a:p>
            <a:pPr>
              <a:spcBef>
                <a:spcPts val="500"/>
              </a:spcBef>
            </a:pPr>
            <a:r>
              <a:rPr b="1" sz="1400">
                <a:solidFill>
                  <a:srgbClr val="0F172A"/>
                </a:solidFill>
              </a:rPr>
              <a:t>• Chi Trả Lương Tự Động 1-Chạm:
</a:t>
            </a:r>
            <a:r>
              <a:rPr sz="1350">
                <a:solidFill>
                  <a:srgbClr val="64748B"/>
                </a:solidFill>
              </a:rPr>
              <a:t>    Kết nối API ngân hàng điện tử (Vietcombank, MB Bank, Techcombank) qua kênh bảo mật OAuth2 &amp; mTLS.</a:t>
            </a:r>
          </a:p>
          <a:p>
            <a:pPr>
              <a:spcBef>
                <a:spcPts val="500"/>
              </a:spcBef>
            </a:pPr>
            <a:r>
              <a:rPr b="1" sz="1400">
                <a:solidFill>
                  <a:srgbClr val="0F172A"/>
                </a:solidFill>
              </a:rPr>
              <a:t>• Tự Động Chuyển Khoản Hàng Loạt:
</a:t>
            </a:r>
            <a:r>
              <a:rPr sz="1350">
                <a:solidFill>
                  <a:srgbClr val="64748B"/>
                </a:solidFill>
              </a:rPr>
              <a:t>    Ngay khi kỳ lương chuyển trạng thái `PAID`, hệ thống tự động phát lệnh chuyển khoản tiền lương vào STK từng nhân viên mà không cần tải file thủ công.</a:t>
            </a:r>
          </a:p>
        </p:txBody>
      </p:sp>
      <p:sp>
        <p:nvSpPr>
          <p:cNvPr id="16" name="Rounded Rectangle 15"/>
          <p:cNvSpPr/>
          <p:nvPr/>
        </p:nvSpPr>
        <p:spPr>
          <a:xfrm>
            <a:off x="731520" y="3977639"/>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977639"/>
            <a:ext cx="5166360" cy="73152"/>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142231"/>
            <a:ext cx="4709160" cy="1965960"/>
          </a:xfrm>
          <a:prstGeom prst="rect">
            <a:avLst/>
          </a:prstGeom>
          <a:noFill/>
        </p:spPr>
        <p:txBody>
          <a:bodyPr wrap="square" lIns="0" tIns="0" rIns="0" bIns="0">
            <a:spAutoFit/>
          </a:bodyPr>
          <a:lstStyle/>
          <a:p>
            <a:r>
              <a:rPr sz="1650" b="1">
                <a:solidFill>
                  <a:srgbClr val="9333EA"/>
                </a:solidFill>
                <a:latin typeface="Segoe UI"/>
              </a:rPr>
              <a:t>03. PHÁT TRIỂN MOBILE APP / PWA VỚI ĐỊNH VỊ GPS</a:t>
            </a:r>
          </a:p>
          <a:p>
            <a:pPr>
              <a:spcBef>
                <a:spcPts val="500"/>
              </a:spcBef>
            </a:pPr>
            <a:r>
              <a:rPr b="1" sz="1400">
                <a:solidFill>
                  <a:srgbClr val="0F172A"/>
                </a:solidFill>
              </a:rPr>
              <a:t>• Ứng Dụng Di Động Chuyên Nghiệp:
</a:t>
            </a:r>
            <a:r>
              <a:rPr sz="1350">
                <a:solidFill>
                  <a:srgbClr val="64748B"/>
                </a:solidFill>
              </a:rPr>
              <a:t>    Xây dựng ứng dụng di động đa nền tảng (Flutter / Blazor Hybrid) cho hệ điều hành iOS và Android.</a:t>
            </a:r>
          </a:p>
          <a:p>
            <a:pPr>
              <a:spcBef>
                <a:spcPts val="500"/>
              </a:spcBef>
            </a:pPr>
            <a:r>
              <a:rPr b="1" sz="1400">
                <a:solidFill>
                  <a:srgbClr val="0F172A"/>
                </a:solidFill>
              </a:rPr>
              <a:t>• Chấm Công GPS Geofencing:
</a:t>
            </a:r>
            <a:r>
              <a:rPr sz="1350">
                <a:solidFill>
                  <a:srgbClr val="64748B"/>
                </a:solidFill>
              </a:rPr>
              <a:t>    Hỗ trợ nhân viên thị trường, nhân viên làm việc từ xa (Work From Home) điểm danh bằng định vị GPS và chụp ảnh khuôn mặt.</a:t>
            </a:r>
          </a:p>
          <a:p>
            <a:pPr>
              <a:spcBef>
                <a:spcPts val="500"/>
              </a:spcBef>
            </a:pPr>
            <a:r>
              <a:rPr b="1" sz="1400">
                <a:solidFill>
                  <a:srgbClr val="0F172A"/>
                </a:solidFill>
              </a:rPr>
              <a:t>• Thông Báo Đẩy (Push Notifications):
</a:t>
            </a:r>
            <a:r>
              <a:rPr sz="1350">
                <a:solidFill>
                  <a:srgbClr val="64748B"/>
                </a:solidFill>
              </a:rPr>
              <a:t>    Báo tin tức thì về điện thoại ngay khi phiếu lương tháng mới được phê duyệt.</a:t>
            </a:r>
          </a:p>
        </p:txBody>
      </p:sp>
      <p:sp>
        <p:nvSpPr>
          <p:cNvPr id="19" name="Rounded Rectangle 18"/>
          <p:cNvSpPr/>
          <p:nvPr/>
        </p:nvSpPr>
        <p:spPr>
          <a:xfrm>
            <a:off x="6263640" y="3977639"/>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63640" y="3977639"/>
            <a:ext cx="51663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142231"/>
            <a:ext cx="4709160" cy="1965960"/>
          </a:xfrm>
          <a:prstGeom prst="rect">
            <a:avLst/>
          </a:prstGeom>
          <a:noFill/>
        </p:spPr>
        <p:txBody>
          <a:bodyPr wrap="square" lIns="0" tIns="0" rIns="0" bIns="0">
            <a:spAutoFit/>
          </a:bodyPr>
          <a:lstStyle/>
          <a:p>
            <a:r>
              <a:rPr sz="1650" b="1">
                <a:solidFill>
                  <a:srgbClr val="2563EB"/>
                </a:solidFill>
                <a:latin typeface="Segoe UI"/>
              </a:rPr>
              <a:t>04. DỰ BÁO QUỸ LƯƠNG BẰNG MACHINE LEARNING</a:t>
            </a:r>
          </a:p>
          <a:p>
            <a:pPr>
              <a:spcBef>
                <a:spcPts val="500"/>
              </a:spcBef>
            </a:pPr>
            <a:r>
              <a:rPr b="1" sz="1400">
                <a:solidFill>
                  <a:srgbClr val="0F172A"/>
                </a:solidFill>
              </a:rPr>
              <a:t>• Phân Tích Xu Hướng Nhân Sự:
</a:t>
            </a:r>
            <a:r>
              <a:rPr sz="1350">
                <a:solidFill>
                  <a:srgbClr val="64748B"/>
                </a:solidFill>
              </a:rPr>
              <a:t>    Ứng dụng mô hình học máy phân tích biến động chi phí làm thêm giờ (OT), tỷ lệ nghỉ việc và nhu cầu tuyển dụng.</a:t>
            </a:r>
          </a:p>
          <a:p>
            <a:pPr>
              <a:spcBef>
                <a:spcPts val="500"/>
              </a:spcBef>
            </a:pPr>
            <a:r>
              <a:rPr b="1" sz="1400">
                <a:solidFill>
                  <a:srgbClr val="0F172A"/>
                </a:solidFill>
              </a:rPr>
              <a:t>• Tối Ưu Hóa Ngân Sách:
</a:t>
            </a:r>
            <a:r>
              <a:rPr sz="1350">
                <a:solidFill>
                  <a:srgbClr val="64748B"/>
                </a:solidFill>
              </a:rPr>
              <a:t>    Đưa ra các khuyến nghị phân bổ ngân sách tiền lương và khen thưởng tối ưu cho ban giám đốc doanh nghiệp.</a:t>
            </a:r>
          </a:p>
        </p:txBody>
      </p:sp>
    </p:spTree>
  </p:cSld>
  <p:clrMapOvr>
    <a:masterClrMapping/>
  </p:clrMapOvr>
  <p:transition spd="med" advClick="1">
    <p:wedg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4114800" cy="32004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400" b="1">
                <a:solidFill>
                  <a:srgbClr val="10B981"/>
                </a:solidFill>
                <a:latin typeface="Segoe UI"/>
              </a:rPr>
              <a:t>KẾT LUẬN &amp; LỜI CẢM ƠN — 14 / 15</a:t>
            </a:r>
          </a:p>
        </p:txBody>
      </p:sp>
      <p:sp>
        <p:nvSpPr>
          <p:cNvPr id="5" name="TextBox 4"/>
          <p:cNvSpPr txBox="1"/>
          <p:nvPr/>
        </p:nvSpPr>
        <p:spPr>
          <a:xfrm>
            <a:off x="731520" y="960120"/>
            <a:ext cx="10728655" cy="731520"/>
          </a:xfrm>
          <a:prstGeom prst="rect">
            <a:avLst/>
          </a:prstGeom>
          <a:noFill/>
        </p:spPr>
        <p:txBody>
          <a:bodyPr wrap="square" lIns="0" tIns="0" rIns="0" bIns="0">
            <a:spAutoFit/>
          </a:bodyPr>
          <a:lstStyle/>
          <a:p>
            <a:r>
              <a:rPr sz="3200" b="1">
                <a:solidFill>
                  <a:srgbClr val="FFFFFF"/>
                </a:solidFill>
                <a:latin typeface="Segoe UI"/>
              </a:rPr>
              <a:t>Tổng kết đồ án &amp; Trân trọng cảm ơn Thầy Cô</a:t>
            </a:r>
          </a:p>
        </p:txBody>
      </p:sp>
      <p:sp>
        <p:nvSpPr>
          <p:cNvPr id="6" name="Rounded Rectangle 5"/>
          <p:cNvSpPr/>
          <p:nvPr/>
        </p:nvSpPr>
        <p:spPr>
          <a:xfrm>
            <a:off x="731520" y="1783080"/>
            <a:ext cx="516636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4709160" cy="4023360"/>
          </a:xfrm>
          <a:prstGeom prst="rect">
            <a:avLst/>
          </a:prstGeom>
          <a:noFill/>
        </p:spPr>
        <p:txBody>
          <a:bodyPr wrap="square" lIns="0" tIns="0" rIns="0" bIns="0">
            <a:spAutoFit/>
          </a:bodyPr>
          <a:lstStyle/>
          <a:p>
            <a:r>
              <a:rPr sz="1800" b="1">
                <a:solidFill>
                  <a:srgbClr val="0EA5E9"/>
                </a:solidFill>
                <a:latin typeface="Segoe UI"/>
              </a:rPr>
              <a:t>Thành Quả Đạt Được Của Đồ Án</a:t>
            </a:r>
          </a:p>
          <a:p>
            <a:pPr>
              <a:spcBef>
                <a:spcPts val="800"/>
              </a:spcBef>
            </a:pPr>
            <a:r>
              <a:rPr b="1" sz="1400">
                <a:solidFill>
                  <a:srgbClr val="FFFFFF"/>
                </a:solidFill>
              </a:rPr>
              <a:t>✔ Hoàn thành xuất sắc mục tiêu đề tài:
</a:t>
            </a:r>
            <a:r>
              <a:rPr sz="1350">
                <a:solidFill>
                  <a:srgbClr val="94A3B8"/>
                </a:solidFill>
              </a:rPr>
              <a:t> Xây dựng một ứng dụng web hoàn chỉnh, giải quyết triệt để các hạn chế của phương pháp tính lương bằng Excel.</a:t>
            </a:r>
          </a:p>
          <a:p>
            <a:pPr>
              <a:spcBef>
                <a:spcPts val="800"/>
              </a:spcBef>
            </a:pPr>
            <a:r>
              <a:rPr b="1" sz="1400">
                <a:solidFill>
                  <a:srgbClr val="FFFFFF"/>
                </a:solidFill>
              </a:rPr>
              <a:t>✔ Làm chủ kiến trúc Clean Architecture 4 tầng:
</a:t>
            </a:r>
            <a:r>
              <a:rPr sz="1350">
                <a:solidFill>
                  <a:srgbClr val="94A3B8"/>
                </a:solidFill>
              </a:rPr>
              <a:t> Mã nguồn được tổ chức chuyên nghiệp, tầng Core Domain độc lập 0 dependency, dễ kiểm thử và bảo trì lâu dài.</a:t>
            </a:r>
          </a:p>
          <a:p>
            <a:pPr>
              <a:spcBef>
                <a:spcPts val="800"/>
              </a:spcBef>
            </a:pPr>
            <a:r>
              <a:rPr b="1" sz="1400">
                <a:solidFill>
                  <a:srgbClr val="FFFFFF"/>
                </a:solidFill>
              </a:rPr>
              <a:t>✔ Toàn vẹn cơ sở dữ liệu quan hệ 3NF:
</a:t>
            </a:r>
            <a:r>
              <a:rPr sz="1350">
                <a:solidFill>
                  <a:srgbClr val="94A3B8"/>
                </a:solidFill>
              </a:rPr>
              <a:t> 11 bảng thực thể, giao dịch Database Transaction bảo toàn tính nguyên tử ACID, ràng buộc CHECK constraints chặt chẽ.</a:t>
            </a:r>
          </a:p>
          <a:p>
            <a:pPr>
              <a:spcBef>
                <a:spcPts val="800"/>
              </a:spcBef>
            </a:pPr>
            <a:r>
              <a:rPr b="1" sz="1400">
                <a:solidFill>
                  <a:srgbClr val="FFFFFF"/>
                </a:solidFill>
              </a:rPr>
              <a:t>✔ Bảo mật đa tầng theo tiêu chuẩn công nghiệp:
</a:t>
            </a:r>
            <a:r>
              <a:rPr sz="1350">
                <a:solidFill>
                  <a:srgbClr val="94A3B8"/>
                </a:solidFill>
              </a:rPr>
              <a:t> BCrypt hashing, RBAC 3 vai trò, phòng vệ chống lỗ hổng IDOR và chặn vượt quyền URL bằng HTTP 403.</a:t>
            </a:r>
          </a:p>
          <a:p>
            <a:pPr>
              <a:spcBef>
                <a:spcPts val="800"/>
              </a:spcBef>
            </a:pPr>
            <a:r>
              <a:rPr b="1" sz="1400">
                <a:solidFill>
                  <a:srgbClr val="FFFFFF"/>
                </a:solidFill>
              </a:rPr>
              <a:t>✔ Tích hợp AI &amp; Xuất báo cáo tài chính:
</a:t>
            </a:r>
            <a:r>
              <a:rPr sz="1350">
                <a:solidFill>
                  <a:srgbClr val="94A3B8"/>
                </a:solidFill>
              </a:rPr>
              <a:t> Trợ lý Lương AI thông minh giải đáp thắc mắc và xuất file Excel Mẫu số 02-LĐTL của Bộ Tài chính.</a:t>
            </a:r>
          </a:p>
        </p:txBody>
      </p:sp>
      <p:sp>
        <p:nvSpPr>
          <p:cNvPr id="8" name="Rounded Rectangle 7"/>
          <p:cNvSpPr/>
          <p:nvPr/>
        </p:nvSpPr>
        <p:spPr>
          <a:xfrm>
            <a:off x="6263640" y="1783080"/>
            <a:ext cx="516636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709160" cy="4023360"/>
          </a:xfrm>
          <a:prstGeom prst="rect">
            <a:avLst/>
          </a:prstGeom>
          <a:noFill/>
        </p:spPr>
        <p:txBody>
          <a:bodyPr wrap="square" lIns="0" tIns="0" rIns="0" bIns="0">
            <a:spAutoFit/>
          </a:bodyPr>
          <a:lstStyle/>
          <a:p>
            <a:r>
              <a:rPr sz="1800" b="1">
                <a:solidFill>
                  <a:srgbClr val="F59E0B"/>
                </a:solidFill>
                <a:latin typeface="Segoe UI"/>
              </a:rPr>
              <a:t>Lời Tri Ân &amp; Phiên Hỏi Đáp (Q&amp;A)</a:t>
            </a:r>
          </a:p>
          <a:p>
            <a:pPr>
              <a:spcBef>
                <a:spcPts val="800"/>
              </a:spcBef>
            </a:pPr>
            <a:r>
              <a:rPr b="1" sz="1400">
                <a:solidFill>
                  <a:srgbClr val="FFFFFF"/>
                </a:solidFill>
              </a:rPr>
              <a:t>Lời cảm ơn chân thành:
</a:t>
            </a:r>
            <a:r>
              <a:rPr sz="1350">
                <a:solidFill>
                  <a:srgbClr val="94A3B8"/>
                </a:solidFill>
              </a:rPr>
              <a:t> Em xin bày tỏ lòng biết ơn sâu sắc tới Thầy TS. Hà Ngọc Long đã tận tâm hướng dẫn, định hướng kiến trúc sạch và phương pháp luận giải quyết bài toán nghiệp vụ trong suốt học phần.</a:t>
            </a:r>
          </a:p>
          <a:p>
            <a:pPr>
              <a:spcBef>
                <a:spcPts val="800"/>
              </a:spcBef>
            </a:pPr>
            <a:r>
              <a:rPr b="1" sz="1400">
                <a:solidFill>
                  <a:srgbClr val="FFFFFF"/>
                </a:solidFill>
              </a:rPr>
              <a:t>Khoa Hệ thống Thông tin Kinh tế:
</a:t>
            </a:r>
            <a:r>
              <a:rPr sz="1350">
                <a:solidFill>
                  <a:srgbClr val="94A3B8"/>
                </a:solidFill>
              </a:rPr>
              <a:t> Xin trân trọng cảm ơn quý Thầy, Cô giáo trong Khoa HTTT Kinh tế – Trường Đại học Kinh tế, Đại học Huế đã trang bị cho em nền tảng kiến thức vững chắc.</a:t>
            </a:r>
          </a:p>
          <a:p>
            <a:pPr>
              <a:spcBef>
                <a:spcPts val="800"/>
              </a:spcBef>
            </a:pPr>
            <a:r>
              <a:rPr b="1" sz="1400">
                <a:solidFill>
                  <a:srgbClr val="FFFFFF"/>
                </a:solidFill>
              </a:rPr>
              <a:t>Sinh viên thực hiện:
</a:t>
            </a:r>
            <a:r>
              <a:rPr sz="1350">
                <a:solidFill>
                  <a:srgbClr val="94A3B8"/>
                </a:solidFill>
              </a:rPr>
              <a:t> Trần Viết Mạnh Cường — MSV: 23K4080003
Lớp: K57 Tin học Kinh tế — Trường ĐH Kinh tế Huế
Kho lưu trữ: github.com/ManhCuong-Code/TimesheetPayroll</a:t>
            </a:r>
          </a:p>
        </p:txBody>
      </p:sp>
      <p:sp>
        <p:nvSpPr>
          <p:cNvPr id="10" name="Rounded Rectangle 9"/>
          <p:cNvSpPr/>
          <p:nvPr/>
        </p:nvSpPr>
        <p:spPr>
          <a:xfrm>
            <a:off x="6720840" y="4892040"/>
            <a:ext cx="4251960" cy="1005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b="1">
                <a:solidFill>
                  <a:srgbClr val="FFFFFF"/>
                </a:solidFill>
                <a:latin typeface="Segoe UI"/>
              </a:rPr>
              <a:t>XIN TRÂN TRỌNG CẢM ƠN!</a:t>
            </a:r>
          </a:p>
          <a:p>
            <a:pPr algn="ctr"/>
            <a:r>
              <a:rPr sz="1350">
                <a:solidFill>
                  <a:srgbClr val="0EA5E9"/>
                </a:solidFill>
                <a:latin typeface="Segoe UI"/>
              </a:rPr>
              <a:t>Kính mong nhận được ý kiến đóng góp từ Thầy Cô &amp; Hội đồng
— Q&amp;A SESSION —</a:t>
            </a:r>
          </a:p>
        </p:txBody>
      </p:sp>
    </p:spTree>
  </p:cSld>
  <p:clrMapOvr>
    <a:masterClrMapping/>
  </p:clrMapOvr>
  <p:transition spd="med" advClick="1">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