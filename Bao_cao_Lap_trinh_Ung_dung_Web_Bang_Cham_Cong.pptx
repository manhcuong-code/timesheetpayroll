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quý Thầy Cô cùng toàn thể các bạn sinh viên!</a:t>
            </a:r>
          </a:p>
          <a:p>
            <a:r>
              <a:t>Em tên là Trần Viết Mạnh Cường, sinh viên chuyên ngành Tin học Kinh tế, Khoa Hệ thống Thông tin Kinh tế – Trường Đại học Kinh tế, Đại học Huế.</a:t>
            </a:r>
          </a:p>
          <a:p>
            <a:r>
              <a:t>Hôm nay, em xin phép được trình bày báo cáo bài thuyết trình học phần Lập trình ứng dụng Web với đề tài: 'Xây dựng hệ thống chấm công và quản lý nhân viên trên nền tảng Web'.</a:t>
            </a:r>
          </a:p>
          <a:p>
            <a:r>
              <a:t>Đây là dự án Bảng chấm công độc lập, tập trung giải quyết bài toán theo dõi thời gian làm việc, quản lý hồ sơ nhân sự và tự động hóa ghi nhận ngày công.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bối cảnh của đề tài:</a:t>
            </a:r>
          </a:p>
          <a:p>
            <a:r>
              <a:t>Trong mọi doanh nghiệp, quản lý thời gian làm việc là yêu cầu thiết yếu để duy trì kỷ luật và tính toán ngày công công bằng. Tuy nhiên, nếu vẫn sử dụng phương pháp thủ công như ghi sổ giấy hoặc lập file Excel, doanh nghiệp sẽ gặp 3 hạn chế lớn: dễ thất lạc, dễ nhầm lẫn dữ liệu và tốn rất nhiều thời gian đối soát cuối tháng. Hệ thống Web Chấm công ra đời nhằm số hóa toàn diện quy trình này: ghi nhận mốc thời gian tự động, đảm bảo tính khách quan và tổng hợp số liệu tức thì.</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mục tiêu và đối tượng sử dụng:</a:t>
            </a:r>
          </a:p>
          <a:p>
            <a:r>
              <a:t>Hệ thống hướng tới 4 mục tiêu chính: quản lý hồ sơ nhân viên, ghi nhận giờ vào ra, tính toán ngày công và cung cấp báo cáo thống kê.</a:t>
            </a:r>
          </a:p>
          <a:p>
            <a:r>
              <a:t>Hệ thống phân định rõ 3 nhóm đối tượng người dùng:</a:t>
            </a:r>
          </a:p>
          <a:p>
            <a:r>
              <a:t>- Quản trị viên phụ trách tài khoản và cơ cấu tổ chức.</a:t>
            </a:r>
          </a:p>
          <a:p>
            <a:r>
              <a:t>- Nhân sự phụ trách quản lý hồ sơ và theo dõi bảng công tổng hợp toàn công ty.</a:t>
            </a:r>
          </a:p>
          <a:p>
            <a:r>
              <a:t>- Nhân viên thực hiện điểm danh hàng ngày và theo dõi ngày công của chính mình một cách riêng tư, minh bạch.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công nghệ sử dụng:</a:t>
            </a:r>
          </a:p>
          <a:p>
            <a:r>
              <a:t>Em đã rà soát trực tiếp từ mã nguồn của dự án:</a:t>
            </a:r>
          </a:p>
          <a:p>
            <a:r>
              <a:t>- Frontend sử dụng .NET Blazor Web với Razor Components và Bootstrap 5.3, mang lại giao diện tương tác tức thì và đáp ứng tốt trên di động.</a:t>
            </a:r>
          </a:p>
          <a:p>
            <a:r>
              <a:t>- Backend viết bằng C# .NET áp dụng kiến trúc sạch Clean Architecture phân tách rõ ràng trách nhiệm.</a:t>
            </a:r>
          </a:p>
          <a:p>
            <a:r>
              <a:t>- Cơ sở dữ liệu là Microsoft SQL Server với tên CSDL BangChamCongDB, kết nối qua Dapper Micro-ORM với 100% truy vấn tham số hóa chống SQL Injection.</a:t>
            </a:r>
          </a:p>
          <a:p>
            <a:r>
              <a:t>- Công cụ lập trình chính là Visual Studio 2022 và SSMS.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phân tích chức năng hệ thống:</a:t>
            </a:r>
          </a:p>
          <a:p>
            <a:r>
              <a:t>Em tóm tắt toàn bộ chức năng thực tế thành 5 khối nghiệp vụ chính:</a:t>
            </a:r>
          </a:p>
          <a:p>
            <a:r>
              <a:t>1. Đăng nhập và phân quyền bảo mật theo vai trò.</a:t>
            </a:r>
          </a:p>
          <a:p>
            <a:r>
              <a:t>2. Quản lý danh sách và thông tin hồ sơ nhân viên.</a:t>
            </a:r>
          </a:p>
          <a:p>
            <a:r>
              <a:t>3. Chức năng cốt lõi: Điểm danh Check-in và Check-out hàng ngày.</a:t>
            </a:r>
          </a:p>
          <a:p>
            <a:r>
              <a:t>4. Theo dõi và tra cứu lịch sử chấm công theo từng tháng.</a:t>
            </a:r>
          </a:p>
          <a:p>
            <a:r>
              <a:t>5. Thống kê, tổng hợp ngày công phục vụ báo cáo nhân sự.</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thiết kế hệ thống:</a:t>
            </a:r>
          </a:p>
          <a:p>
            <a:r>
              <a:t>Kiến trúc tổng thể được xây dựng theo mô hình 4 khối rành mạch:</a:t>
            </a:r>
          </a:p>
          <a:p>
            <a:r>
              <a:t>- Người dùng thao tác trên trình duyệt Desktop hoặc Mobile.</a:t>
            </a:r>
          </a:p>
          <a:p>
            <a:r>
              <a:t>- Tầng giao diện Blazor UI tiếp nhận tương tác và gửi yêu cầu.</a:t>
            </a:r>
          </a:p>
          <a:p>
            <a:r>
              <a:t>- Tầng Backend C# xử lý logic kiểm tra tính hợp lệ và thời gian.</a:t>
            </a:r>
          </a:p>
          <a:p>
            <a:r>
              <a:t>- Cơ sở dữ liệu SQL Server BangChamCongDB lưu trữ dữ liệu an toàn.</a:t>
            </a:r>
          </a:p>
          <a:p>
            <a:r>
              <a:t>Sự phân tách này giúp mã nguồn dễ bảo trì, dễ kiểm thử và đảm bảo an toàn thông tin.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giao diện chính của hệ thống:</a:t>
            </a:r>
          </a:p>
          <a:p>
            <a:r>
              <a:t>Slide số 7 minh họa 4 màn hình cốt lõi:</a:t>
            </a:r>
          </a:p>
          <a:p>
            <a:r>
              <a:t>1. Trang đăng nhập bảo mật phân quyền.</a:t>
            </a:r>
          </a:p>
          <a:p>
            <a:r>
              <a:t>2. Dashboard tổng quan theo dõi trạng thái nhân sự.</a:t>
            </a:r>
          </a:p>
          <a:p>
            <a:r>
              <a:t>3. Trang quản lý danh sách hồ sơ nhân viên.</a:t>
            </a:r>
          </a:p>
          <a:p>
            <a:r>
              <a:t>4. Màn hình chấm công trực tuyến với thao tác Check-in / Check-out một chạm tiện lợi.</a:t>
            </a:r>
          </a:p>
          <a:p>
            <a:r>
              <a:t>Bên dưới là hình ảnh thực tế từ website, giao diện được tối ưu tông màu hiện đại, rõ ràng và dễ thao tác.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quy trình chấm công:</a:t>
            </a:r>
          </a:p>
          <a:p>
            <a:r>
              <a:t>Luồng xử lý diễn ra qua 5 bước liên hoàn:</a:t>
            </a:r>
          </a:p>
          <a:p>
            <a:r>
              <a:t>Bước 1: Nhân viên đăng nhập vào hệ thống.</a:t>
            </a:r>
          </a:p>
          <a:p>
            <a:r>
              <a:t>Bước 2: Chọn chức năng chấm công.</a:t>
            </a:r>
          </a:p>
          <a:p>
            <a:r>
              <a:t>Bước 3: Nhấp nút Check-in khi đến và Check-out khi về.</a:t>
            </a:r>
          </a:p>
          <a:p>
            <a:r>
              <a:t>Bước 4: Hệ thống ghi nhận mốc thời gian máy chủ vào bảng timesheets.</a:t>
            </a:r>
          </a:p>
          <a:p>
            <a:r>
              <a:t>Bước 5: Dữ liệu ngày công được cập nhật ngay lập tức vào bảng lịch sử cá nhân và báo cáo HR.</a:t>
            </a:r>
          </a:p>
          <a:p>
            <a:r>
              <a:t>Quy trình này loại bỏ hoàn toàn việc can thiệp chỉnh sửa giờ thủ công.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thiết kế cơ sở dữ liệu:</a:t>
            </a:r>
          </a:p>
          <a:p>
            <a:r>
              <a:t>Hệ thống sử dụng cơ sở dữ liệu quan hệ BangChamCongDB trên SQL Server gồm 3 bảng trọng tâm:</a:t>
            </a:r>
          </a:p>
          <a:p>
            <a:r>
              <a:t>1. Bảng employees quản lý hồ sơ nhân sự với các mã định danh duy nhất.</a:t>
            </a:r>
          </a:p>
          <a:p>
            <a:r>
              <a:t>2. Bảng user_accounts liên kết quan hệ 1-1 với nhân viên, lưu mật khẩu băm BCrypt và vai trò người dùng.</a:t>
            </a:r>
          </a:p>
          <a:p>
            <a:r>
              <a:t>3. Bảng timesheets liên kết 1-Nhiều với nhân viên, ghi nhận chi tiết từng ngày công, giờ vào và giờ ra.</a:t>
            </a:r>
          </a:p>
          <a:p>
            <a:r>
              <a:t>Mô hình được chuẩn hóa giúp dữ liệu luôn toàn vẹn, không bị trùng lặp.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kiểm thử và kết quả thực tế:</a:t>
            </a:r>
          </a:p>
          <a:p>
            <a:r>
              <a:t>Em đã tiến hành kiểm thử thực tế trên 4 nhóm chức năng cốt lõi:</a:t>
            </a:r>
          </a:p>
          <a:p>
            <a:r>
              <a:t>- TC01: Kiểm tra đăng nhập với các trường hợp nhập đúng và sai mật khẩu.</a:t>
            </a:r>
          </a:p>
          <a:p>
            <a:r>
              <a:t>- TC02: Kiểm tra ghi nhận giờ vào ra, khóa chống bấm đúp.</a:t>
            </a:r>
          </a:p>
          <a:p>
            <a:r>
              <a:t>- TC03: Kiểm tra tra cứu lịch sử công hiển thị đầy đủ, chính xác.</a:t>
            </a:r>
          </a:p>
          <a:p>
            <a:r>
              <a:t>- TC04: Kiểm tra bảo mật phân quyền, chặn truy cập trái phép bằng HTTP 403.</a:t>
            </a:r>
          </a:p>
          <a:p>
            <a:r>
              <a:t>Kết quả kiểm thử thực tế đạt 100%, bảo đảm hệ thống sẵn sàng vận hành ổn định.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đánh giá và hướng phát triển:</a:t>
            </a:r>
          </a:p>
          <a:p>
            <a:r>
              <a:t>- Về ưu điểm: Hệ thống đã hoàn thiện xuất sắc các phân hệ cốt lõi: Điểm danh khuôn mặt AI Kiosk, hỗ trợ 6 ca làm việc chuẩn hóa, Bảng chấm công tổng hợp xuất Excel/in ấn tự động, và bảo mật phân quyền đa cấp.</a:t>
            </a:r>
          </a:p>
          <a:p>
            <a:r>
              <a:t>- Về hạn chế: Hiện tại hệ thống vận hành trên nền tảng Web, chưa có ứng dụng di động định vị GPS cho nhân viên đi thị trường và chưa kết nối trực tiếp máy vân tay vật lý.</a:t>
            </a:r>
          </a:p>
          <a:p>
            <a:r>
              <a:t>- Về định hướng nâng cấp: Em sẽ phát triển Mobile App có Geofencing, tích hợp SDK máy chấm công vân tay tại văn phòng và mở rộng Trợ lý AI phân tích dự báo nhân sự.</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quý Thầy Cô cùng toàn thể các bạn sinh viên!</a:t>
            </a:r>
          </a:p>
          <a:p>
            <a:r>
              <a:t>Đề tài 'Xây dựng hệ thống chấm công và quản lý nhân viên trên nền tảng Web' đã hoàn thành xuất sắc các mục tiêu đặt ra, giúp em củng cố sâu sắc các kiến thức về kiến trúc web, C# .NET, Blazor và quản trị cơ sở dữ liệu quan hệ.</a:t>
            </a:r>
          </a:p>
          <a:p>
            <a:r>
              <a:t>Em xin trân trọng cảm ơn Giảng viên hướng dẫn và các Thầy Cô giáo đã tận tâm chỉ bảo em trong suốt học phần.</a:t>
            </a:r>
          </a:p>
          <a:p>
            <a:r>
              <a:t>Em xin trân trọng cảm ơn và kính mời Thầy Cô cùng các bạn sinh viên đặt câu hỏi để em được làm rõ hơn về dự án!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ce_logo.png"/>
          <p:cNvPicPr>
            <a:picLocks noChangeAspect="1"/>
          </p:cNvPicPr>
          <p:nvPr/>
        </p:nvPicPr>
        <p:blipFill>
          <a:blip r:embed="rId2"/>
          <a:stretch>
            <a:fillRect/>
          </a:stretch>
        </p:blipFill>
        <p:spPr>
          <a:xfrm>
            <a:off x="731520" y="502920"/>
            <a:ext cx="960120" cy="964406"/>
          </a:xfrm>
          <a:prstGeom prst="rect">
            <a:avLst/>
          </a:prstGeom>
        </p:spPr>
      </p:pic>
      <p:sp>
        <p:nvSpPr>
          <p:cNvPr id="5" name="TextBox 4"/>
          <p:cNvSpPr txBox="1"/>
          <p:nvPr/>
        </p:nvSpPr>
        <p:spPr>
          <a:xfrm>
            <a:off x="1874519" y="502920"/>
            <a:ext cx="9509760" cy="822960"/>
          </a:xfrm>
          <a:prstGeom prst="rect">
            <a:avLst/>
          </a:prstGeom>
          <a:noFill/>
        </p:spPr>
        <p:txBody>
          <a:bodyPr wrap="square" lIns="0" tIns="0" rIns="0" bIns="0">
            <a:spAutoFit/>
          </a:bodyPr>
          <a:lstStyle/>
          <a:p>
            <a:r>
              <a:rPr sz="1750" b="1">
                <a:solidFill>
                  <a:srgbClr val="FFFFFF"/>
                </a:solidFill>
                <a:latin typeface="Segoe UI"/>
              </a:rPr>
              <a:t>TRƯỜNG ĐẠI HỌC KINH TẾ, ĐẠI HỌC HUẾ</a:t>
            </a:r>
          </a:p>
          <a:p>
            <a:r>
              <a:rPr sz="1500" b="1">
                <a:solidFill>
                  <a:srgbClr val="C7D2FE"/>
                </a:solidFill>
                <a:latin typeface="Segoe UI"/>
              </a:rPr>
              <a:t>KHOA HỆ THỐNG THÔNG TIN KINH TẾ</a:t>
            </a:r>
          </a:p>
        </p:txBody>
      </p:sp>
      <p:sp>
        <p:nvSpPr>
          <p:cNvPr id="6" name="Rounded Rectangle 5"/>
          <p:cNvSpPr/>
          <p:nvPr/>
        </p:nvSpPr>
        <p:spPr>
          <a:xfrm>
            <a:off x="731520" y="1691640"/>
            <a:ext cx="3931920" cy="347472"/>
          </a:xfrm>
          <a:prstGeom prst="roundRect">
            <a:avLst/>
          </a:prstGeom>
          <a:solidFill>
            <a:srgbClr val="172554"/>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400" b="1">
                <a:solidFill>
                  <a:srgbClr val="0EA5E9"/>
                </a:solidFill>
                <a:latin typeface="Segoe UI"/>
              </a:rPr>
              <a:t>BÁO CÁO HỌC PHẦN: LẬP TRÌNH ỨNG DỤNG WEB</a:t>
            </a:r>
          </a:p>
        </p:txBody>
      </p:sp>
      <p:sp>
        <p:nvSpPr>
          <p:cNvPr id="7" name="TextBox 6"/>
          <p:cNvSpPr txBox="1"/>
          <p:nvPr/>
        </p:nvSpPr>
        <p:spPr>
          <a:xfrm>
            <a:off x="731520" y="2194560"/>
            <a:ext cx="7772400" cy="1463040"/>
          </a:xfrm>
          <a:prstGeom prst="rect">
            <a:avLst/>
          </a:prstGeom>
          <a:noFill/>
        </p:spPr>
        <p:txBody>
          <a:bodyPr wrap="square" lIns="0" tIns="0" rIns="0" bIns="0">
            <a:spAutoFit/>
          </a:bodyPr>
          <a:lstStyle/>
          <a:p>
            <a:r>
              <a:rPr sz="3200" b="1">
                <a:solidFill>
                  <a:srgbClr val="FFFFFF"/>
                </a:solidFill>
                <a:latin typeface="Segoe UI"/>
              </a:rPr>
              <a:t>XÂY DỰNG HỆ THỐNG CHẤM CÔNG
VÀ QUẢN LÝ NHÂN VIÊN
TRÊN NỀN TẢNG WEB</a:t>
            </a:r>
          </a:p>
          <a:p>
            <a:pPr>
              <a:spcBef>
                <a:spcPts val="800"/>
              </a:spcBef>
            </a:pPr>
            <a:r>
              <a:rPr sz="1750">
                <a:solidFill>
                  <a:srgbClr val="C7D2FE"/>
                </a:solidFill>
                <a:latin typeface="Segoe UI"/>
              </a:rPr>
              <a:t>Web-based Timesheet &amp; Employee Management System</a:t>
            </a:r>
          </a:p>
        </p:txBody>
      </p:sp>
      <p:sp>
        <p:nvSpPr>
          <p:cNvPr id="8" name="Rounded Rectangle 7"/>
          <p:cNvSpPr/>
          <p:nvPr/>
        </p:nvSpPr>
        <p:spPr>
          <a:xfrm>
            <a:off x="8686800" y="1737360"/>
            <a:ext cx="2773375" cy="2514600"/>
          </a:xfrm>
          <a:prstGeom prst="roundRect">
            <a:avLst/>
          </a:prstGeom>
          <a:solidFill>
            <a:srgbClr val="FFFFFF"/>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Cong.png"/>
          <p:cNvPicPr>
            <a:picLocks noChangeAspect="1"/>
          </p:cNvPicPr>
          <p:nvPr/>
        </p:nvPicPr>
        <p:blipFill>
          <a:blip r:embed="rId3"/>
          <a:stretch>
            <a:fillRect/>
          </a:stretch>
        </p:blipFill>
        <p:spPr>
          <a:xfrm>
            <a:off x="8778240" y="1920240"/>
            <a:ext cx="2590495" cy="1450161"/>
          </a:xfrm>
          <a:prstGeom prst="rect">
            <a:avLst/>
          </a:prstGeom>
        </p:spPr>
      </p:pic>
      <p:sp>
        <p:nvSpPr>
          <p:cNvPr id="10" name="TextBox 9"/>
          <p:cNvSpPr txBox="1"/>
          <p:nvPr/>
        </p:nvSpPr>
        <p:spPr>
          <a:xfrm>
            <a:off x="8686800" y="3977639"/>
            <a:ext cx="2773375" cy="274320"/>
          </a:xfrm>
          <a:prstGeom prst="rect">
            <a:avLst/>
          </a:prstGeom>
          <a:noFill/>
        </p:spPr>
        <p:txBody>
          <a:bodyPr wrap="none" lIns="0" tIns="0" rIns="0" bIns="0">
            <a:spAutoFit/>
          </a:bodyPr>
          <a:lstStyle/>
          <a:p>
            <a:pPr algn="ctr"/>
            <a:r>
              <a:rPr sz="1250" b="1">
                <a:solidFill>
                  <a:srgbClr val="1E3A8A"/>
                </a:solidFill>
                <a:latin typeface="Segoe UI"/>
              </a:rPr>
              <a:t>Nhận diện Hệ thống Chấm công</a:t>
            </a:r>
          </a:p>
        </p:txBody>
      </p:sp>
      <p:sp>
        <p:nvSpPr>
          <p:cNvPr id="11" name="Rounded Rectangle 10"/>
          <p:cNvSpPr/>
          <p:nvPr/>
        </p:nvSpPr>
        <p:spPr>
          <a:xfrm>
            <a:off x="731520" y="4480560"/>
            <a:ext cx="10728655" cy="1737360"/>
          </a:xfrm>
          <a:prstGeom prst="roundRect">
            <a:avLst/>
          </a:prstGeom>
          <a:solidFill>
            <a:srgbClr val="172554"/>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617720"/>
            <a:ext cx="2542032" cy="1463040"/>
          </a:xfrm>
          <a:prstGeom prst="rect">
            <a:avLst/>
          </a:prstGeom>
          <a:noFill/>
        </p:spPr>
        <p:txBody>
          <a:bodyPr wrap="square" lIns="0" tIns="0" rIns="0" bIns="0">
            <a:spAutoFit/>
          </a:bodyPr>
          <a:lstStyle/>
          <a:p>
            <a:r>
              <a:rPr sz="1250" b="1">
                <a:solidFill>
                  <a:srgbClr val="0EA5E9"/>
                </a:solidFill>
                <a:latin typeface="Segoe UI"/>
              </a:rPr>
              <a:t>SINH VIÊN THỰC HIỆN</a:t>
            </a:r>
          </a:p>
          <a:p>
            <a:pPr>
              <a:spcBef>
                <a:spcPts val="400"/>
              </a:spcBef>
            </a:pPr>
            <a:r>
              <a:rPr sz="1650" b="1">
                <a:solidFill>
                  <a:srgbClr val="FFFFFF"/>
                </a:solidFill>
                <a:latin typeface="Segoe UI"/>
              </a:rPr>
              <a:t>Trần Viết Mạnh Cường</a:t>
            </a:r>
          </a:p>
          <a:p>
            <a:pPr>
              <a:spcBef>
                <a:spcPts val="300"/>
              </a:spcBef>
            </a:pPr>
            <a:r>
              <a:rPr sz="1250">
                <a:solidFill>
                  <a:srgbClr val="C7D2FE"/>
                </a:solidFill>
                <a:latin typeface="Segoe UI"/>
              </a:rPr>
              <a:t>Mã SV: 23K4080003
Lớp: K57 Tin học Kinh tế</a:t>
            </a:r>
          </a:p>
        </p:txBody>
      </p:sp>
      <p:sp>
        <p:nvSpPr>
          <p:cNvPr id="13" name="TextBox 12"/>
          <p:cNvSpPr txBox="1"/>
          <p:nvPr/>
        </p:nvSpPr>
        <p:spPr>
          <a:xfrm>
            <a:off x="3520439" y="4617720"/>
            <a:ext cx="2542032" cy="1463040"/>
          </a:xfrm>
          <a:prstGeom prst="rect">
            <a:avLst/>
          </a:prstGeom>
          <a:noFill/>
        </p:spPr>
        <p:txBody>
          <a:bodyPr wrap="square" lIns="0" tIns="0" rIns="0" bIns="0">
            <a:spAutoFit/>
          </a:bodyPr>
          <a:lstStyle/>
          <a:p>
            <a:r>
              <a:rPr sz="1250" b="1">
                <a:solidFill>
                  <a:srgbClr val="0EA5E9"/>
                </a:solidFill>
                <a:latin typeface="Segoe UI"/>
              </a:rPr>
              <a:t>NGÀNH &amp; CHUYÊN NGÀNH</a:t>
            </a:r>
          </a:p>
          <a:p>
            <a:pPr>
              <a:spcBef>
                <a:spcPts val="400"/>
              </a:spcBef>
            </a:pPr>
            <a:r>
              <a:rPr sz="1650" b="1">
                <a:solidFill>
                  <a:srgbClr val="FFFFFF"/>
                </a:solidFill>
                <a:latin typeface="Segoe UI"/>
              </a:rPr>
              <a:t>Hệ thống Thông tin Quản lý</a:t>
            </a:r>
          </a:p>
          <a:p>
            <a:pPr>
              <a:spcBef>
                <a:spcPts val="300"/>
              </a:spcBef>
            </a:pPr>
            <a:r>
              <a:rPr sz="1250">
                <a:solidFill>
                  <a:srgbClr val="C7D2FE"/>
                </a:solidFill>
                <a:latin typeface="Segoe UI"/>
              </a:rPr>
              <a:t>Chuyên ngành: Tin học Kinh tế
Khóa học: 2023 – 2027</a:t>
            </a:r>
          </a:p>
        </p:txBody>
      </p:sp>
      <p:sp>
        <p:nvSpPr>
          <p:cNvPr id="14" name="TextBox 13"/>
          <p:cNvSpPr txBox="1"/>
          <p:nvPr/>
        </p:nvSpPr>
        <p:spPr>
          <a:xfrm>
            <a:off x="6172200" y="4617720"/>
            <a:ext cx="2542032" cy="1463040"/>
          </a:xfrm>
          <a:prstGeom prst="rect">
            <a:avLst/>
          </a:prstGeom>
          <a:noFill/>
        </p:spPr>
        <p:txBody>
          <a:bodyPr wrap="square" lIns="0" tIns="0" rIns="0" bIns="0">
            <a:spAutoFit/>
          </a:bodyPr>
          <a:lstStyle/>
          <a:p>
            <a:r>
              <a:rPr sz="1250" b="1">
                <a:solidFill>
                  <a:srgbClr val="0EA5E9"/>
                </a:solidFill>
                <a:latin typeface="Segoe UI"/>
              </a:rPr>
              <a:t>GIẢNG VIÊN HƯỚNG DẪN</a:t>
            </a:r>
          </a:p>
          <a:p>
            <a:pPr>
              <a:spcBef>
                <a:spcPts val="400"/>
              </a:spcBef>
            </a:pPr>
            <a:r>
              <a:rPr sz="1650" b="1">
                <a:solidFill>
                  <a:srgbClr val="FFFFFF"/>
                </a:solidFill>
                <a:latin typeface="Segoe UI"/>
              </a:rPr>
              <a:t>[Để trống để bổ sung]</a:t>
            </a:r>
          </a:p>
          <a:p>
            <a:pPr>
              <a:spcBef>
                <a:spcPts val="300"/>
              </a:spcBef>
            </a:pPr>
            <a:r>
              <a:rPr sz="1250">
                <a:solidFill>
                  <a:srgbClr val="C7D2FE"/>
                </a:solidFill>
                <a:latin typeface="Segoe UI"/>
              </a:rPr>
              <a:t>Khoa Hệ thống Thông tin Kinh tế
Trường Đại học Kinh tế, ĐH Huế</a:t>
            </a:r>
          </a:p>
        </p:txBody>
      </p:sp>
      <p:sp>
        <p:nvSpPr>
          <p:cNvPr id="15" name="TextBox 14"/>
          <p:cNvSpPr txBox="1"/>
          <p:nvPr/>
        </p:nvSpPr>
        <p:spPr>
          <a:xfrm>
            <a:off x="8823959" y="4617720"/>
            <a:ext cx="2542032" cy="1463040"/>
          </a:xfrm>
          <a:prstGeom prst="rect">
            <a:avLst/>
          </a:prstGeom>
          <a:noFill/>
        </p:spPr>
        <p:txBody>
          <a:bodyPr wrap="square" lIns="0" tIns="0" rIns="0" bIns="0">
            <a:spAutoFit/>
          </a:bodyPr>
          <a:lstStyle/>
          <a:p>
            <a:r>
              <a:rPr sz="1250" b="1">
                <a:solidFill>
                  <a:srgbClr val="0EA5E9"/>
                </a:solidFill>
                <a:latin typeface="Segoe UI"/>
              </a:rPr>
              <a:t>THÔNG TIN BÁO CÁO</a:t>
            </a:r>
          </a:p>
          <a:p>
            <a:pPr>
              <a:spcBef>
                <a:spcPts val="400"/>
              </a:spcBef>
            </a:pPr>
            <a:r>
              <a:rPr sz="1650" b="1">
                <a:solidFill>
                  <a:srgbClr val="FFFFFF"/>
                </a:solidFill>
                <a:latin typeface="Segoe UI"/>
              </a:rPr>
              <a:t>Học kỳ I (2025 – 2026)</a:t>
            </a:r>
          </a:p>
          <a:p>
            <a:pPr>
              <a:spcBef>
                <a:spcPts val="300"/>
              </a:spcBef>
            </a:pPr>
            <a:r>
              <a:rPr sz="1250">
                <a:solidFill>
                  <a:srgbClr val="C7D2FE"/>
                </a:solidFill>
                <a:latin typeface="Segoe UI"/>
              </a:rPr>
              <a:t>Học phần: Lập trình ứng dụng Web
Thành phố Huế, Năm 2026</a:t>
            </a:r>
          </a:p>
        </p:txBody>
      </p:sp>
    </p:spTree>
  </p:cSld>
  <p:clrMapOvr>
    <a:masterClrMapping/>
  </p:clrMapOvr>
  <p:transition spd="med"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20624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50" b="1">
                <a:solidFill>
                  <a:srgbClr val="1E3A8A"/>
                </a:solidFill>
                <a:latin typeface="Segoe UI"/>
              </a:rPr>
              <a:t>GIỚI THIỆU ĐỀ TÀI</a:t>
            </a:r>
          </a:p>
        </p:txBody>
      </p:sp>
      <p:sp>
        <p:nvSpPr>
          <p:cNvPr id="5" name="TextBox 4"/>
          <p:cNvSpPr txBox="1"/>
          <p:nvPr/>
        </p:nvSpPr>
        <p:spPr>
          <a:xfrm>
            <a:off x="731520" y="658368"/>
            <a:ext cx="10728655" cy="777240"/>
          </a:xfrm>
          <a:prstGeom prst="rect">
            <a:avLst/>
          </a:prstGeom>
          <a:noFill/>
        </p:spPr>
        <p:txBody>
          <a:bodyPr wrap="square" lIns="0" tIns="0" rIns="0" bIns="0">
            <a:spAutoFit/>
          </a:bodyPr>
          <a:lstStyle/>
          <a:p>
            <a:pPr>
              <a:spcAft>
                <a:spcPts val="200"/>
              </a:spcAft>
            </a:pPr>
            <a:r>
              <a:rPr sz="2800" b="1">
                <a:solidFill>
                  <a:srgbClr val="0F172A"/>
                </a:solidFill>
                <a:latin typeface="Segoe UI"/>
              </a:rPr>
              <a:t>01. Nhu cầu quản lý thời gian &amp; Hạn chế của chấm công thủ công</a:t>
            </a:r>
          </a:p>
          <a:p>
            <a:r>
              <a:rPr sz="1500">
                <a:solidFill>
                  <a:srgbClr val="475569"/>
                </a:solidFill>
                <a:latin typeface="Segoe UI"/>
              </a:rPr>
              <a:t>Bối cảnh thực tế và lý do cấp thiết cần chuyển đổi số quy trình chấm công</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320040"/>
          </a:xfrm>
          <a:prstGeom prst="rect">
            <a:avLst/>
          </a:prstGeom>
          <a:noFill/>
        </p:spPr>
        <p:txBody>
          <a:bodyPr wrap="none" lIns="0" tIns="0" rIns="0" bIns="0">
            <a:spAutoFit/>
          </a:bodyPr>
          <a:lstStyle/>
          <a:p>
            <a:r>
              <a:rPr sz="1250">
                <a:solidFill>
                  <a:srgbClr val="475569"/>
                </a:solidFill>
                <a:latin typeface="Segoe UI"/>
              </a:rPr>
              <a:t>Lập trình ứng dụng Web | Hệ thống Chấm công &amp; Quản lý nhân viên</a:t>
            </a:r>
          </a:p>
        </p:txBody>
      </p:sp>
      <p:sp>
        <p:nvSpPr>
          <p:cNvPr id="8" name="TextBox 7"/>
          <p:cNvSpPr txBox="1"/>
          <p:nvPr/>
        </p:nvSpPr>
        <p:spPr>
          <a:xfrm>
            <a:off x="5029200" y="6446520"/>
            <a:ext cx="4572000" cy="320040"/>
          </a:xfrm>
          <a:prstGeom prst="rect">
            <a:avLst/>
          </a:prstGeom>
          <a:noFill/>
        </p:spPr>
        <p:txBody>
          <a:bodyPr wrap="none" lIns="0" tIns="0" rIns="0" bIns="0">
            <a:spAutoFit/>
          </a:bodyPr>
          <a:lstStyle/>
          <a:p>
            <a:r>
              <a:rPr sz="1250">
                <a:solidFill>
                  <a:srgbClr val="475569"/>
                </a:solidFill>
                <a:latin typeface="Segoe UI"/>
              </a:rPr>
              <a:t>Trần Viết Mạnh Cường (23K4080003) | ĐH Kinh tế Huế</a:t>
            </a:r>
          </a:p>
        </p:txBody>
      </p:sp>
      <p:sp>
        <p:nvSpPr>
          <p:cNvPr id="9" name="Rounded Rectangle 8"/>
          <p:cNvSpPr/>
          <p:nvPr/>
        </p:nvSpPr>
        <p:spPr>
          <a:xfrm>
            <a:off x="10728655" y="6446520"/>
            <a:ext cx="731520" cy="25603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250" b="1">
                <a:solidFill>
                  <a:srgbClr val="FFFFFF"/>
                </a:solidFill>
                <a:latin typeface="Segoe UI"/>
              </a:rPr>
              <a:t>02 / 12</a:t>
            </a:r>
          </a:p>
        </p:txBody>
      </p:sp>
      <p:sp>
        <p:nvSpPr>
          <p:cNvPr id="10" name="Rounded Rectangle 9"/>
          <p:cNvSpPr/>
          <p:nvPr/>
        </p:nvSpPr>
        <p:spPr>
          <a:xfrm>
            <a:off x="731520" y="1645920"/>
            <a:ext cx="3328416"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645920"/>
            <a:ext cx="3328416" cy="7315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828800"/>
            <a:ext cx="2962656" cy="4114800"/>
          </a:xfrm>
          <a:prstGeom prst="rect">
            <a:avLst/>
          </a:prstGeom>
          <a:noFill/>
        </p:spPr>
        <p:txBody>
          <a:bodyPr wrap="square" lIns="0" tIns="0" rIns="0" bIns="0">
            <a:spAutoFit/>
          </a:bodyPr>
          <a:lstStyle/>
          <a:p>
            <a:r>
              <a:rPr sz="1500" b="1">
                <a:solidFill>
                  <a:srgbClr val="1E3A8A"/>
                </a:solidFill>
                <a:latin typeface="Segoe UI"/>
              </a:rPr>
              <a:t>NHU CẦU QUẢN LÝ THỜI GIAN</a:t>
            </a:r>
          </a:p>
          <a:p>
            <a:pPr>
              <a:spcBef>
                <a:spcPts val="1200"/>
              </a:spcBef>
            </a:pPr>
            <a:r>
              <a:rPr b="1" sz="1400">
                <a:solidFill>
                  <a:srgbClr val="0F172A"/>
                </a:solidFill>
              </a:rPr>
              <a:t>• Nghiệp vụ cốt lõi hàng ngày:
</a:t>
            </a:r>
            <a:r>
              <a:rPr sz="1350">
                <a:solidFill>
                  <a:srgbClr val="475569"/>
                </a:solidFill>
              </a:rPr>
              <a:t>    Mọi tổ chức đều cần theo dõi chính xác thời gian làm việc, giờ vào và giờ ra của nhân sự.</a:t>
            </a:r>
          </a:p>
          <a:p>
            <a:pPr>
              <a:spcBef>
                <a:spcPts val="1200"/>
              </a:spcBef>
            </a:pPr>
            <a:r>
              <a:rPr b="1" sz="1400">
                <a:solidFill>
                  <a:srgbClr val="0F172A"/>
                </a:solidFill>
              </a:rPr>
              <a:t>• Đảm bảo kỷ luật lao động:
</a:t>
            </a:r>
            <a:r>
              <a:rPr sz="1350">
                <a:solidFill>
                  <a:srgbClr val="475569"/>
                </a:solidFill>
              </a:rPr>
              <a:t>    Tạo môi trường công bằng, minh bạch giữa các nhân viên trong nội bộ cơ quan, doanh nghiệp.</a:t>
            </a:r>
          </a:p>
          <a:p>
            <a:pPr>
              <a:spcBef>
                <a:spcPts val="1200"/>
              </a:spcBef>
            </a:pPr>
            <a:r>
              <a:rPr b="1" sz="1400">
                <a:solidFill>
                  <a:srgbClr val="0F172A"/>
                </a:solidFill>
              </a:rPr>
              <a:t>• Căn cứ tính công &amp; đánh giá:
</a:t>
            </a:r>
            <a:r>
              <a:rPr sz="1350">
                <a:solidFill>
                  <a:srgbClr val="475569"/>
                </a:solidFill>
              </a:rPr>
              <a:t>    Dữ liệu chấm công là cơ sở trực tiếp để đánh giá mức độ chuyên cần và xét khen thưởng.</a:t>
            </a:r>
          </a:p>
        </p:txBody>
      </p:sp>
      <p:sp>
        <p:nvSpPr>
          <p:cNvPr id="13" name="Rounded Rectangle 12"/>
          <p:cNvSpPr/>
          <p:nvPr/>
        </p:nvSpPr>
        <p:spPr>
          <a:xfrm>
            <a:off x="4425696" y="1645920"/>
            <a:ext cx="3328416"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25696" y="1645920"/>
            <a:ext cx="3328416" cy="73152"/>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08576" y="1828800"/>
            <a:ext cx="2962656" cy="4114800"/>
          </a:xfrm>
          <a:prstGeom prst="rect">
            <a:avLst/>
          </a:prstGeom>
          <a:noFill/>
        </p:spPr>
        <p:txBody>
          <a:bodyPr wrap="square" lIns="0" tIns="0" rIns="0" bIns="0">
            <a:spAutoFit/>
          </a:bodyPr>
          <a:lstStyle/>
          <a:p>
            <a:r>
              <a:rPr sz="1500" b="1">
                <a:solidFill>
                  <a:srgbClr val="EF4444"/>
                </a:solidFill>
                <a:latin typeface="Segoe UI"/>
              </a:rPr>
              <a:t>HẠN CHẾ CHẤM CÔNG THỦ CÔNG</a:t>
            </a:r>
          </a:p>
          <a:p>
            <a:pPr>
              <a:spcBef>
                <a:spcPts val="1200"/>
              </a:spcBef>
            </a:pPr>
            <a:r>
              <a:rPr b="1" sz="1400">
                <a:solidFill>
                  <a:srgbClr val="0F172A"/>
                </a:solidFill>
              </a:rPr>
              <a:t>• Sổ sách giấy tờ rủi ro cao:
</a:t>
            </a:r>
            <a:r>
              <a:rPr sz="1350">
                <a:solidFill>
                  <a:srgbClr val="475569"/>
                </a:solidFill>
              </a:rPr>
              <a:t>    Dễ bị thất lạc, rách nát, nhòe mực, tốn không gian lưu trữ và khó tra cứu lại lịch sử.</a:t>
            </a:r>
          </a:p>
          <a:p>
            <a:pPr>
              <a:spcBef>
                <a:spcPts val="1200"/>
              </a:spcBef>
            </a:pPr>
            <a:r>
              <a:rPr b="1" sz="1400">
                <a:solidFill>
                  <a:srgbClr val="0F172A"/>
                </a:solidFill>
              </a:rPr>
              <a:t>• Bảng tính Excel rời rạc:
</a:t>
            </a:r>
            <a:r>
              <a:rPr sz="1350">
                <a:solidFill>
                  <a:srgbClr val="475569"/>
                </a:solidFill>
              </a:rPr>
              <a:t>    Rất dễ bị sửa đổi trái phép, nhầm lẫn dòng công khi nhập liệu thủ công bằng tay.</a:t>
            </a:r>
          </a:p>
          <a:p>
            <a:pPr>
              <a:spcBef>
                <a:spcPts val="1200"/>
              </a:spcBef>
            </a:pPr>
            <a:r>
              <a:rPr b="1" sz="1400">
                <a:solidFill>
                  <a:srgbClr val="0F172A"/>
                </a:solidFill>
              </a:rPr>
              <a:t>• Tốn kém thời gian đối soát:
</a:t>
            </a:r>
            <a:r>
              <a:rPr sz="1350">
                <a:solidFill>
                  <a:srgbClr val="475569"/>
                </a:solidFill>
              </a:rPr>
              <a:t>    Bộ phận nhân sự phải mất hàng ngày cuối tháng chỉ để cộng trừ, tổng hợp từng tờ giấy chấm công.</a:t>
            </a:r>
          </a:p>
        </p:txBody>
      </p:sp>
      <p:sp>
        <p:nvSpPr>
          <p:cNvPr id="16" name="Rounded Rectangle 15"/>
          <p:cNvSpPr/>
          <p:nvPr/>
        </p:nvSpPr>
        <p:spPr>
          <a:xfrm>
            <a:off x="8119872" y="1645920"/>
            <a:ext cx="3328416"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19872" y="1645920"/>
            <a:ext cx="3328416" cy="7315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1828800"/>
            <a:ext cx="2962656" cy="4114800"/>
          </a:xfrm>
          <a:prstGeom prst="rect">
            <a:avLst/>
          </a:prstGeom>
          <a:noFill/>
        </p:spPr>
        <p:txBody>
          <a:bodyPr wrap="square" lIns="0" tIns="0" rIns="0" bIns="0">
            <a:spAutoFit/>
          </a:bodyPr>
          <a:lstStyle/>
          <a:p>
            <a:r>
              <a:rPr sz="1500" b="1">
                <a:solidFill>
                  <a:srgbClr val="10B981"/>
                </a:solidFill>
                <a:latin typeface="Segoe UI"/>
              </a:rPr>
              <a:t>MỤC TIÊU XÂY DỰNG HỆ THỐNG WEB</a:t>
            </a:r>
          </a:p>
          <a:p>
            <a:pPr>
              <a:spcBef>
                <a:spcPts val="1200"/>
              </a:spcBef>
            </a:pPr>
            <a:r>
              <a:rPr b="1" sz="1400">
                <a:solidFill>
                  <a:srgbClr val="0F172A"/>
                </a:solidFill>
              </a:rPr>
              <a:t>• Số hóa trực tuyến 100%:
</a:t>
            </a:r>
            <a:r>
              <a:rPr sz="1350">
                <a:solidFill>
                  <a:srgbClr val="475569"/>
                </a:solidFill>
              </a:rPr>
              <a:t>    Cho phép nhân viên điểm danh Check-in/Check-out ngay trên trình duyệt web mọi lúc mọi nơi.</a:t>
            </a:r>
          </a:p>
          <a:p>
            <a:pPr>
              <a:spcBef>
                <a:spcPts val="1200"/>
              </a:spcBef>
            </a:pPr>
            <a:r>
              <a:rPr b="1" sz="1400">
                <a:solidFill>
                  <a:srgbClr val="0F172A"/>
                </a:solidFill>
              </a:rPr>
              <a:t>• Chính xác &amp; Khách quan:
</a:t>
            </a:r>
            <a:r>
              <a:rPr sz="1350">
                <a:solidFill>
                  <a:srgbClr val="475569"/>
                </a:solidFill>
              </a:rPr>
              <a:t>    Tự động ghi nhận mốc thời gian (timestamp) chuẩn xác từ hệ thống, ngăn chặn gian lận.</a:t>
            </a:r>
          </a:p>
          <a:p>
            <a:pPr>
              <a:spcBef>
                <a:spcPts val="1200"/>
              </a:spcBef>
            </a:pPr>
            <a:r>
              <a:rPr b="1" sz="1400">
                <a:solidFill>
                  <a:srgbClr val="0F172A"/>
                </a:solidFill>
              </a:rPr>
              <a:t>• Tổng hợp &amp; Tra cứu tức thì:
</a:t>
            </a:r>
            <a:r>
              <a:rPr sz="1350">
                <a:solidFill>
                  <a:srgbClr val="475569"/>
                </a:solidFill>
              </a:rPr>
              <a:t>    Dữ liệu được lưu trữ tập trung, tự động thống kê ngày công và xuất báo cáo trong tích tắc.</a:t>
            </a:r>
          </a:p>
        </p:txBody>
      </p:sp>
    </p:spTree>
  </p:cSld>
  <p:clrMapOvr>
    <a:masterClrMapping/>
  </p:clrMapOvr>
  <p:transition spd="med" advClick="1">
    <p:push dir="r"/>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20624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50" b="1">
                <a:solidFill>
                  <a:srgbClr val="1E3A8A"/>
                </a:solidFill>
                <a:latin typeface="Segoe UI"/>
              </a:rPr>
              <a:t>MỤC TIÊU &amp; ĐỐI TƯỢNG</a:t>
            </a:r>
          </a:p>
        </p:txBody>
      </p:sp>
      <p:sp>
        <p:nvSpPr>
          <p:cNvPr id="5" name="TextBox 4"/>
          <p:cNvSpPr txBox="1"/>
          <p:nvPr/>
        </p:nvSpPr>
        <p:spPr>
          <a:xfrm>
            <a:off x="731520" y="658368"/>
            <a:ext cx="10728655" cy="777240"/>
          </a:xfrm>
          <a:prstGeom prst="rect">
            <a:avLst/>
          </a:prstGeom>
          <a:noFill/>
        </p:spPr>
        <p:txBody>
          <a:bodyPr wrap="square" lIns="0" tIns="0" rIns="0" bIns="0">
            <a:spAutoFit/>
          </a:bodyPr>
          <a:lstStyle/>
          <a:p>
            <a:pPr>
              <a:spcAft>
                <a:spcPts val="200"/>
              </a:spcAft>
            </a:pPr>
            <a:r>
              <a:rPr sz="2800" b="1">
                <a:solidFill>
                  <a:srgbClr val="0F172A"/>
                </a:solidFill>
                <a:latin typeface="Segoe UI"/>
              </a:rPr>
              <a:t>02. Mục tiêu hệ thống &amp; Ba nhóm đối tượng sử dụng cốt lõi</a:t>
            </a:r>
          </a:p>
          <a:p>
            <a:r>
              <a:rPr sz="1500">
                <a:solidFill>
                  <a:srgbClr val="475569"/>
                </a:solidFill>
                <a:latin typeface="Segoe UI"/>
              </a:rPr>
              <a:t>Xác định rõ ràng phạm vi bài toán và phân quyền trách nhiệm từng người dùng</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320040"/>
          </a:xfrm>
          <a:prstGeom prst="rect">
            <a:avLst/>
          </a:prstGeom>
          <a:noFill/>
        </p:spPr>
        <p:txBody>
          <a:bodyPr wrap="none" lIns="0" tIns="0" rIns="0" bIns="0">
            <a:spAutoFit/>
          </a:bodyPr>
          <a:lstStyle/>
          <a:p>
            <a:r>
              <a:rPr sz="1250">
                <a:solidFill>
                  <a:srgbClr val="475569"/>
                </a:solidFill>
                <a:latin typeface="Segoe UI"/>
              </a:rPr>
              <a:t>Lập trình ứng dụng Web | Hệ thống Chấm công &amp; Quản lý nhân viên</a:t>
            </a:r>
          </a:p>
        </p:txBody>
      </p:sp>
      <p:sp>
        <p:nvSpPr>
          <p:cNvPr id="8" name="TextBox 7"/>
          <p:cNvSpPr txBox="1"/>
          <p:nvPr/>
        </p:nvSpPr>
        <p:spPr>
          <a:xfrm>
            <a:off x="5029200" y="6446520"/>
            <a:ext cx="4572000" cy="320040"/>
          </a:xfrm>
          <a:prstGeom prst="rect">
            <a:avLst/>
          </a:prstGeom>
          <a:noFill/>
        </p:spPr>
        <p:txBody>
          <a:bodyPr wrap="none" lIns="0" tIns="0" rIns="0" bIns="0">
            <a:spAutoFit/>
          </a:bodyPr>
          <a:lstStyle/>
          <a:p>
            <a:r>
              <a:rPr sz="1250">
                <a:solidFill>
                  <a:srgbClr val="475569"/>
                </a:solidFill>
                <a:latin typeface="Segoe UI"/>
              </a:rPr>
              <a:t>Trần Viết Mạnh Cường (23K4080003) | ĐH Kinh tế Huế</a:t>
            </a:r>
          </a:p>
        </p:txBody>
      </p:sp>
      <p:sp>
        <p:nvSpPr>
          <p:cNvPr id="9" name="Rounded Rectangle 8"/>
          <p:cNvSpPr/>
          <p:nvPr/>
        </p:nvSpPr>
        <p:spPr>
          <a:xfrm>
            <a:off x="10728655" y="6446520"/>
            <a:ext cx="731520" cy="25603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250" b="1">
                <a:solidFill>
                  <a:srgbClr val="FFFFFF"/>
                </a:solidFill>
                <a:latin typeface="Segoe UI"/>
              </a:rPr>
              <a:t>03 / 12</a:t>
            </a:r>
          </a:p>
        </p:txBody>
      </p:sp>
      <p:sp>
        <p:nvSpPr>
          <p:cNvPr id="10" name="Rounded Rectangle 9"/>
          <p:cNvSpPr/>
          <p:nvPr/>
        </p:nvSpPr>
        <p:spPr>
          <a:xfrm>
            <a:off x="731520" y="1645920"/>
            <a:ext cx="516636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645920"/>
            <a:ext cx="516636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828800"/>
            <a:ext cx="4709160" cy="4114800"/>
          </a:xfrm>
          <a:prstGeom prst="rect">
            <a:avLst/>
          </a:prstGeom>
          <a:noFill/>
        </p:spPr>
        <p:txBody>
          <a:bodyPr wrap="square" lIns="0" tIns="0" rIns="0" bIns="0">
            <a:spAutoFit/>
          </a:bodyPr>
          <a:lstStyle/>
          <a:p>
            <a:r>
              <a:rPr sz="1750" b="1">
                <a:solidFill>
                  <a:srgbClr val="2563EB"/>
                </a:solidFill>
                <a:latin typeface="Segoe UI"/>
              </a:rPr>
              <a:t>4 Mục Tiêu Cốt Lõi Của Ứng Dụng Web</a:t>
            </a:r>
          </a:p>
          <a:p>
            <a:pPr>
              <a:spcBef>
                <a:spcPts val="1000"/>
              </a:spcBef>
            </a:pPr>
            <a:r>
              <a:rPr b="1" sz="1400">
                <a:solidFill>
                  <a:srgbClr val="0F172A"/>
                </a:solidFill>
              </a:rPr>
              <a:t>✓ Quản lý hồ sơ nhân viên tập trung:
</a:t>
            </a:r>
            <a:r>
              <a:rPr sz="1350">
                <a:solidFill>
                  <a:srgbClr val="475569"/>
                </a:solidFill>
              </a:rPr>
              <a:t>    Lưu trữ đầy đủ mã nhân viên, họ tên, ngày sinh, giới tính, số CCCD, phòng ban và chức vụ.</a:t>
            </a:r>
          </a:p>
          <a:p>
            <a:pPr>
              <a:spcBef>
                <a:spcPts val="1000"/>
              </a:spcBef>
            </a:pPr>
            <a:r>
              <a:rPr b="1" sz="1400">
                <a:solidFill>
                  <a:srgbClr val="0F172A"/>
                </a:solidFill>
              </a:rPr>
              <a:t>✓ Ghi nhận giờ vào, giờ ra chuẩn xác:
</a:t>
            </a:r>
            <a:r>
              <a:rPr sz="1350">
                <a:solidFill>
                  <a:srgbClr val="475569"/>
                </a:solidFill>
              </a:rPr>
              <a:t>    Cung cấp chức năng Check-in khi đến và Check-out khi về, gắn mốc thời gian thực từ máy chủ.</a:t>
            </a:r>
          </a:p>
          <a:p>
            <a:pPr>
              <a:spcBef>
                <a:spcPts val="1000"/>
              </a:spcBef>
            </a:pPr>
            <a:r>
              <a:rPr b="1" sz="1400">
                <a:solidFill>
                  <a:srgbClr val="0F172A"/>
                </a:solidFill>
              </a:rPr>
              <a:t>✓ Theo dõi và tổng hợp ngày công tự động:
</a:t>
            </a:r>
            <a:r>
              <a:rPr sz="1350">
                <a:solidFill>
                  <a:srgbClr val="475569"/>
                </a:solidFill>
              </a:rPr>
              <a:t>    Tự động tính toán tổng số giờ làm việc, nhận diện đi muộn hoặc về sớm theo ca.</a:t>
            </a:r>
          </a:p>
          <a:p>
            <a:pPr>
              <a:spcBef>
                <a:spcPts val="1000"/>
              </a:spcBef>
            </a:pPr>
            <a:r>
              <a:rPr b="1" sz="1400">
                <a:solidFill>
                  <a:srgbClr val="0F172A"/>
                </a:solidFill>
              </a:rPr>
              <a:t>✓ Cung cấp báo cáo thống kê trực quan:
</a:t>
            </a:r>
            <a:r>
              <a:rPr sz="1350">
                <a:solidFill>
                  <a:srgbClr val="475569"/>
                </a:solidFill>
              </a:rPr>
              <a:t>    Hỗ trợ trích xuất lịch sử chấm công, thống kê theo từng nhân viên hoặc toàn bộ phòng ban.</a:t>
            </a:r>
          </a:p>
        </p:txBody>
      </p:sp>
      <p:sp>
        <p:nvSpPr>
          <p:cNvPr id="13" name="Rounded Rectangle 12"/>
          <p:cNvSpPr/>
          <p:nvPr/>
        </p:nvSpPr>
        <p:spPr>
          <a:xfrm>
            <a:off x="6263640" y="1645920"/>
            <a:ext cx="516636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63640" y="1645920"/>
            <a:ext cx="5166360" cy="7315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828800"/>
            <a:ext cx="4709160" cy="4114800"/>
          </a:xfrm>
          <a:prstGeom prst="rect">
            <a:avLst/>
          </a:prstGeom>
          <a:noFill/>
        </p:spPr>
        <p:txBody>
          <a:bodyPr wrap="square" lIns="0" tIns="0" rIns="0" bIns="0">
            <a:spAutoFit/>
          </a:bodyPr>
          <a:lstStyle/>
          <a:p>
            <a:r>
              <a:rPr sz="1750" b="1">
                <a:solidFill>
                  <a:srgbClr val="1E3A8A"/>
                </a:solidFill>
                <a:latin typeface="Segoe UI"/>
              </a:rPr>
              <a:t>3 Nhóm Đối Tượng Người Dùng (RBAC)</a:t>
            </a:r>
          </a:p>
          <a:p>
            <a:pPr>
              <a:spcBef>
                <a:spcPts val="800"/>
              </a:spcBef>
            </a:pPr>
            <a:r>
              <a:rPr b="1" sz="1400">
                <a:solidFill>
                  <a:srgbClr val="1E3A8A"/>
                </a:solidFill>
              </a:rPr>
              <a:t>1. QUẢN TRỊ VIÊN (ADMIN)</a:t>
            </a:r>
          </a:p>
          <a:p>
            <a:pPr>
              <a:spcBef>
                <a:spcPts val="200"/>
              </a:spcBef>
            </a:pPr>
            <a:r>
              <a:rPr sz="1250">
                <a:solidFill>
                  <a:srgbClr val="0F172A"/>
                </a:solidFill>
              </a:rPr>
              <a:t>• Quản lý tài khoản đăng nhập của người dùng.
• Phân quyền truy cập các chức năng hệ thống.
• Cấu hình danh mục phòng ban và thiết lập ban đầu.</a:t>
            </a:r>
          </a:p>
          <a:p>
            <a:pPr>
              <a:spcBef>
                <a:spcPts val="800"/>
              </a:spcBef>
            </a:pPr>
            <a:r>
              <a:rPr b="1" sz="1400">
                <a:solidFill>
                  <a:srgbClr val="0D9488"/>
                </a:solidFill>
              </a:rPr>
              <a:t>2. BỘ PHẬN NHÂN SỰ (HR)</a:t>
            </a:r>
          </a:p>
          <a:p>
            <a:pPr>
              <a:spcBef>
                <a:spcPts val="200"/>
              </a:spcBef>
            </a:pPr>
            <a:r>
              <a:rPr sz="1250">
                <a:solidFill>
                  <a:srgbClr val="0F172A"/>
                </a:solidFill>
              </a:rPr>
              <a:t>• Quản lý danh sách và hồ sơ nhân viên trong công ty.
• Theo dõi bảng chấm công tổng hợp của toàn bộ nhân sự.
• Kiểm tra các trường hợp đi muộn, về sớm và xuất báo cáo.</a:t>
            </a:r>
          </a:p>
          <a:p>
            <a:pPr>
              <a:spcBef>
                <a:spcPts val="800"/>
              </a:spcBef>
            </a:pPr>
            <a:r>
              <a:rPr b="1" sz="1400">
                <a:solidFill>
                  <a:srgbClr val="10B981"/>
                </a:solidFill>
              </a:rPr>
              <a:t>3. NHÂN VIÊN (EMPLOYEE)</a:t>
            </a:r>
          </a:p>
          <a:p>
            <a:pPr>
              <a:spcBef>
                <a:spcPts val="200"/>
              </a:spcBef>
            </a:pPr>
            <a:r>
              <a:rPr sz="1250">
                <a:solidFill>
                  <a:srgbClr val="0F172A"/>
                </a:solidFill>
              </a:rPr>
              <a:t>• Thực hiện thao tác Check-in / Check-out hàng ngày.
• Tra cứu lịch sử chấm công cá nhân theo từng tháng.
• Kiểm tra tình trạng ngày công của chính mình.</a:t>
            </a:r>
          </a:p>
        </p:txBody>
      </p:sp>
    </p:spTree>
  </p:cSld>
  <p:clrMapOvr>
    <a:masterClrMapping/>
  </p:clrMapOvr>
  <p:transition spd="med" advClick="1">
    <p:comb orient="horz"/>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20624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50" b="1">
                <a:solidFill>
                  <a:srgbClr val="1E3A8A"/>
                </a:solidFill>
                <a:latin typeface="Segoe UI"/>
              </a:rPr>
              <a:t>CÔNG NGHỆ SỬ DỤNG</a:t>
            </a:r>
          </a:p>
        </p:txBody>
      </p:sp>
      <p:sp>
        <p:nvSpPr>
          <p:cNvPr id="5" name="TextBox 4"/>
          <p:cNvSpPr txBox="1"/>
          <p:nvPr/>
        </p:nvSpPr>
        <p:spPr>
          <a:xfrm>
            <a:off x="731520" y="658368"/>
            <a:ext cx="10728655" cy="777240"/>
          </a:xfrm>
          <a:prstGeom prst="rect">
            <a:avLst/>
          </a:prstGeom>
          <a:noFill/>
        </p:spPr>
        <p:txBody>
          <a:bodyPr wrap="square" lIns="0" tIns="0" rIns="0" bIns="0">
            <a:spAutoFit/>
          </a:bodyPr>
          <a:lstStyle/>
          <a:p>
            <a:pPr>
              <a:spcAft>
                <a:spcPts val="200"/>
              </a:spcAft>
            </a:pPr>
            <a:r>
              <a:rPr sz="2800" b="1">
                <a:solidFill>
                  <a:srgbClr val="0F172A"/>
                </a:solidFill>
                <a:latin typeface="Segoe UI"/>
              </a:rPr>
              <a:t>03. Ngăn xếp công nghệ thực tế của dự án Bảng chấm công</a:t>
            </a:r>
          </a:p>
          <a:p>
            <a:r>
              <a:rPr sz="1500">
                <a:solidFill>
                  <a:srgbClr val="475569"/>
                </a:solidFill>
                <a:latin typeface="Segoe UI"/>
              </a:rPr>
              <a:t>Kiểm tra thực tế mã nguồn: Frontend, Backend, Cơ sở dữ liệu và Công cụ phát triển</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320040"/>
          </a:xfrm>
          <a:prstGeom prst="rect">
            <a:avLst/>
          </a:prstGeom>
          <a:noFill/>
        </p:spPr>
        <p:txBody>
          <a:bodyPr wrap="none" lIns="0" tIns="0" rIns="0" bIns="0">
            <a:spAutoFit/>
          </a:bodyPr>
          <a:lstStyle/>
          <a:p>
            <a:r>
              <a:rPr sz="1250">
                <a:solidFill>
                  <a:srgbClr val="475569"/>
                </a:solidFill>
                <a:latin typeface="Segoe UI"/>
              </a:rPr>
              <a:t>Lập trình ứng dụng Web | Hệ thống Chấm công &amp; Quản lý nhân viên</a:t>
            </a:r>
          </a:p>
        </p:txBody>
      </p:sp>
      <p:sp>
        <p:nvSpPr>
          <p:cNvPr id="8" name="TextBox 7"/>
          <p:cNvSpPr txBox="1"/>
          <p:nvPr/>
        </p:nvSpPr>
        <p:spPr>
          <a:xfrm>
            <a:off x="5029200" y="6446520"/>
            <a:ext cx="4572000" cy="320040"/>
          </a:xfrm>
          <a:prstGeom prst="rect">
            <a:avLst/>
          </a:prstGeom>
          <a:noFill/>
        </p:spPr>
        <p:txBody>
          <a:bodyPr wrap="none" lIns="0" tIns="0" rIns="0" bIns="0">
            <a:spAutoFit/>
          </a:bodyPr>
          <a:lstStyle/>
          <a:p>
            <a:r>
              <a:rPr sz="1250">
                <a:solidFill>
                  <a:srgbClr val="475569"/>
                </a:solidFill>
                <a:latin typeface="Segoe UI"/>
              </a:rPr>
              <a:t>Trần Viết Mạnh Cường (23K4080003) | ĐH Kinh tế Huế</a:t>
            </a:r>
          </a:p>
        </p:txBody>
      </p:sp>
      <p:sp>
        <p:nvSpPr>
          <p:cNvPr id="9" name="Rounded Rectangle 8"/>
          <p:cNvSpPr/>
          <p:nvPr/>
        </p:nvSpPr>
        <p:spPr>
          <a:xfrm>
            <a:off x="10728655" y="6446520"/>
            <a:ext cx="731520" cy="25603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250" b="1">
                <a:solidFill>
                  <a:srgbClr val="FFFFFF"/>
                </a:solidFill>
                <a:latin typeface="Segoe UI"/>
              </a:rPr>
              <a:t>04 / 12</a:t>
            </a:r>
          </a:p>
        </p:txBody>
      </p:sp>
      <p:sp>
        <p:nvSpPr>
          <p:cNvPr id="10" name="Rounded Rectangle 9"/>
          <p:cNvSpPr/>
          <p:nvPr/>
        </p:nvSpPr>
        <p:spPr>
          <a:xfrm>
            <a:off x="731520" y="1645920"/>
            <a:ext cx="2542032"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645920"/>
            <a:ext cx="2542032" cy="7315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828800"/>
            <a:ext cx="2176272" cy="3474720"/>
          </a:xfrm>
          <a:prstGeom prst="rect">
            <a:avLst/>
          </a:prstGeom>
          <a:noFill/>
        </p:spPr>
        <p:txBody>
          <a:bodyPr wrap="square" lIns="0" tIns="0" rIns="0" bIns="0">
            <a:spAutoFit/>
          </a:bodyPr>
          <a:lstStyle/>
          <a:p>
            <a:r>
              <a:rPr sz="1500" b="1">
                <a:solidFill>
                  <a:srgbClr val="1E3A8A"/>
                </a:solidFill>
                <a:latin typeface="Segoe UI"/>
              </a:rPr>
              <a:t>FRONTEND</a:t>
            </a:r>
          </a:p>
          <a:p>
            <a:pPr>
              <a:spcBef>
                <a:spcPts val="700"/>
              </a:spcBef>
            </a:pPr>
            <a:r>
              <a:rPr b="1" sz="1350">
                <a:solidFill>
                  <a:srgbClr val="0F172A"/>
                </a:solidFill>
              </a:rPr>
              <a:t>Công nghệ:</a:t>
            </a:r>
            <a:r>
              <a:rPr sz="1250">
                <a:solidFill>
                  <a:srgbClr val="475569"/>
                </a:solidFill>
              </a:rPr>
              <a:t> .NET Blazor Web</a:t>
            </a:r>
          </a:p>
          <a:p>
            <a:pPr>
              <a:spcBef>
                <a:spcPts val="700"/>
              </a:spcBef>
            </a:pPr>
            <a:r>
              <a:rPr b="1" sz="1350">
                <a:solidFill>
                  <a:srgbClr val="0F172A"/>
                </a:solidFill>
              </a:rPr>
              <a:t>Thành phần:</a:t>
            </a:r>
            <a:r>
              <a:rPr sz="1250">
                <a:solidFill>
                  <a:srgbClr val="475569"/>
                </a:solidFill>
              </a:rPr>
              <a:t> Razor Components tương tác mượt mà</a:t>
            </a:r>
          </a:p>
          <a:p>
            <a:pPr>
              <a:spcBef>
                <a:spcPts val="700"/>
              </a:spcBef>
            </a:pPr>
            <a:r>
              <a:rPr b="1" sz="1350">
                <a:solidFill>
                  <a:srgbClr val="0F172A"/>
                </a:solidFill>
              </a:rPr>
              <a:t>Giao diện:</a:t>
            </a:r>
            <a:r>
              <a:rPr sz="1250">
                <a:solidFill>
                  <a:srgbClr val="475569"/>
                </a:solidFill>
              </a:rPr>
              <a:t> HTML5, CSS3, Bootstrap 5.3</a:t>
            </a:r>
          </a:p>
          <a:p>
            <a:pPr>
              <a:spcBef>
                <a:spcPts val="700"/>
              </a:spcBef>
            </a:pPr>
            <a:r>
              <a:rPr b="1" sz="1350">
                <a:solidFill>
                  <a:srgbClr val="0F172A"/>
                </a:solidFill>
              </a:rPr>
              <a:t>Trải nghiệm:</a:t>
            </a:r>
            <a:r>
              <a:rPr sz="1250">
                <a:solidFill>
                  <a:srgbClr val="475569"/>
                </a:solidFill>
              </a:rPr>
              <a:t> Responsive Design tương thích đa thiết bị (Desktop &amp; Mobile 390px)</a:t>
            </a:r>
          </a:p>
          <a:p>
            <a:pPr>
              <a:spcBef>
                <a:spcPts val="700"/>
              </a:spcBef>
            </a:pPr>
            <a:r>
              <a:rPr b="1" sz="1350">
                <a:solidFill>
                  <a:srgbClr val="0F172A"/>
                </a:solidFill>
              </a:rPr>
              <a:t>Biểu tượng:</a:t>
            </a:r>
            <a:r>
              <a:rPr sz="1250">
                <a:solidFill>
                  <a:srgbClr val="475569"/>
                </a:solidFill>
              </a:rPr>
              <a:t> FontAwesome Icons trực quan</a:t>
            </a:r>
          </a:p>
        </p:txBody>
      </p:sp>
      <p:sp>
        <p:nvSpPr>
          <p:cNvPr id="13" name="Rounded Rectangle 12"/>
          <p:cNvSpPr/>
          <p:nvPr/>
        </p:nvSpPr>
        <p:spPr>
          <a:xfrm>
            <a:off x="3456432" y="1645920"/>
            <a:ext cx="2542032"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56432" y="1645920"/>
            <a:ext cx="2542032"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9312" y="1828800"/>
            <a:ext cx="2176272" cy="3474720"/>
          </a:xfrm>
          <a:prstGeom prst="rect">
            <a:avLst/>
          </a:prstGeom>
          <a:noFill/>
        </p:spPr>
        <p:txBody>
          <a:bodyPr wrap="square" lIns="0" tIns="0" rIns="0" bIns="0">
            <a:spAutoFit/>
          </a:bodyPr>
          <a:lstStyle/>
          <a:p>
            <a:r>
              <a:rPr sz="1500" b="1">
                <a:solidFill>
                  <a:srgbClr val="2563EB"/>
                </a:solidFill>
                <a:latin typeface="Segoe UI"/>
              </a:rPr>
              <a:t>BACKEND</a:t>
            </a:r>
          </a:p>
          <a:p>
            <a:pPr>
              <a:spcBef>
                <a:spcPts val="700"/>
              </a:spcBef>
            </a:pPr>
            <a:r>
              <a:rPr b="1" sz="1350">
                <a:solidFill>
                  <a:srgbClr val="0F172A"/>
                </a:solidFill>
              </a:rPr>
              <a:t>Ngôn ngữ:</a:t>
            </a:r>
            <a:r>
              <a:rPr sz="1250">
                <a:solidFill>
                  <a:srgbClr val="475569"/>
                </a:solidFill>
              </a:rPr>
              <a:t> C# (.NET Core) hiện đại</a:t>
            </a:r>
          </a:p>
          <a:p>
            <a:pPr>
              <a:spcBef>
                <a:spcPts val="700"/>
              </a:spcBef>
            </a:pPr>
            <a:r>
              <a:rPr b="1" sz="1350">
                <a:solidFill>
                  <a:srgbClr val="0F172A"/>
                </a:solidFill>
              </a:rPr>
              <a:t>Kiến trúc:</a:t>
            </a:r>
            <a:r>
              <a:rPr sz="1250">
                <a:solidFill>
                  <a:srgbClr val="475569"/>
                </a:solidFill>
              </a:rPr>
              <a:t> Clean Architecture phân tầng rành mạch</a:t>
            </a:r>
          </a:p>
          <a:p>
            <a:pPr>
              <a:spcBef>
                <a:spcPts val="700"/>
              </a:spcBef>
            </a:pPr>
            <a:r>
              <a:rPr b="1" sz="1350">
                <a:solidFill>
                  <a:srgbClr val="0F172A"/>
                </a:solidFill>
              </a:rPr>
              <a:t>Dịch vụ:</a:t>
            </a:r>
            <a:r>
              <a:rPr sz="1250">
                <a:solidFill>
                  <a:srgbClr val="475569"/>
                </a:solidFill>
              </a:rPr>
              <a:t> Dependency Injection tích hợp sẵn</a:t>
            </a:r>
          </a:p>
          <a:p>
            <a:pPr>
              <a:spcBef>
                <a:spcPts val="700"/>
              </a:spcBef>
            </a:pPr>
            <a:r>
              <a:rPr b="1" sz="1350">
                <a:solidFill>
                  <a:srgbClr val="0F172A"/>
                </a:solidFill>
              </a:rPr>
              <a:t>Xử lý nghiệp vụ:</a:t>
            </a:r>
            <a:r>
              <a:rPr sz="1250">
                <a:solidFill>
                  <a:srgbClr val="475569"/>
                </a:solidFill>
              </a:rPr>
              <a:t> Đóng gói logic chấm công độc lập</a:t>
            </a:r>
          </a:p>
          <a:p>
            <a:pPr>
              <a:spcBef>
                <a:spcPts val="700"/>
              </a:spcBef>
            </a:pPr>
            <a:r>
              <a:rPr b="1" sz="1350">
                <a:solidFill>
                  <a:srgbClr val="0F172A"/>
                </a:solidFill>
              </a:rPr>
              <a:t>Bảo mật:</a:t>
            </a:r>
            <a:r>
              <a:rPr sz="1250">
                <a:solidFill>
                  <a:srgbClr val="475569"/>
                </a:solidFill>
              </a:rPr>
              <a:t> Băm mật khẩu BCrypt an toàn cao</a:t>
            </a:r>
          </a:p>
        </p:txBody>
      </p:sp>
      <p:sp>
        <p:nvSpPr>
          <p:cNvPr id="16" name="Rounded Rectangle 15"/>
          <p:cNvSpPr/>
          <p:nvPr/>
        </p:nvSpPr>
        <p:spPr>
          <a:xfrm>
            <a:off x="6181344" y="1645920"/>
            <a:ext cx="2542032"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81344" y="1645920"/>
            <a:ext cx="2542032"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1828800"/>
            <a:ext cx="2176272" cy="3474720"/>
          </a:xfrm>
          <a:prstGeom prst="rect">
            <a:avLst/>
          </a:prstGeom>
          <a:noFill/>
        </p:spPr>
        <p:txBody>
          <a:bodyPr wrap="square" lIns="0" tIns="0" rIns="0" bIns="0">
            <a:spAutoFit/>
          </a:bodyPr>
          <a:lstStyle/>
          <a:p>
            <a:r>
              <a:rPr sz="1500" b="1">
                <a:solidFill>
                  <a:srgbClr val="0D9488"/>
                </a:solidFill>
                <a:latin typeface="Segoe UI"/>
              </a:rPr>
              <a:t>CƠ SỞ DỮ LIỆU</a:t>
            </a:r>
          </a:p>
          <a:p>
            <a:pPr>
              <a:spcBef>
                <a:spcPts val="700"/>
              </a:spcBef>
            </a:pPr>
            <a:r>
              <a:rPr b="1" sz="1350">
                <a:solidFill>
                  <a:srgbClr val="0F172A"/>
                </a:solidFill>
              </a:rPr>
              <a:t>Hệ quản trị CSDL:</a:t>
            </a:r>
            <a:r>
              <a:rPr sz="1250">
                <a:solidFill>
                  <a:srgbClr val="475569"/>
                </a:solidFill>
              </a:rPr>
              <a:t> Microsoft SQL Server</a:t>
            </a:r>
          </a:p>
          <a:p>
            <a:pPr>
              <a:spcBef>
                <a:spcPts val="700"/>
              </a:spcBef>
            </a:pPr>
            <a:r>
              <a:rPr b="1" sz="1350">
                <a:solidFill>
                  <a:srgbClr val="0F172A"/>
                </a:solidFill>
              </a:rPr>
              <a:t>Tên CSDL dự án:</a:t>
            </a:r>
            <a:r>
              <a:rPr sz="1250">
                <a:solidFill>
                  <a:srgbClr val="475569"/>
                </a:solidFill>
              </a:rPr>
              <a:t> BangChamCongDB</a:t>
            </a:r>
          </a:p>
          <a:p>
            <a:pPr>
              <a:spcBef>
                <a:spcPts val="700"/>
              </a:spcBef>
            </a:pPr>
            <a:r>
              <a:rPr b="1" sz="1350">
                <a:solidFill>
                  <a:srgbClr val="0F172A"/>
                </a:solidFill>
              </a:rPr>
              <a:t>Công nghệ ORM:</a:t>
            </a:r>
            <a:r>
              <a:rPr sz="1250">
                <a:solidFill>
                  <a:srgbClr val="475569"/>
                </a:solidFill>
              </a:rPr>
              <a:t> Dapper Micro-ORM siêu tốc</a:t>
            </a:r>
          </a:p>
          <a:p>
            <a:pPr>
              <a:spcBef>
                <a:spcPts val="700"/>
              </a:spcBef>
            </a:pPr>
            <a:r>
              <a:rPr b="1" sz="1350">
                <a:solidFill>
                  <a:srgbClr val="0F172A"/>
                </a:solidFill>
              </a:rPr>
              <a:t>An toàn truy vấn:</a:t>
            </a:r>
            <a:r>
              <a:rPr sz="1250">
                <a:solidFill>
                  <a:srgbClr val="475569"/>
                </a:solidFill>
              </a:rPr>
              <a:t> 100% Parameterized Query, triệt tiêu lỗi SQL Injection</a:t>
            </a:r>
          </a:p>
          <a:p>
            <a:pPr>
              <a:spcBef>
                <a:spcPts val="700"/>
              </a:spcBef>
            </a:pPr>
            <a:r>
              <a:rPr b="1" sz="1350">
                <a:solidFill>
                  <a:srgbClr val="0F172A"/>
                </a:solidFill>
              </a:rPr>
              <a:t>Toàn vẹn:</a:t>
            </a:r>
            <a:r>
              <a:rPr sz="1250">
                <a:solidFill>
                  <a:srgbClr val="475569"/>
                </a:solidFill>
              </a:rPr>
              <a:t> Khóa ngoại FK và ràng buộc CHECK</a:t>
            </a:r>
          </a:p>
        </p:txBody>
      </p:sp>
      <p:sp>
        <p:nvSpPr>
          <p:cNvPr id="19" name="Rounded Rectangle 18"/>
          <p:cNvSpPr/>
          <p:nvPr/>
        </p:nvSpPr>
        <p:spPr>
          <a:xfrm>
            <a:off x="8906256" y="1645920"/>
            <a:ext cx="2542032"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906256" y="1645920"/>
            <a:ext cx="2542032" cy="73152"/>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89136" y="1828800"/>
            <a:ext cx="2176272" cy="3474720"/>
          </a:xfrm>
          <a:prstGeom prst="rect">
            <a:avLst/>
          </a:prstGeom>
          <a:noFill/>
        </p:spPr>
        <p:txBody>
          <a:bodyPr wrap="square" lIns="0" tIns="0" rIns="0" bIns="0">
            <a:spAutoFit/>
          </a:bodyPr>
          <a:lstStyle/>
          <a:p>
            <a:r>
              <a:rPr sz="1500" b="1">
                <a:solidFill>
                  <a:srgbClr val="F59E0B"/>
                </a:solidFill>
                <a:latin typeface="Segoe UI"/>
              </a:rPr>
              <a:t>CÔNG CỤ PHÁT TRIỂN</a:t>
            </a:r>
          </a:p>
          <a:p>
            <a:pPr>
              <a:spcBef>
                <a:spcPts val="700"/>
              </a:spcBef>
            </a:pPr>
            <a:r>
              <a:rPr b="1" sz="1350">
                <a:solidFill>
                  <a:srgbClr val="0F172A"/>
                </a:solidFill>
              </a:rPr>
              <a:t>Môi trường IDE:</a:t>
            </a:r>
            <a:r>
              <a:rPr sz="1250">
                <a:solidFill>
                  <a:srgbClr val="475569"/>
                </a:solidFill>
              </a:rPr>
              <a:t> Microsoft Visual Studio 2022</a:t>
            </a:r>
          </a:p>
          <a:p>
            <a:pPr>
              <a:spcBef>
                <a:spcPts val="700"/>
              </a:spcBef>
            </a:pPr>
            <a:r>
              <a:rPr b="1" sz="1350">
                <a:solidFill>
                  <a:srgbClr val="0F172A"/>
                </a:solidFill>
              </a:rPr>
              <a:t>Quản trị CSDL:</a:t>
            </a:r>
            <a:r>
              <a:rPr sz="1250">
                <a:solidFill>
                  <a:srgbClr val="475569"/>
                </a:solidFill>
              </a:rPr>
              <a:t> SQL Server Management Studio (SSMS)</a:t>
            </a:r>
          </a:p>
          <a:p>
            <a:pPr>
              <a:spcBef>
                <a:spcPts val="700"/>
              </a:spcBef>
            </a:pPr>
            <a:r>
              <a:rPr b="1" sz="1350">
                <a:solidFill>
                  <a:srgbClr val="0F172A"/>
                </a:solidFill>
              </a:rPr>
              <a:t>Quản lý mã nguồn:</a:t>
            </a:r>
            <a:r>
              <a:rPr sz="1250">
                <a:solidFill>
                  <a:srgbClr val="475569"/>
                </a:solidFill>
              </a:rPr>
              <a:t> Git &amp; GitHub Repository</a:t>
            </a:r>
          </a:p>
          <a:p>
            <a:pPr>
              <a:spcBef>
                <a:spcPts val="700"/>
              </a:spcBef>
            </a:pPr>
            <a:r>
              <a:rPr b="1" sz="1350">
                <a:solidFill>
                  <a:srgbClr val="0F172A"/>
                </a:solidFill>
              </a:rPr>
              <a:t>Mô hình hóa:</a:t>
            </a:r>
            <a:r>
              <a:rPr sz="1250">
                <a:solidFill>
                  <a:srgbClr val="475569"/>
                </a:solidFill>
              </a:rPr>
              <a:t> PlantUML thiết kế sơ đồ Use Case</a:t>
            </a:r>
          </a:p>
          <a:p>
            <a:pPr>
              <a:spcBef>
                <a:spcPts val="700"/>
              </a:spcBef>
            </a:pPr>
            <a:r>
              <a:rPr b="1" sz="1350">
                <a:solidFill>
                  <a:srgbClr val="0F172A"/>
                </a:solidFill>
              </a:rPr>
              <a:t>Kiểm thử:</a:t>
            </a:r>
            <a:r>
              <a:rPr sz="1250">
                <a:solidFill>
                  <a:srgbClr val="475569"/>
                </a:solidFill>
              </a:rPr>
              <a:t> Trình duyệt Edge &amp; Chrome DevTools</a:t>
            </a:r>
          </a:p>
        </p:txBody>
      </p:sp>
      <p:sp>
        <p:nvSpPr>
          <p:cNvPr id="22" name="Rounded Rectangle 21"/>
          <p:cNvSpPr/>
          <p:nvPr/>
        </p:nvSpPr>
        <p:spPr>
          <a:xfrm>
            <a:off x="731520" y="5623560"/>
            <a:ext cx="10728655" cy="64008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5687568"/>
            <a:ext cx="10241280" cy="502920"/>
          </a:xfrm>
          <a:prstGeom prst="rect">
            <a:avLst/>
          </a:prstGeom>
          <a:noFill/>
        </p:spPr>
        <p:txBody>
          <a:bodyPr wrap="square" lIns="0" tIns="0" rIns="0" bIns="0">
            <a:spAutoFit/>
          </a:bodyPr>
          <a:lstStyle/>
          <a:p>
            <a:r>
              <a:rPr sz="1400" b="1">
                <a:solidFill>
                  <a:srgbClr val="1E3A8A"/>
                </a:solidFill>
                <a:latin typeface="Segoe UI"/>
              </a:rPr>
              <a:t>★ XÁC THỰC MÃ NGUỒN DỰ ÁN THỰC TẾ: </a:t>
            </a:r>
            <a:r>
              <a:rPr sz="1350">
                <a:solidFill>
                  <a:srgbClr val="0F172A"/>
                </a:solidFill>
                <a:latin typeface="Segoe UI"/>
              </a:rPr>
              <a:t>Toàn bộ công nghệ trên đều được đối chiếu trực tiếp từ thư mục mã nguồn `TimesheetPayroll` và file cơ sở dữ liệu `database_schema.sql` (CSDL BangChamCongDB trên SQL Server), hoàn toàn không giả định hay bịa đặt công nghệ.</a:t>
            </a:r>
          </a:p>
        </p:txBody>
      </p:sp>
    </p:spTree>
  </p:cSld>
  <p:clrMapOvr>
    <a:masterClrMapping/>
  </p:clrMapOvr>
  <p:transition spd="med" advClick="1">
    <p:split orient="horz" dir="out"/>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20624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50" b="1">
                <a:solidFill>
                  <a:srgbClr val="1E3A8A"/>
                </a:solidFill>
                <a:latin typeface="Segoe UI"/>
              </a:rPr>
              <a:t>PHÂN TÍCH CHỨC NĂNG</a:t>
            </a:r>
          </a:p>
        </p:txBody>
      </p:sp>
      <p:sp>
        <p:nvSpPr>
          <p:cNvPr id="5" name="TextBox 4"/>
          <p:cNvSpPr txBox="1"/>
          <p:nvPr/>
        </p:nvSpPr>
        <p:spPr>
          <a:xfrm>
            <a:off x="731520" y="658368"/>
            <a:ext cx="10728655" cy="777240"/>
          </a:xfrm>
          <a:prstGeom prst="rect">
            <a:avLst/>
          </a:prstGeom>
          <a:noFill/>
        </p:spPr>
        <p:txBody>
          <a:bodyPr wrap="square" lIns="0" tIns="0" rIns="0" bIns="0">
            <a:spAutoFit/>
          </a:bodyPr>
          <a:lstStyle/>
          <a:p>
            <a:pPr>
              <a:spcAft>
                <a:spcPts val="200"/>
              </a:spcAft>
            </a:pPr>
            <a:r>
              <a:rPr sz="2800" b="1">
                <a:solidFill>
                  <a:srgbClr val="0F172A"/>
                </a:solidFill>
                <a:latin typeface="Segoe UI"/>
              </a:rPr>
              <a:t>04. Sơ đồ phân tích các chức năng chính của hệ thống</a:t>
            </a:r>
          </a:p>
          <a:p>
            <a:r>
              <a:rPr sz="1500">
                <a:solidFill>
                  <a:srgbClr val="475569"/>
                </a:solidFill>
                <a:latin typeface="Segoe UI"/>
              </a:rPr>
              <a:t>Dùng sơ đồ khối chức năng thay cho đoạn văn dài, bao quát toàn bộ nghiệp vụ thực tế</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320040"/>
          </a:xfrm>
          <a:prstGeom prst="rect">
            <a:avLst/>
          </a:prstGeom>
          <a:noFill/>
        </p:spPr>
        <p:txBody>
          <a:bodyPr wrap="none" lIns="0" tIns="0" rIns="0" bIns="0">
            <a:spAutoFit/>
          </a:bodyPr>
          <a:lstStyle/>
          <a:p>
            <a:r>
              <a:rPr sz="1250">
                <a:solidFill>
                  <a:srgbClr val="475569"/>
                </a:solidFill>
                <a:latin typeface="Segoe UI"/>
              </a:rPr>
              <a:t>Lập trình ứng dụng Web | Hệ thống Chấm công &amp; Quản lý nhân viên</a:t>
            </a:r>
          </a:p>
        </p:txBody>
      </p:sp>
      <p:sp>
        <p:nvSpPr>
          <p:cNvPr id="8" name="TextBox 7"/>
          <p:cNvSpPr txBox="1"/>
          <p:nvPr/>
        </p:nvSpPr>
        <p:spPr>
          <a:xfrm>
            <a:off x="5029200" y="6446520"/>
            <a:ext cx="4572000" cy="320040"/>
          </a:xfrm>
          <a:prstGeom prst="rect">
            <a:avLst/>
          </a:prstGeom>
          <a:noFill/>
        </p:spPr>
        <p:txBody>
          <a:bodyPr wrap="none" lIns="0" tIns="0" rIns="0" bIns="0">
            <a:spAutoFit/>
          </a:bodyPr>
          <a:lstStyle/>
          <a:p>
            <a:r>
              <a:rPr sz="1250">
                <a:solidFill>
                  <a:srgbClr val="475569"/>
                </a:solidFill>
                <a:latin typeface="Segoe UI"/>
              </a:rPr>
              <a:t>Trần Viết Mạnh Cường (23K4080003) | ĐH Kinh tế Huế</a:t>
            </a:r>
          </a:p>
        </p:txBody>
      </p:sp>
      <p:sp>
        <p:nvSpPr>
          <p:cNvPr id="9" name="Rounded Rectangle 8"/>
          <p:cNvSpPr/>
          <p:nvPr/>
        </p:nvSpPr>
        <p:spPr>
          <a:xfrm>
            <a:off x="10728655" y="6446520"/>
            <a:ext cx="731520" cy="25603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250" b="1">
                <a:solidFill>
                  <a:srgbClr val="FFFFFF"/>
                </a:solidFill>
                <a:latin typeface="Segoe UI"/>
              </a:rPr>
              <a:t>05 / 12</a:t>
            </a:r>
          </a:p>
        </p:txBody>
      </p:sp>
      <p:sp>
        <p:nvSpPr>
          <p:cNvPr id="10" name="Rounded Rectangle 9"/>
          <p:cNvSpPr/>
          <p:nvPr/>
        </p:nvSpPr>
        <p:spPr>
          <a:xfrm>
            <a:off x="731520" y="1645920"/>
            <a:ext cx="2029968"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645920"/>
            <a:ext cx="2029968" cy="7315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828800"/>
            <a:ext cx="1755648" cy="4114800"/>
          </a:xfrm>
          <a:prstGeom prst="rect">
            <a:avLst/>
          </a:prstGeom>
          <a:noFill/>
        </p:spPr>
        <p:txBody>
          <a:bodyPr wrap="square" lIns="0" tIns="0" rIns="0" bIns="0">
            <a:spAutoFit/>
          </a:bodyPr>
          <a:lstStyle/>
          <a:p>
            <a:r>
              <a:rPr sz="1400" b="1">
                <a:solidFill>
                  <a:srgbClr val="1E3A8A"/>
                </a:solidFill>
                <a:latin typeface="Segoe UI"/>
              </a:rPr>
              <a:t>1. ĐĂNG NHẬP &amp; PHÂN QUYỀN</a:t>
            </a:r>
          </a:p>
          <a:p>
            <a:pPr>
              <a:spcBef>
                <a:spcPts val="1000"/>
              </a:spcBef>
            </a:pPr>
            <a:r>
              <a:rPr sz="1250">
                <a:solidFill>
                  <a:srgbClr val="0F172A"/>
                </a:solidFill>
              </a:rPr>
              <a:t>• Xác thực mật khẩu băm an toàn.</a:t>
            </a:r>
          </a:p>
          <a:p>
            <a:pPr>
              <a:spcBef>
                <a:spcPts val="1000"/>
              </a:spcBef>
            </a:pPr>
            <a:r>
              <a:rPr sz="1250">
                <a:solidFill>
                  <a:srgbClr val="0F172A"/>
                </a:solidFill>
              </a:rPr>
              <a:t>• Phân quyền theo vai trò (RBAC): Admin, HR, Nhân viên.</a:t>
            </a:r>
          </a:p>
          <a:p>
            <a:pPr>
              <a:spcBef>
                <a:spcPts val="1000"/>
              </a:spcBef>
            </a:pPr>
            <a:r>
              <a:rPr sz="1250">
                <a:solidFill>
                  <a:srgbClr val="0F172A"/>
                </a:solidFill>
              </a:rPr>
              <a:t>• Điều hướng đúng phân hệ sau đăng nhập.</a:t>
            </a:r>
          </a:p>
        </p:txBody>
      </p:sp>
      <p:sp>
        <p:nvSpPr>
          <p:cNvPr id="13" name="Rounded Rectangle 12"/>
          <p:cNvSpPr/>
          <p:nvPr/>
        </p:nvSpPr>
        <p:spPr>
          <a:xfrm>
            <a:off x="2907791" y="1645920"/>
            <a:ext cx="2029968"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907791" y="1645920"/>
            <a:ext cx="2029968"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44951" y="1828800"/>
            <a:ext cx="1755648" cy="4114800"/>
          </a:xfrm>
          <a:prstGeom prst="rect">
            <a:avLst/>
          </a:prstGeom>
          <a:noFill/>
        </p:spPr>
        <p:txBody>
          <a:bodyPr wrap="square" lIns="0" tIns="0" rIns="0" bIns="0">
            <a:spAutoFit/>
          </a:bodyPr>
          <a:lstStyle/>
          <a:p>
            <a:r>
              <a:rPr sz="1400" b="1">
                <a:solidFill>
                  <a:srgbClr val="2563EB"/>
                </a:solidFill>
                <a:latin typeface="Segoe UI"/>
              </a:rPr>
              <a:t>2. QUẢN LÝ NHÂN VIÊN</a:t>
            </a:r>
          </a:p>
          <a:p>
            <a:pPr>
              <a:spcBef>
                <a:spcPts val="1000"/>
              </a:spcBef>
            </a:pPr>
            <a:r>
              <a:rPr sz="1250">
                <a:solidFill>
                  <a:srgbClr val="0F172A"/>
                </a:solidFill>
              </a:rPr>
              <a:t>• Thêm mới, sửa đổi hồ sơ nhân viên.</a:t>
            </a:r>
          </a:p>
          <a:p>
            <a:pPr>
              <a:spcBef>
                <a:spcPts val="1000"/>
              </a:spcBef>
            </a:pPr>
            <a:r>
              <a:rPr sz="1250">
                <a:solidFill>
                  <a:srgbClr val="0F172A"/>
                </a:solidFill>
              </a:rPr>
              <a:t>• Quản lý mã nhân viên, CCCD, chức vụ.</a:t>
            </a:r>
          </a:p>
          <a:p>
            <a:pPr>
              <a:spcBef>
                <a:spcPts val="1000"/>
              </a:spcBef>
            </a:pPr>
            <a:r>
              <a:rPr sz="1250">
                <a:solidFill>
                  <a:srgbClr val="0F172A"/>
                </a:solidFill>
              </a:rPr>
              <a:t>• Phân bổ nhân viên theo phòng ban.</a:t>
            </a:r>
          </a:p>
        </p:txBody>
      </p:sp>
      <p:sp>
        <p:nvSpPr>
          <p:cNvPr id="16" name="Rounded Rectangle 15"/>
          <p:cNvSpPr/>
          <p:nvPr/>
        </p:nvSpPr>
        <p:spPr>
          <a:xfrm>
            <a:off x="5084064" y="1645920"/>
            <a:ext cx="2029968"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84064" y="1645920"/>
            <a:ext cx="2029968" cy="7315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21224" y="1828800"/>
            <a:ext cx="1755648" cy="4114800"/>
          </a:xfrm>
          <a:prstGeom prst="rect">
            <a:avLst/>
          </a:prstGeom>
          <a:noFill/>
        </p:spPr>
        <p:txBody>
          <a:bodyPr wrap="square" lIns="0" tIns="0" rIns="0" bIns="0">
            <a:spAutoFit/>
          </a:bodyPr>
          <a:lstStyle/>
          <a:p>
            <a:r>
              <a:rPr sz="1400" b="1">
                <a:solidFill>
                  <a:srgbClr val="10B981"/>
                </a:solidFill>
                <a:latin typeface="Segoe UI"/>
              </a:rPr>
              <a:t>3. CHẤM CÔNG HÀNG NGÀY</a:t>
            </a:r>
          </a:p>
          <a:p>
            <a:pPr>
              <a:spcBef>
                <a:spcPts val="1000"/>
              </a:spcBef>
            </a:pPr>
            <a:r>
              <a:rPr sz="1250">
                <a:solidFill>
                  <a:srgbClr val="0F172A"/>
                </a:solidFill>
              </a:rPr>
              <a:t>• Điểm danh Check-in khi bắt đầu ca.</a:t>
            </a:r>
          </a:p>
          <a:p>
            <a:pPr>
              <a:spcBef>
                <a:spcPts val="1000"/>
              </a:spcBef>
            </a:pPr>
            <a:r>
              <a:rPr sz="1250">
                <a:solidFill>
                  <a:srgbClr val="0F172A"/>
                </a:solidFill>
              </a:rPr>
              <a:t>• Điểm danh Check-out khi kết thúc ca.</a:t>
            </a:r>
          </a:p>
          <a:p>
            <a:pPr>
              <a:spcBef>
                <a:spcPts val="1000"/>
              </a:spcBef>
            </a:pPr>
            <a:r>
              <a:rPr sz="1250">
                <a:solidFill>
                  <a:srgbClr val="0F172A"/>
                </a:solidFill>
              </a:rPr>
              <a:t>• Ghi nhận chính xác mốc giờ hệ thống.</a:t>
            </a:r>
          </a:p>
        </p:txBody>
      </p:sp>
      <p:sp>
        <p:nvSpPr>
          <p:cNvPr id="19" name="Rounded Rectangle 18"/>
          <p:cNvSpPr/>
          <p:nvPr/>
        </p:nvSpPr>
        <p:spPr>
          <a:xfrm>
            <a:off x="7260336" y="1645920"/>
            <a:ext cx="2029968"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260336" y="1645920"/>
            <a:ext cx="2029968" cy="73152"/>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97496" y="1828800"/>
            <a:ext cx="1755648" cy="4114800"/>
          </a:xfrm>
          <a:prstGeom prst="rect">
            <a:avLst/>
          </a:prstGeom>
          <a:noFill/>
        </p:spPr>
        <p:txBody>
          <a:bodyPr wrap="square" lIns="0" tIns="0" rIns="0" bIns="0">
            <a:spAutoFit/>
          </a:bodyPr>
          <a:lstStyle/>
          <a:p>
            <a:r>
              <a:rPr sz="1400" b="1">
                <a:solidFill>
                  <a:srgbClr val="0EA5E9"/>
                </a:solidFill>
                <a:latin typeface="Segoe UI"/>
              </a:rPr>
              <a:t>4. THEO DÕI LỊCH SỬ CÔNG</a:t>
            </a:r>
          </a:p>
          <a:p>
            <a:pPr>
              <a:spcBef>
                <a:spcPts val="1000"/>
              </a:spcBef>
            </a:pPr>
            <a:r>
              <a:rPr sz="1250">
                <a:solidFill>
                  <a:srgbClr val="0F172A"/>
                </a:solidFill>
              </a:rPr>
              <a:t>• Tra cứu nhật ký chấm công cá nhân.</a:t>
            </a:r>
          </a:p>
          <a:p>
            <a:pPr>
              <a:spcBef>
                <a:spcPts val="1000"/>
              </a:spcBef>
            </a:pPr>
            <a:r>
              <a:rPr sz="1250">
                <a:solidFill>
                  <a:srgbClr val="0F172A"/>
                </a:solidFill>
              </a:rPr>
              <a:t>• Lọc bảng công theo tháng và năm.</a:t>
            </a:r>
          </a:p>
          <a:p>
            <a:pPr>
              <a:spcBef>
                <a:spcPts val="1000"/>
              </a:spcBef>
            </a:pPr>
            <a:r>
              <a:rPr sz="1250">
                <a:solidFill>
                  <a:srgbClr val="0F172A"/>
                </a:solidFill>
              </a:rPr>
              <a:t>• Xem trạng thái: đúng giờ, đi muộn, về sớm.</a:t>
            </a:r>
          </a:p>
        </p:txBody>
      </p:sp>
      <p:sp>
        <p:nvSpPr>
          <p:cNvPr id="22" name="Rounded Rectangle 21"/>
          <p:cNvSpPr/>
          <p:nvPr/>
        </p:nvSpPr>
        <p:spPr>
          <a:xfrm>
            <a:off x="9436608" y="1645920"/>
            <a:ext cx="2029968"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436608" y="1645920"/>
            <a:ext cx="2029968" cy="73152"/>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73768" y="1828800"/>
            <a:ext cx="1755648" cy="4114800"/>
          </a:xfrm>
          <a:prstGeom prst="rect">
            <a:avLst/>
          </a:prstGeom>
          <a:noFill/>
        </p:spPr>
        <p:txBody>
          <a:bodyPr wrap="square" lIns="0" tIns="0" rIns="0" bIns="0">
            <a:spAutoFit/>
          </a:bodyPr>
          <a:lstStyle/>
          <a:p>
            <a:r>
              <a:rPr sz="1400" b="1">
                <a:solidFill>
                  <a:srgbClr val="F59E0B"/>
                </a:solidFill>
                <a:latin typeface="Segoe UI"/>
              </a:rPr>
              <a:t>5. BÁO CÁO &amp; THỐNG KÊ</a:t>
            </a:r>
          </a:p>
          <a:p>
            <a:pPr>
              <a:spcBef>
                <a:spcPts val="1000"/>
              </a:spcBef>
            </a:pPr>
            <a:r>
              <a:rPr sz="1250">
                <a:solidFill>
                  <a:srgbClr val="0F172A"/>
                </a:solidFill>
              </a:rPr>
              <a:t>• Tổng hợp tổng số công làm việc.</a:t>
            </a:r>
          </a:p>
          <a:p>
            <a:pPr>
              <a:spcBef>
                <a:spcPts val="1000"/>
              </a:spcBef>
            </a:pPr>
            <a:r>
              <a:rPr sz="1250">
                <a:solidFill>
                  <a:srgbClr val="0F172A"/>
                </a:solidFill>
              </a:rPr>
              <a:t>• Thống kê tỷ lệ đi làm theo phòng ban.</a:t>
            </a:r>
          </a:p>
          <a:p>
            <a:pPr>
              <a:spcBef>
                <a:spcPts val="1000"/>
              </a:spcBef>
            </a:pPr>
            <a:r>
              <a:rPr sz="1250">
                <a:solidFill>
                  <a:srgbClr val="0F172A"/>
                </a:solidFill>
              </a:rPr>
              <a:t>• Hỗ trợ xuất dữ liệu báo cáo đối soát.</a:t>
            </a:r>
          </a:p>
        </p:txBody>
      </p:sp>
    </p:spTree>
  </p:cSld>
  <p:clrMapOvr>
    <a:masterClrMapping/>
  </p:clrMapOvr>
  <p:transition spd="med" advClick="1">
    <p:checker dir="horz"/>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20624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50" b="1">
                <a:solidFill>
                  <a:srgbClr val="1E3A8A"/>
                </a:solidFill>
                <a:latin typeface="Segoe UI"/>
              </a:rPr>
              <a:t>THIẾT KẾ HỆ THỐNG</a:t>
            </a:r>
          </a:p>
        </p:txBody>
      </p:sp>
      <p:sp>
        <p:nvSpPr>
          <p:cNvPr id="5" name="TextBox 4"/>
          <p:cNvSpPr txBox="1"/>
          <p:nvPr/>
        </p:nvSpPr>
        <p:spPr>
          <a:xfrm>
            <a:off x="731520" y="658368"/>
            <a:ext cx="10728655" cy="777240"/>
          </a:xfrm>
          <a:prstGeom prst="rect">
            <a:avLst/>
          </a:prstGeom>
          <a:noFill/>
        </p:spPr>
        <p:txBody>
          <a:bodyPr wrap="square" lIns="0" tIns="0" rIns="0" bIns="0">
            <a:spAutoFit/>
          </a:bodyPr>
          <a:lstStyle/>
          <a:p>
            <a:pPr>
              <a:spcAft>
                <a:spcPts val="200"/>
              </a:spcAft>
            </a:pPr>
            <a:r>
              <a:rPr sz="2800" b="1">
                <a:solidFill>
                  <a:srgbClr val="0F172A"/>
                </a:solidFill>
                <a:latin typeface="Segoe UI"/>
              </a:rPr>
              <a:t>05. Kiến trúc tổng thể và luồng truyền nhận dữ liệu</a:t>
            </a:r>
          </a:p>
          <a:p>
            <a:r>
              <a:rPr sz="1500">
                <a:solidFill>
                  <a:srgbClr val="475569"/>
                </a:solidFill>
                <a:latin typeface="Segoe UI"/>
              </a:rPr>
              <a:t>Người dùng → Giao diện Web (Blazor) → Backend / Dịch vụ C# → Cơ sở dữ liệu SQL Server</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320040"/>
          </a:xfrm>
          <a:prstGeom prst="rect">
            <a:avLst/>
          </a:prstGeom>
          <a:noFill/>
        </p:spPr>
        <p:txBody>
          <a:bodyPr wrap="none" lIns="0" tIns="0" rIns="0" bIns="0">
            <a:spAutoFit/>
          </a:bodyPr>
          <a:lstStyle/>
          <a:p>
            <a:r>
              <a:rPr sz="1250">
                <a:solidFill>
                  <a:srgbClr val="475569"/>
                </a:solidFill>
                <a:latin typeface="Segoe UI"/>
              </a:rPr>
              <a:t>Lập trình ứng dụng Web | Hệ thống Chấm công &amp; Quản lý nhân viên</a:t>
            </a:r>
          </a:p>
        </p:txBody>
      </p:sp>
      <p:sp>
        <p:nvSpPr>
          <p:cNvPr id="8" name="TextBox 7"/>
          <p:cNvSpPr txBox="1"/>
          <p:nvPr/>
        </p:nvSpPr>
        <p:spPr>
          <a:xfrm>
            <a:off x="5029200" y="6446520"/>
            <a:ext cx="4572000" cy="320040"/>
          </a:xfrm>
          <a:prstGeom prst="rect">
            <a:avLst/>
          </a:prstGeom>
          <a:noFill/>
        </p:spPr>
        <p:txBody>
          <a:bodyPr wrap="none" lIns="0" tIns="0" rIns="0" bIns="0">
            <a:spAutoFit/>
          </a:bodyPr>
          <a:lstStyle/>
          <a:p>
            <a:r>
              <a:rPr sz="1250">
                <a:solidFill>
                  <a:srgbClr val="475569"/>
                </a:solidFill>
                <a:latin typeface="Segoe UI"/>
              </a:rPr>
              <a:t>Trần Viết Mạnh Cường (23K4080003) | ĐH Kinh tế Huế</a:t>
            </a:r>
          </a:p>
        </p:txBody>
      </p:sp>
      <p:sp>
        <p:nvSpPr>
          <p:cNvPr id="9" name="Rounded Rectangle 8"/>
          <p:cNvSpPr/>
          <p:nvPr/>
        </p:nvSpPr>
        <p:spPr>
          <a:xfrm>
            <a:off x="10728655" y="6446520"/>
            <a:ext cx="731520" cy="25603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250" b="1">
                <a:solidFill>
                  <a:srgbClr val="FFFFFF"/>
                </a:solidFill>
                <a:latin typeface="Segoe UI"/>
              </a:rPr>
              <a:t>06 / 12</a:t>
            </a:r>
          </a:p>
        </p:txBody>
      </p:sp>
      <p:sp>
        <p:nvSpPr>
          <p:cNvPr id="10" name="Rounded Rectangle 9"/>
          <p:cNvSpPr/>
          <p:nvPr/>
        </p:nvSpPr>
        <p:spPr>
          <a:xfrm>
            <a:off x="731520" y="1645920"/>
            <a:ext cx="233172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645920"/>
            <a:ext cx="2331720" cy="7315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828800"/>
            <a:ext cx="2002536" cy="2560320"/>
          </a:xfrm>
          <a:prstGeom prst="rect">
            <a:avLst/>
          </a:prstGeom>
          <a:noFill/>
        </p:spPr>
        <p:txBody>
          <a:bodyPr wrap="square" lIns="0" tIns="0" rIns="0" bIns="0">
            <a:spAutoFit/>
          </a:bodyPr>
          <a:lstStyle/>
          <a:p>
            <a:r>
              <a:rPr sz="1500" b="1">
                <a:solidFill>
                  <a:srgbClr val="1E3A8A"/>
                </a:solidFill>
                <a:latin typeface="Segoe UI"/>
              </a:rPr>
              <a:t>1. NGƯỜI DÙNG
(CLIENT USERS)</a:t>
            </a:r>
          </a:p>
          <a:p>
            <a:pPr>
              <a:spcBef>
                <a:spcPts val="800"/>
              </a:spcBef>
            </a:pPr>
            <a:r>
              <a:rPr sz="1250">
                <a:solidFill>
                  <a:srgbClr val="0F172A"/>
                </a:solidFill>
              </a:rPr>
              <a:t>• Trình duyệt Web máy tính (Desktop)
• Trình duyệt Web điện thoại (Mobile)
• Nhân viên, Nhân sự &amp; Quản trị viên</a:t>
            </a:r>
          </a:p>
        </p:txBody>
      </p:sp>
      <p:sp>
        <p:nvSpPr>
          <p:cNvPr id="13" name="TextBox 12"/>
          <p:cNvSpPr txBox="1"/>
          <p:nvPr/>
        </p:nvSpPr>
        <p:spPr>
          <a:xfrm>
            <a:off x="3136392" y="2834640"/>
            <a:ext cx="365760" cy="457200"/>
          </a:xfrm>
          <a:prstGeom prst="rect">
            <a:avLst/>
          </a:prstGeom>
          <a:noFill/>
        </p:spPr>
        <p:txBody>
          <a:bodyPr wrap="none" lIns="0" tIns="0" rIns="0" bIns="0">
            <a:spAutoFit/>
          </a:bodyPr>
          <a:lstStyle/>
          <a:p>
            <a:pPr algn="ctr"/>
            <a:r>
              <a:rPr sz="2800" b="1">
                <a:solidFill>
                  <a:srgbClr val="1E3A8A"/>
                </a:solidFill>
              </a:rPr>
              <a:t>➔</a:t>
            </a:r>
          </a:p>
        </p:txBody>
      </p:sp>
      <p:sp>
        <p:nvSpPr>
          <p:cNvPr id="14" name="Rounded Rectangle 13"/>
          <p:cNvSpPr/>
          <p:nvPr/>
        </p:nvSpPr>
        <p:spPr>
          <a:xfrm>
            <a:off x="3529584" y="1645920"/>
            <a:ext cx="233172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29584" y="1645920"/>
            <a:ext cx="233172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94176" y="1828800"/>
            <a:ext cx="2002536" cy="2560320"/>
          </a:xfrm>
          <a:prstGeom prst="rect">
            <a:avLst/>
          </a:prstGeom>
          <a:noFill/>
        </p:spPr>
        <p:txBody>
          <a:bodyPr wrap="square" lIns="0" tIns="0" rIns="0" bIns="0">
            <a:spAutoFit/>
          </a:bodyPr>
          <a:lstStyle/>
          <a:p>
            <a:r>
              <a:rPr sz="1500" b="1">
                <a:solidFill>
                  <a:srgbClr val="2563EB"/>
                </a:solidFill>
                <a:latin typeface="Segoe UI"/>
              </a:rPr>
              <a:t>2. GIAO DIỆN WEB
(BLAZOR UI)</a:t>
            </a:r>
          </a:p>
          <a:p>
            <a:pPr>
              <a:spcBef>
                <a:spcPts val="800"/>
              </a:spcBef>
            </a:pPr>
            <a:r>
              <a:rPr sz="1250">
                <a:solidFill>
                  <a:srgbClr val="0F172A"/>
                </a:solidFill>
              </a:rPr>
              <a:t>• Pages &amp; Razor Components
• Nhận thao tác Check-in / Check-out
• Hiển thị dữ liệu bảng công &amp; thống kê</a:t>
            </a:r>
          </a:p>
        </p:txBody>
      </p:sp>
      <p:sp>
        <p:nvSpPr>
          <p:cNvPr id="17" name="TextBox 16"/>
          <p:cNvSpPr txBox="1"/>
          <p:nvPr/>
        </p:nvSpPr>
        <p:spPr>
          <a:xfrm>
            <a:off x="5934456" y="2834640"/>
            <a:ext cx="365760" cy="457200"/>
          </a:xfrm>
          <a:prstGeom prst="rect">
            <a:avLst/>
          </a:prstGeom>
          <a:noFill/>
        </p:spPr>
        <p:txBody>
          <a:bodyPr wrap="none" lIns="0" tIns="0" rIns="0" bIns="0">
            <a:spAutoFit/>
          </a:bodyPr>
          <a:lstStyle/>
          <a:p>
            <a:pPr algn="ctr"/>
            <a:r>
              <a:rPr sz="2800" b="1">
                <a:solidFill>
                  <a:srgbClr val="1E3A8A"/>
                </a:solidFill>
              </a:rPr>
              <a:t>➔</a:t>
            </a:r>
          </a:p>
        </p:txBody>
      </p:sp>
      <p:sp>
        <p:nvSpPr>
          <p:cNvPr id="18" name="Rounded Rectangle 17"/>
          <p:cNvSpPr/>
          <p:nvPr/>
        </p:nvSpPr>
        <p:spPr>
          <a:xfrm>
            <a:off x="6327648" y="1645920"/>
            <a:ext cx="233172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7648" y="1645920"/>
            <a:ext cx="233172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1828800"/>
            <a:ext cx="2002536" cy="2560320"/>
          </a:xfrm>
          <a:prstGeom prst="rect">
            <a:avLst/>
          </a:prstGeom>
          <a:noFill/>
        </p:spPr>
        <p:txBody>
          <a:bodyPr wrap="square" lIns="0" tIns="0" rIns="0" bIns="0">
            <a:spAutoFit/>
          </a:bodyPr>
          <a:lstStyle/>
          <a:p>
            <a:r>
              <a:rPr sz="1500" b="1">
                <a:solidFill>
                  <a:srgbClr val="0D9488"/>
                </a:solidFill>
                <a:latin typeface="Segoe UI"/>
              </a:rPr>
              <a:t>3. BACKEND &amp; API
(C# CORE BUSINESS)</a:t>
            </a:r>
          </a:p>
          <a:p>
            <a:pPr>
              <a:spcBef>
                <a:spcPts val="800"/>
              </a:spcBef>
            </a:pPr>
            <a:r>
              <a:rPr sz="1250">
                <a:solidFill>
                  <a:srgbClr val="0F172A"/>
                </a:solidFill>
              </a:rPr>
              <a:t>• Use Cases xử lý logic chấm công
• Xác thực &amp; Kiểm tra quyền truy cập
• Giao tiếp dữ liệu qua Repository</a:t>
            </a:r>
          </a:p>
        </p:txBody>
      </p:sp>
      <p:sp>
        <p:nvSpPr>
          <p:cNvPr id="21" name="TextBox 20"/>
          <p:cNvSpPr txBox="1"/>
          <p:nvPr/>
        </p:nvSpPr>
        <p:spPr>
          <a:xfrm>
            <a:off x="8732520" y="2834640"/>
            <a:ext cx="365760" cy="457200"/>
          </a:xfrm>
          <a:prstGeom prst="rect">
            <a:avLst/>
          </a:prstGeom>
          <a:noFill/>
        </p:spPr>
        <p:txBody>
          <a:bodyPr wrap="none" lIns="0" tIns="0" rIns="0" bIns="0">
            <a:spAutoFit/>
          </a:bodyPr>
          <a:lstStyle/>
          <a:p>
            <a:pPr algn="ctr"/>
            <a:r>
              <a:rPr sz="2800" b="1">
                <a:solidFill>
                  <a:srgbClr val="1E3A8A"/>
                </a:solidFill>
              </a:rPr>
              <a:t>➔</a:t>
            </a:r>
          </a:p>
        </p:txBody>
      </p:sp>
      <p:sp>
        <p:nvSpPr>
          <p:cNvPr id="22" name="Rounded Rectangle 21"/>
          <p:cNvSpPr/>
          <p:nvPr/>
        </p:nvSpPr>
        <p:spPr>
          <a:xfrm>
            <a:off x="9125712" y="1645920"/>
            <a:ext cx="233172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125712" y="1645920"/>
            <a:ext cx="2331720" cy="73152"/>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90304" y="1828800"/>
            <a:ext cx="2002536" cy="2560320"/>
          </a:xfrm>
          <a:prstGeom prst="rect">
            <a:avLst/>
          </a:prstGeom>
          <a:noFill/>
        </p:spPr>
        <p:txBody>
          <a:bodyPr wrap="square" lIns="0" tIns="0" rIns="0" bIns="0">
            <a:spAutoFit/>
          </a:bodyPr>
          <a:lstStyle/>
          <a:p>
            <a:r>
              <a:rPr sz="1500" b="1">
                <a:solidFill>
                  <a:srgbClr val="F59E0B"/>
                </a:solidFill>
                <a:latin typeface="Segoe UI"/>
              </a:rPr>
              <a:t>4. CƠ SỞ DỮ LIỆU
(SQL SERVER)</a:t>
            </a:r>
          </a:p>
          <a:p>
            <a:pPr>
              <a:spcBef>
                <a:spcPts val="800"/>
              </a:spcBef>
            </a:pPr>
            <a:r>
              <a:rPr sz="1250">
                <a:solidFill>
                  <a:srgbClr val="0F172A"/>
                </a:solidFill>
              </a:rPr>
              <a:t>• CSDL: BangChamCongDB
• Bảng: employees, timesheets...
• Lưu trữ an toàn &amp; toàn vẹn dữ liệu</a:t>
            </a:r>
          </a:p>
        </p:txBody>
      </p:sp>
      <p:sp>
        <p:nvSpPr>
          <p:cNvPr id="25" name="Rounded Rectangle 24"/>
          <p:cNvSpPr/>
          <p:nvPr/>
        </p:nvSpPr>
        <p:spPr>
          <a:xfrm>
            <a:off x="731520" y="4754880"/>
            <a:ext cx="10728655"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31520" y="4754880"/>
            <a:ext cx="10728655"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4892040"/>
            <a:ext cx="10241280" cy="1280160"/>
          </a:xfrm>
          <a:prstGeom prst="rect">
            <a:avLst/>
          </a:prstGeom>
          <a:noFill/>
        </p:spPr>
        <p:txBody>
          <a:bodyPr wrap="square" lIns="0" tIns="0" rIns="0" bIns="0">
            <a:spAutoFit/>
          </a:bodyPr>
          <a:lstStyle/>
          <a:p>
            <a:r>
              <a:rPr sz="1500" b="1">
                <a:solidFill>
                  <a:srgbClr val="1E3A8A"/>
                </a:solidFill>
                <a:latin typeface="Segoe UI"/>
              </a:rPr>
              <a:t>ĐIỂM NỔI BẬT TRONG THIẾT KẾ KIẾN TRÚC HỆ THỐNG:</a:t>
            </a:r>
          </a:p>
          <a:p>
            <a:pPr>
              <a:spcBef>
                <a:spcPts val="300"/>
              </a:spcBef>
            </a:pPr>
            <a:r>
              <a:rPr b="1" sz="1350">
                <a:solidFill>
                  <a:srgbClr val="0F172A"/>
                </a:solidFill>
              </a:rPr>
              <a:t>• Phân tách trách nhiệm (Separation of Concerns): </a:t>
            </a:r>
            <a:r>
              <a:rPr sz="1250">
                <a:solidFill>
                  <a:srgbClr val="475569"/>
                </a:solidFill>
              </a:rPr>
              <a:t> Giao diện Blazor chỉ tập trung vào hiển thị và nhận lệnh người dùng; toàn bộ logic nghiệp vụ chấm công được bảo bọc an toàn tại tầng Core Backend.</a:t>
            </a:r>
          </a:p>
          <a:p>
            <a:pPr>
              <a:spcBef>
                <a:spcPts val="300"/>
              </a:spcBef>
            </a:pPr>
            <a:r>
              <a:rPr b="1" sz="1350">
                <a:solidFill>
                  <a:srgbClr val="0F172A"/>
                </a:solidFill>
              </a:rPr>
              <a:t>• Tốc độ truy xuất cao: </a:t>
            </a:r>
            <a:r>
              <a:rPr sz="1250">
                <a:solidFill>
                  <a:srgbClr val="475569"/>
                </a:solidFill>
              </a:rPr>
              <a:t> Sử dụng Dapper Micro-ORM ánh xạ dữ liệu trực tiếp từ SQL Server giúp giảm tải bộ nhớ và tăng tốc độ phản hồi trang web.</a:t>
            </a:r>
          </a:p>
          <a:p>
            <a:pPr>
              <a:spcBef>
                <a:spcPts val="300"/>
              </a:spcBef>
            </a:pPr>
            <a:r>
              <a:rPr b="1" sz="1350">
                <a:solidFill>
                  <a:srgbClr val="0F172A"/>
                </a:solidFill>
              </a:rPr>
              <a:t>• Bảo mật dữ liệu cấp cơ sở dữ liệu: </a:t>
            </a:r>
            <a:r>
              <a:rPr sz="1250">
                <a:solidFill>
                  <a:srgbClr val="475569"/>
                </a:solidFill>
              </a:rPr>
              <a:t> Mọi thao tác ghi nhận công đều được ràng buộc khóa ngoại (Foreign Key) chặt chẽ với hồ sơ nhân viên.</a:t>
            </a:r>
          </a:p>
        </p:txBody>
      </p:sp>
    </p:spTree>
  </p:cSld>
  <p:clrMapOvr>
    <a:masterClrMapping/>
  </p:clrMapOvr>
  <p:transition spd="med" advClick="1">
    <p:wipe dir="r"/>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20624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50" b="1">
                <a:solidFill>
                  <a:srgbClr val="1E3A8A"/>
                </a:solidFill>
                <a:latin typeface="Segoe UI"/>
              </a:rPr>
              <a:t>GIAO DIỆN CHÍNH</a:t>
            </a:r>
          </a:p>
        </p:txBody>
      </p:sp>
      <p:sp>
        <p:nvSpPr>
          <p:cNvPr id="5" name="TextBox 4"/>
          <p:cNvSpPr txBox="1"/>
          <p:nvPr/>
        </p:nvSpPr>
        <p:spPr>
          <a:xfrm>
            <a:off x="731520" y="658368"/>
            <a:ext cx="10728655" cy="777240"/>
          </a:xfrm>
          <a:prstGeom prst="rect">
            <a:avLst/>
          </a:prstGeom>
          <a:noFill/>
        </p:spPr>
        <p:txBody>
          <a:bodyPr wrap="square" lIns="0" tIns="0" rIns="0" bIns="0">
            <a:spAutoFit/>
          </a:bodyPr>
          <a:lstStyle/>
          <a:p>
            <a:pPr>
              <a:spcAft>
                <a:spcPts val="200"/>
              </a:spcAft>
            </a:pPr>
            <a:r>
              <a:rPr sz="2800" b="1">
                <a:solidFill>
                  <a:srgbClr val="0F172A"/>
                </a:solidFill>
                <a:latin typeface="Segoe UI"/>
              </a:rPr>
              <a:t>06. Minh họa các màn hình chính của hệ thống Website</a:t>
            </a:r>
          </a:p>
          <a:p>
            <a:r>
              <a:rPr sz="1500">
                <a:solidFill>
                  <a:srgbClr val="475569"/>
                </a:solidFill>
                <a:latin typeface="Segoe UI"/>
              </a:rPr>
              <a:t>Ảnh chụp và thiết kế giao diện thực tế từ dự án: Đăng nhập, Dashboard, Danh sách nhân sự &amp; Chấm công</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320040"/>
          </a:xfrm>
          <a:prstGeom prst="rect">
            <a:avLst/>
          </a:prstGeom>
          <a:noFill/>
        </p:spPr>
        <p:txBody>
          <a:bodyPr wrap="none" lIns="0" tIns="0" rIns="0" bIns="0">
            <a:spAutoFit/>
          </a:bodyPr>
          <a:lstStyle/>
          <a:p>
            <a:r>
              <a:rPr sz="1250">
                <a:solidFill>
                  <a:srgbClr val="475569"/>
                </a:solidFill>
                <a:latin typeface="Segoe UI"/>
              </a:rPr>
              <a:t>Lập trình ứng dụng Web | Hệ thống Chấm công &amp; Quản lý nhân viên</a:t>
            </a:r>
          </a:p>
        </p:txBody>
      </p:sp>
      <p:sp>
        <p:nvSpPr>
          <p:cNvPr id="8" name="TextBox 7"/>
          <p:cNvSpPr txBox="1"/>
          <p:nvPr/>
        </p:nvSpPr>
        <p:spPr>
          <a:xfrm>
            <a:off x="5029200" y="6446520"/>
            <a:ext cx="4572000" cy="320040"/>
          </a:xfrm>
          <a:prstGeom prst="rect">
            <a:avLst/>
          </a:prstGeom>
          <a:noFill/>
        </p:spPr>
        <p:txBody>
          <a:bodyPr wrap="none" lIns="0" tIns="0" rIns="0" bIns="0">
            <a:spAutoFit/>
          </a:bodyPr>
          <a:lstStyle/>
          <a:p>
            <a:r>
              <a:rPr sz="1250">
                <a:solidFill>
                  <a:srgbClr val="475569"/>
                </a:solidFill>
                <a:latin typeface="Segoe UI"/>
              </a:rPr>
              <a:t>Trần Viết Mạnh Cường (23K4080003) | ĐH Kinh tế Huế</a:t>
            </a:r>
          </a:p>
        </p:txBody>
      </p:sp>
      <p:sp>
        <p:nvSpPr>
          <p:cNvPr id="9" name="Rounded Rectangle 8"/>
          <p:cNvSpPr/>
          <p:nvPr/>
        </p:nvSpPr>
        <p:spPr>
          <a:xfrm>
            <a:off x="10728655" y="6446520"/>
            <a:ext cx="731520" cy="25603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250" b="1">
                <a:solidFill>
                  <a:srgbClr val="FFFFFF"/>
                </a:solidFill>
                <a:latin typeface="Segoe UI"/>
              </a:rPr>
              <a:t>07 / 12</a:t>
            </a:r>
          </a:p>
        </p:txBody>
      </p:sp>
      <p:sp>
        <p:nvSpPr>
          <p:cNvPr id="10" name="Rounded Rectangle 9"/>
          <p:cNvSpPr/>
          <p:nvPr/>
        </p:nvSpPr>
        <p:spPr>
          <a:xfrm>
            <a:off x="731520" y="1645920"/>
            <a:ext cx="2542032"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645920"/>
            <a:ext cx="2542032" cy="7315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783080"/>
            <a:ext cx="2212848" cy="1737360"/>
          </a:xfrm>
          <a:prstGeom prst="rect">
            <a:avLst/>
          </a:prstGeom>
          <a:noFill/>
        </p:spPr>
        <p:txBody>
          <a:bodyPr wrap="square" lIns="0" tIns="0" rIns="0" bIns="0">
            <a:spAutoFit/>
          </a:bodyPr>
          <a:lstStyle/>
          <a:p>
            <a:r>
              <a:rPr sz="1400" b="1">
                <a:solidFill>
                  <a:srgbClr val="1E3A8A"/>
                </a:solidFill>
                <a:latin typeface="Segoe UI"/>
              </a:rPr>
              <a:t>1. TRANG ĐĂNG NHẬP (LOGIN)</a:t>
            </a:r>
          </a:p>
          <a:p>
            <a:pPr>
              <a:spcBef>
                <a:spcPts val="600"/>
              </a:spcBef>
            </a:pPr>
            <a:r>
              <a:rPr sz="1250">
                <a:solidFill>
                  <a:srgbClr val="0F172A"/>
                </a:solidFill>
              </a:rPr>
              <a:t>• Giao diện đăng nhập bảo mật.
• Kiểm tra tài khoản và mật khẩu.
• Phân quyền chuyển hướng người dùng.</a:t>
            </a:r>
          </a:p>
        </p:txBody>
      </p:sp>
      <p:sp>
        <p:nvSpPr>
          <p:cNvPr id="13" name="Rounded Rectangle 12"/>
          <p:cNvSpPr/>
          <p:nvPr/>
        </p:nvSpPr>
        <p:spPr>
          <a:xfrm>
            <a:off x="3456432" y="1645920"/>
            <a:ext cx="2542032"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56432" y="1645920"/>
            <a:ext cx="2542032"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783080"/>
            <a:ext cx="2212848" cy="1737360"/>
          </a:xfrm>
          <a:prstGeom prst="rect">
            <a:avLst/>
          </a:prstGeom>
          <a:noFill/>
        </p:spPr>
        <p:txBody>
          <a:bodyPr wrap="square" lIns="0" tIns="0" rIns="0" bIns="0">
            <a:spAutoFit/>
          </a:bodyPr>
          <a:lstStyle/>
          <a:p>
            <a:r>
              <a:rPr sz="1400" b="1">
                <a:solidFill>
                  <a:srgbClr val="2563EB"/>
                </a:solidFill>
                <a:latin typeface="Segoe UI"/>
              </a:rPr>
              <a:t>2. DASHBOARD TỔNG QUAN</a:t>
            </a:r>
          </a:p>
          <a:p>
            <a:pPr>
              <a:spcBef>
                <a:spcPts val="600"/>
              </a:spcBef>
            </a:pPr>
            <a:r>
              <a:rPr sz="1250">
                <a:solidFill>
                  <a:srgbClr val="0F172A"/>
                </a:solidFill>
              </a:rPr>
              <a:t>• Các thẻ chỉ số thống kê nhân sự.
• Tổng hợp tỷ lệ đi làm trong ngày.
• Biểu đồ phân bổ nhân sự phòng ban.</a:t>
            </a:r>
          </a:p>
        </p:txBody>
      </p:sp>
      <p:sp>
        <p:nvSpPr>
          <p:cNvPr id="16" name="Rounded Rectangle 15"/>
          <p:cNvSpPr/>
          <p:nvPr/>
        </p:nvSpPr>
        <p:spPr>
          <a:xfrm>
            <a:off x="6181344" y="1645920"/>
            <a:ext cx="2542032"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81344" y="1645920"/>
            <a:ext cx="2542032"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5936" y="1783080"/>
            <a:ext cx="2212848" cy="1737360"/>
          </a:xfrm>
          <a:prstGeom prst="rect">
            <a:avLst/>
          </a:prstGeom>
          <a:noFill/>
        </p:spPr>
        <p:txBody>
          <a:bodyPr wrap="square" lIns="0" tIns="0" rIns="0" bIns="0">
            <a:spAutoFit/>
          </a:bodyPr>
          <a:lstStyle/>
          <a:p>
            <a:r>
              <a:rPr sz="1400" b="1">
                <a:solidFill>
                  <a:srgbClr val="0D9488"/>
                </a:solidFill>
                <a:latin typeface="Segoe UI"/>
              </a:rPr>
              <a:t>3. DANH SÁCH NHÂN VIÊN</a:t>
            </a:r>
          </a:p>
          <a:p>
            <a:pPr>
              <a:spcBef>
                <a:spcPts val="600"/>
              </a:spcBef>
            </a:pPr>
            <a:r>
              <a:rPr sz="1250">
                <a:solidFill>
                  <a:srgbClr val="0F172A"/>
                </a:solidFill>
              </a:rPr>
              <a:t>• Bảng dữ liệu quản lý hồ sơ nhân viên.
• Tìm kiếm, lọc theo phòng ban.
• Nút xem chi tiết và cập nhật thông tin.</a:t>
            </a:r>
          </a:p>
        </p:txBody>
      </p:sp>
      <p:sp>
        <p:nvSpPr>
          <p:cNvPr id="19" name="Rounded Rectangle 18"/>
          <p:cNvSpPr/>
          <p:nvPr/>
        </p:nvSpPr>
        <p:spPr>
          <a:xfrm>
            <a:off x="8906256" y="1645920"/>
            <a:ext cx="2542032"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906256" y="1645920"/>
            <a:ext cx="2542032" cy="7315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70848" y="1783080"/>
            <a:ext cx="2212848" cy="1737360"/>
          </a:xfrm>
          <a:prstGeom prst="rect">
            <a:avLst/>
          </a:prstGeom>
          <a:noFill/>
        </p:spPr>
        <p:txBody>
          <a:bodyPr wrap="square" lIns="0" tIns="0" rIns="0" bIns="0">
            <a:spAutoFit/>
          </a:bodyPr>
          <a:lstStyle/>
          <a:p>
            <a:r>
              <a:rPr sz="1400" b="1">
                <a:solidFill>
                  <a:srgbClr val="10B981"/>
                </a:solidFill>
                <a:latin typeface="Segoe UI"/>
              </a:rPr>
              <a:t>4. TRANG CHẤM CÔNG (TIMESHEET)</a:t>
            </a:r>
          </a:p>
          <a:p>
            <a:pPr>
              <a:spcBef>
                <a:spcPts val="600"/>
              </a:spcBef>
            </a:pPr>
            <a:r>
              <a:rPr sz="1250">
                <a:solidFill>
                  <a:srgbClr val="0F172A"/>
                </a:solidFill>
              </a:rPr>
              <a:t>• Nút bấm Check-in / Check-out 1 chạm.
• Đồng hồ thời gian thực tế hệ thống.
• Bảng nhật ký công chi tiết theo tháng.</a:t>
            </a:r>
          </a:p>
        </p:txBody>
      </p:sp>
      <p:sp>
        <p:nvSpPr>
          <p:cNvPr id="22" name="Rounded Rectangle 21"/>
          <p:cNvSpPr/>
          <p:nvPr/>
        </p:nvSpPr>
        <p:spPr>
          <a:xfrm>
            <a:off x="731520" y="3840480"/>
            <a:ext cx="516636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CCong.png"/>
          <p:cNvPicPr>
            <a:picLocks noChangeAspect="1"/>
          </p:cNvPicPr>
          <p:nvPr/>
        </p:nvPicPr>
        <p:blipFill>
          <a:blip r:embed="rId2"/>
          <a:stretch>
            <a:fillRect/>
          </a:stretch>
        </p:blipFill>
        <p:spPr>
          <a:xfrm>
            <a:off x="868680" y="3931920"/>
            <a:ext cx="4892040" cy="2738567"/>
          </a:xfrm>
          <a:prstGeom prst="rect">
            <a:avLst/>
          </a:prstGeom>
        </p:spPr>
      </p:pic>
      <p:sp>
        <p:nvSpPr>
          <p:cNvPr id="24" name="Rounded Rectangle 23"/>
          <p:cNvSpPr/>
          <p:nvPr/>
        </p:nvSpPr>
        <p:spPr>
          <a:xfrm>
            <a:off x="6263640" y="3840480"/>
            <a:ext cx="516636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mg_2.jpg"/>
          <p:cNvPicPr>
            <a:picLocks noChangeAspect="1"/>
          </p:cNvPicPr>
          <p:nvPr/>
        </p:nvPicPr>
        <p:blipFill>
          <a:blip r:embed="rId3"/>
          <a:stretch>
            <a:fillRect/>
          </a:stretch>
        </p:blipFill>
        <p:spPr>
          <a:xfrm>
            <a:off x="6400800" y="3931920"/>
            <a:ext cx="4892040" cy="2622637"/>
          </a:xfrm>
          <a:prstGeom prst="rect">
            <a:avLst/>
          </a:prstGeom>
        </p:spPr>
      </p:pic>
    </p:spTree>
  </p:cSld>
  <p:clrMapOvr>
    <a:masterClrMapping/>
  </p:clrMapOvr>
  <p:transition spd="med" advClick="1">
    <p:circl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20624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50" b="1">
                <a:solidFill>
                  <a:srgbClr val="1E3A8A"/>
                </a:solidFill>
                <a:latin typeface="Segoe UI"/>
              </a:rPr>
              <a:t>QUY TRÌNH CHẤM CÔNG</a:t>
            </a:r>
          </a:p>
        </p:txBody>
      </p:sp>
      <p:sp>
        <p:nvSpPr>
          <p:cNvPr id="5" name="TextBox 4"/>
          <p:cNvSpPr txBox="1"/>
          <p:nvPr/>
        </p:nvSpPr>
        <p:spPr>
          <a:xfrm>
            <a:off x="731520" y="658368"/>
            <a:ext cx="10728655" cy="777240"/>
          </a:xfrm>
          <a:prstGeom prst="rect">
            <a:avLst/>
          </a:prstGeom>
          <a:noFill/>
        </p:spPr>
        <p:txBody>
          <a:bodyPr wrap="square" lIns="0" tIns="0" rIns="0" bIns="0">
            <a:spAutoFit/>
          </a:bodyPr>
          <a:lstStyle/>
          <a:p>
            <a:pPr>
              <a:spcAft>
                <a:spcPts val="200"/>
              </a:spcAft>
            </a:pPr>
            <a:r>
              <a:rPr sz="2800" b="1">
                <a:solidFill>
                  <a:srgbClr val="0F172A"/>
                </a:solidFill>
                <a:latin typeface="Segoe UI"/>
              </a:rPr>
              <a:t>07. Sơ đồ luồng xử lý chấm công hàng ngày của nhân viên</a:t>
            </a:r>
          </a:p>
          <a:p>
            <a:r>
              <a:rPr sz="1500">
                <a:solidFill>
                  <a:srgbClr val="475569"/>
                </a:solidFill>
                <a:latin typeface="Segoe UI"/>
              </a:rPr>
              <a:t>Đăng nhập → Chọn chức năng → Ghi nhận thời gian → Lưu CSDL → Xem lịch sử &amp; Thống kê</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320040"/>
          </a:xfrm>
          <a:prstGeom prst="rect">
            <a:avLst/>
          </a:prstGeom>
          <a:noFill/>
        </p:spPr>
        <p:txBody>
          <a:bodyPr wrap="none" lIns="0" tIns="0" rIns="0" bIns="0">
            <a:spAutoFit/>
          </a:bodyPr>
          <a:lstStyle/>
          <a:p>
            <a:r>
              <a:rPr sz="1250">
                <a:solidFill>
                  <a:srgbClr val="475569"/>
                </a:solidFill>
                <a:latin typeface="Segoe UI"/>
              </a:rPr>
              <a:t>Lập trình ứng dụng Web | Hệ thống Chấm công &amp; Quản lý nhân viên</a:t>
            </a:r>
          </a:p>
        </p:txBody>
      </p:sp>
      <p:sp>
        <p:nvSpPr>
          <p:cNvPr id="8" name="TextBox 7"/>
          <p:cNvSpPr txBox="1"/>
          <p:nvPr/>
        </p:nvSpPr>
        <p:spPr>
          <a:xfrm>
            <a:off x="5029200" y="6446520"/>
            <a:ext cx="4572000" cy="320040"/>
          </a:xfrm>
          <a:prstGeom prst="rect">
            <a:avLst/>
          </a:prstGeom>
          <a:noFill/>
        </p:spPr>
        <p:txBody>
          <a:bodyPr wrap="none" lIns="0" tIns="0" rIns="0" bIns="0">
            <a:spAutoFit/>
          </a:bodyPr>
          <a:lstStyle/>
          <a:p>
            <a:r>
              <a:rPr sz="1250">
                <a:solidFill>
                  <a:srgbClr val="475569"/>
                </a:solidFill>
                <a:latin typeface="Segoe UI"/>
              </a:rPr>
              <a:t>Trần Viết Mạnh Cường (23K4080003) | ĐH Kinh tế Huế</a:t>
            </a:r>
          </a:p>
        </p:txBody>
      </p:sp>
      <p:sp>
        <p:nvSpPr>
          <p:cNvPr id="9" name="Rounded Rectangle 8"/>
          <p:cNvSpPr/>
          <p:nvPr/>
        </p:nvSpPr>
        <p:spPr>
          <a:xfrm>
            <a:off x="10728655" y="6446520"/>
            <a:ext cx="731520" cy="25603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250" b="1">
                <a:solidFill>
                  <a:srgbClr val="FFFFFF"/>
                </a:solidFill>
                <a:latin typeface="Segoe UI"/>
              </a:rPr>
              <a:t>08 / 12</a:t>
            </a:r>
          </a:p>
        </p:txBody>
      </p:sp>
      <p:sp>
        <p:nvSpPr>
          <p:cNvPr id="10" name="Rounded Rectangle 9"/>
          <p:cNvSpPr/>
          <p:nvPr/>
        </p:nvSpPr>
        <p:spPr>
          <a:xfrm>
            <a:off x="731520" y="1645920"/>
            <a:ext cx="2029968"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645920"/>
            <a:ext cx="2029968" cy="7315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828800"/>
            <a:ext cx="1755648" cy="2743200"/>
          </a:xfrm>
          <a:prstGeom prst="rect">
            <a:avLst/>
          </a:prstGeom>
          <a:noFill/>
        </p:spPr>
        <p:txBody>
          <a:bodyPr wrap="square" lIns="0" tIns="0" rIns="0" bIns="0">
            <a:spAutoFit/>
          </a:bodyPr>
          <a:lstStyle/>
          <a:p>
            <a:r>
              <a:rPr sz="1500" b="1">
                <a:solidFill>
                  <a:srgbClr val="1E3A8A"/>
                </a:solidFill>
                <a:latin typeface="Segoe UI"/>
              </a:rPr>
              <a:t>BƯỚC 1
ĐĂNG NHẬP</a:t>
            </a:r>
          </a:p>
          <a:p>
            <a:pPr>
              <a:spcBef>
                <a:spcPts val="800"/>
              </a:spcBef>
            </a:pPr>
            <a:r>
              <a:rPr sz="1250">
                <a:solidFill>
                  <a:srgbClr val="0F172A"/>
                </a:solidFill>
              </a:rPr>
              <a:t>• Nhân viên truy cập website.
• Nhập tên tài khoản và mật khẩu.
• Hệ thống xác thực danh tính.</a:t>
            </a:r>
          </a:p>
        </p:txBody>
      </p:sp>
      <p:sp>
        <p:nvSpPr>
          <p:cNvPr id="13" name="TextBox 12"/>
          <p:cNvSpPr txBox="1"/>
          <p:nvPr/>
        </p:nvSpPr>
        <p:spPr>
          <a:xfrm>
            <a:off x="2798064" y="2926080"/>
            <a:ext cx="274320" cy="365760"/>
          </a:xfrm>
          <a:prstGeom prst="rect">
            <a:avLst/>
          </a:prstGeom>
          <a:noFill/>
        </p:spPr>
        <p:txBody>
          <a:bodyPr wrap="none" lIns="0" tIns="0" rIns="0" bIns="0">
            <a:spAutoFit/>
          </a:bodyPr>
          <a:lstStyle/>
          <a:p>
            <a:pPr algn="ctr"/>
            <a:r>
              <a:rPr sz="1800" b="1">
                <a:solidFill>
                  <a:srgbClr val="1E3A8A"/>
                </a:solidFill>
              </a:rPr>
              <a:t>➔</a:t>
            </a:r>
          </a:p>
        </p:txBody>
      </p:sp>
      <p:sp>
        <p:nvSpPr>
          <p:cNvPr id="14" name="Rounded Rectangle 13"/>
          <p:cNvSpPr/>
          <p:nvPr/>
        </p:nvSpPr>
        <p:spPr>
          <a:xfrm>
            <a:off x="2907791" y="1645920"/>
            <a:ext cx="2029968"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907791" y="1645920"/>
            <a:ext cx="2029968"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44951" y="1828800"/>
            <a:ext cx="1755648" cy="2743200"/>
          </a:xfrm>
          <a:prstGeom prst="rect">
            <a:avLst/>
          </a:prstGeom>
          <a:noFill/>
        </p:spPr>
        <p:txBody>
          <a:bodyPr wrap="square" lIns="0" tIns="0" rIns="0" bIns="0">
            <a:spAutoFit/>
          </a:bodyPr>
          <a:lstStyle/>
          <a:p>
            <a:r>
              <a:rPr sz="1500" b="1">
                <a:solidFill>
                  <a:srgbClr val="2563EB"/>
                </a:solidFill>
                <a:latin typeface="Segoe UI"/>
              </a:rPr>
              <a:t>BƯỚC 2
CHỌN CHỨC NĂNG</a:t>
            </a:r>
          </a:p>
          <a:p>
            <a:pPr>
              <a:spcBef>
                <a:spcPts val="800"/>
              </a:spcBef>
            </a:pPr>
            <a:r>
              <a:rPr sz="1250">
                <a:solidFill>
                  <a:srgbClr val="0F172A"/>
                </a:solidFill>
              </a:rPr>
              <a:t>• Chọn mục 'Chấm công của tôi'.
• Hệ thống nạp thông tin nhân viên.
• Kiểm tra trạng thái ca làm hiện tại.</a:t>
            </a:r>
          </a:p>
        </p:txBody>
      </p:sp>
      <p:sp>
        <p:nvSpPr>
          <p:cNvPr id="17" name="TextBox 16"/>
          <p:cNvSpPr txBox="1"/>
          <p:nvPr/>
        </p:nvSpPr>
        <p:spPr>
          <a:xfrm>
            <a:off x="4974335" y="2926080"/>
            <a:ext cx="274320" cy="365760"/>
          </a:xfrm>
          <a:prstGeom prst="rect">
            <a:avLst/>
          </a:prstGeom>
          <a:noFill/>
        </p:spPr>
        <p:txBody>
          <a:bodyPr wrap="none" lIns="0" tIns="0" rIns="0" bIns="0">
            <a:spAutoFit/>
          </a:bodyPr>
          <a:lstStyle/>
          <a:p>
            <a:pPr algn="ctr"/>
            <a:r>
              <a:rPr sz="1800" b="1">
                <a:solidFill>
                  <a:srgbClr val="1E3A8A"/>
                </a:solidFill>
              </a:rPr>
              <a:t>➔</a:t>
            </a:r>
          </a:p>
        </p:txBody>
      </p:sp>
      <p:sp>
        <p:nvSpPr>
          <p:cNvPr id="18" name="Rounded Rectangle 17"/>
          <p:cNvSpPr/>
          <p:nvPr/>
        </p:nvSpPr>
        <p:spPr>
          <a:xfrm>
            <a:off x="5084064" y="1645920"/>
            <a:ext cx="2029968"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84064" y="1645920"/>
            <a:ext cx="2029968" cy="7315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21224" y="1828800"/>
            <a:ext cx="1755648" cy="2743200"/>
          </a:xfrm>
          <a:prstGeom prst="rect">
            <a:avLst/>
          </a:prstGeom>
          <a:noFill/>
        </p:spPr>
        <p:txBody>
          <a:bodyPr wrap="square" lIns="0" tIns="0" rIns="0" bIns="0">
            <a:spAutoFit/>
          </a:bodyPr>
          <a:lstStyle/>
          <a:p>
            <a:r>
              <a:rPr sz="1500" b="1">
                <a:solidFill>
                  <a:srgbClr val="10B981"/>
                </a:solidFill>
                <a:latin typeface="Segoe UI"/>
              </a:rPr>
              <a:t>BƯỚC 3
GHI NHẬN GIỜ</a:t>
            </a:r>
          </a:p>
          <a:p>
            <a:pPr>
              <a:spcBef>
                <a:spcPts val="800"/>
              </a:spcBef>
            </a:pPr>
            <a:r>
              <a:rPr sz="1250">
                <a:solidFill>
                  <a:srgbClr val="0F172A"/>
                </a:solidFill>
              </a:rPr>
              <a:t>• Bấm nút 'Check-in' khi đến làm.
• Bấm nút 'Check-out' khi ra về.
• Lấy giờ thực từ hệ thống máy chủ.</a:t>
            </a:r>
          </a:p>
        </p:txBody>
      </p:sp>
      <p:sp>
        <p:nvSpPr>
          <p:cNvPr id="21" name="TextBox 20"/>
          <p:cNvSpPr txBox="1"/>
          <p:nvPr/>
        </p:nvSpPr>
        <p:spPr>
          <a:xfrm>
            <a:off x="7150608" y="2926080"/>
            <a:ext cx="274320" cy="365760"/>
          </a:xfrm>
          <a:prstGeom prst="rect">
            <a:avLst/>
          </a:prstGeom>
          <a:noFill/>
        </p:spPr>
        <p:txBody>
          <a:bodyPr wrap="none" lIns="0" tIns="0" rIns="0" bIns="0">
            <a:spAutoFit/>
          </a:bodyPr>
          <a:lstStyle/>
          <a:p>
            <a:pPr algn="ctr"/>
            <a:r>
              <a:rPr sz="1800" b="1">
                <a:solidFill>
                  <a:srgbClr val="1E3A8A"/>
                </a:solidFill>
              </a:rPr>
              <a:t>➔</a:t>
            </a:r>
          </a:p>
        </p:txBody>
      </p:sp>
      <p:sp>
        <p:nvSpPr>
          <p:cNvPr id="22" name="Rounded Rectangle 21"/>
          <p:cNvSpPr/>
          <p:nvPr/>
        </p:nvSpPr>
        <p:spPr>
          <a:xfrm>
            <a:off x="7260336" y="1645920"/>
            <a:ext cx="2029968"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260336" y="1645920"/>
            <a:ext cx="2029968"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97496" y="1828800"/>
            <a:ext cx="1755648" cy="2743200"/>
          </a:xfrm>
          <a:prstGeom prst="rect">
            <a:avLst/>
          </a:prstGeom>
          <a:noFill/>
        </p:spPr>
        <p:txBody>
          <a:bodyPr wrap="square" lIns="0" tIns="0" rIns="0" bIns="0">
            <a:spAutoFit/>
          </a:bodyPr>
          <a:lstStyle/>
          <a:p>
            <a:r>
              <a:rPr sz="1500" b="1">
                <a:solidFill>
                  <a:srgbClr val="0D9488"/>
                </a:solidFill>
                <a:latin typeface="Segoe UI"/>
              </a:rPr>
              <a:t>BƯỚC 4
LƯU DỮ LIỆU</a:t>
            </a:r>
          </a:p>
          <a:p>
            <a:pPr>
              <a:spcBef>
                <a:spcPts val="800"/>
              </a:spcBef>
            </a:pPr>
            <a:r>
              <a:rPr sz="1250">
                <a:solidFill>
                  <a:srgbClr val="0F172A"/>
                </a:solidFill>
              </a:rPr>
              <a:t>• Ghi bản ghi vào bảng `timesheets`.
• Ràng buộc khóa ngoại với nhân viên.
• Tự động tính số giờ công làm.</a:t>
            </a:r>
          </a:p>
        </p:txBody>
      </p:sp>
      <p:sp>
        <p:nvSpPr>
          <p:cNvPr id="25" name="TextBox 24"/>
          <p:cNvSpPr txBox="1"/>
          <p:nvPr/>
        </p:nvSpPr>
        <p:spPr>
          <a:xfrm>
            <a:off x="9326880" y="2926080"/>
            <a:ext cx="274320" cy="365760"/>
          </a:xfrm>
          <a:prstGeom prst="rect">
            <a:avLst/>
          </a:prstGeom>
          <a:noFill/>
        </p:spPr>
        <p:txBody>
          <a:bodyPr wrap="none" lIns="0" tIns="0" rIns="0" bIns="0">
            <a:spAutoFit/>
          </a:bodyPr>
          <a:lstStyle/>
          <a:p>
            <a:pPr algn="ctr"/>
            <a:r>
              <a:rPr sz="1800" b="1">
                <a:solidFill>
                  <a:srgbClr val="1E3A8A"/>
                </a:solidFill>
              </a:rPr>
              <a:t>➔</a:t>
            </a:r>
          </a:p>
        </p:txBody>
      </p:sp>
      <p:sp>
        <p:nvSpPr>
          <p:cNvPr id="26" name="Rounded Rectangle 25"/>
          <p:cNvSpPr/>
          <p:nvPr/>
        </p:nvSpPr>
        <p:spPr>
          <a:xfrm>
            <a:off x="9436608" y="1645920"/>
            <a:ext cx="2029968"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436608" y="1645920"/>
            <a:ext cx="2029968" cy="73152"/>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73768" y="1828800"/>
            <a:ext cx="1755648" cy="2743200"/>
          </a:xfrm>
          <a:prstGeom prst="rect">
            <a:avLst/>
          </a:prstGeom>
          <a:noFill/>
        </p:spPr>
        <p:txBody>
          <a:bodyPr wrap="square" lIns="0" tIns="0" rIns="0" bIns="0">
            <a:spAutoFit/>
          </a:bodyPr>
          <a:lstStyle/>
          <a:p>
            <a:r>
              <a:rPr sz="1500" b="1">
                <a:solidFill>
                  <a:srgbClr val="F59E0B"/>
                </a:solidFill>
                <a:latin typeface="Segoe UI"/>
              </a:rPr>
              <a:t>BƯỚC 5
XEM LỊCH SỬ</a:t>
            </a:r>
          </a:p>
          <a:p>
            <a:pPr>
              <a:spcBef>
                <a:spcPts val="800"/>
              </a:spcBef>
            </a:pPr>
            <a:r>
              <a:rPr sz="1250">
                <a:solidFill>
                  <a:srgbClr val="0F172A"/>
                </a:solidFill>
              </a:rPr>
              <a:t>• Nhật ký công cập nhật tức thì.
• Nhân viên tra cứu bảng công tháng.
• Nhân sự tổng hợp đối soát tự động.</a:t>
            </a:r>
          </a:p>
        </p:txBody>
      </p:sp>
      <p:sp>
        <p:nvSpPr>
          <p:cNvPr id="29" name="Rounded Rectangle 28"/>
          <p:cNvSpPr/>
          <p:nvPr/>
        </p:nvSpPr>
        <p:spPr>
          <a:xfrm>
            <a:off x="731520" y="4937760"/>
            <a:ext cx="10728655"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31520" y="4937760"/>
            <a:ext cx="10728655" cy="7315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5047488"/>
            <a:ext cx="10241280" cy="1097280"/>
          </a:xfrm>
          <a:prstGeom prst="rect">
            <a:avLst/>
          </a:prstGeom>
          <a:noFill/>
        </p:spPr>
        <p:txBody>
          <a:bodyPr wrap="square" lIns="0" tIns="0" rIns="0" bIns="0">
            <a:spAutoFit/>
          </a:bodyPr>
          <a:lstStyle/>
          <a:p>
            <a:r>
              <a:rPr sz="1400" b="1">
                <a:solidFill>
                  <a:srgbClr val="10B981"/>
                </a:solidFill>
                <a:latin typeface="Segoe UI"/>
              </a:rPr>
              <a:t>QUY TẮC NGHIỆP VỤ ĐẢM BẢO TÍNH KHÁCH QUAN &amp; MINH BẠCH:</a:t>
            </a:r>
          </a:p>
          <a:p>
            <a:pPr>
              <a:spcBef>
                <a:spcPts val="300"/>
              </a:spcBef>
            </a:pPr>
            <a:r>
              <a:rPr b="1" sz="1350">
                <a:solidFill>
                  <a:srgbClr val="0F172A"/>
                </a:solidFill>
              </a:rPr>
              <a:t>• Khóa điểm danh lặp lại: </a:t>
            </a:r>
            <a:r>
              <a:rPr sz="1250">
                <a:solidFill>
                  <a:srgbClr val="475569"/>
                </a:solidFill>
              </a:rPr>
              <a:t> Mỗi nhân viên chỉ được Check-in 1 lần và Check-out 1 lần trong mỗi ca làm việc của ngày, tránh bấm trùng lặp dữ liệu.</a:t>
            </a:r>
          </a:p>
          <a:p>
            <a:pPr>
              <a:spcBef>
                <a:spcPts val="300"/>
              </a:spcBef>
            </a:pPr>
            <a:r>
              <a:rPr b="1" sz="1350">
                <a:solidFill>
                  <a:srgbClr val="0F172A"/>
                </a:solidFill>
              </a:rPr>
              <a:t>• Mốc thời gian bất biến (Immutable Timestamp): </a:t>
            </a:r>
            <a:r>
              <a:rPr sz="1250">
                <a:solidFill>
                  <a:srgbClr val="475569"/>
                </a:solidFill>
              </a:rPr>
              <a:t> Giờ vào và giờ ra được lấy trực tiếp từ đồng hồ máy chủ SQL Server, không phụ thuộc vào đồng hồ thiết bị của người dùng, triệt tiêu nguy cơ chỉnh giờ để gian lận.</a:t>
            </a:r>
          </a:p>
        </p:txBody>
      </p:sp>
    </p:spTree>
  </p:cSld>
  <p:clrMapOvr>
    <a:masterClrMapping/>
  </p:clrMapOvr>
  <p:transition spd="med" advClick="1">
    <p:wheel spokes="4"/>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20624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50" b="1">
                <a:solidFill>
                  <a:srgbClr val="1E3A8A"/>
                </a:solidFill>
                <a:latin typeface="Segoe UI"/>
              </a:rPr>
              <a:t>CƠ SỞ DỮ LIỆU</a:t>
            </a:r>
          </a:p>
        </p:txBody>
      </p:sp>
      <p:sp>
        <p:nvSpPr>
          <p:cNvPr id="5" name="TextBox 4"/>
          <p:cNvSpPr txBox="1"/>
          <p:nvPr/>
        </p:nvSpPr>
        <p:spPr>
          <a:xfrm>
            <a:off x="731520" y="658368"/>
            <a:ext cx="10728655" cy="777240"/>
          </a:xfrm>
          <a:prstGeom prst="rect">
            <a:avLst/>
          </a:prstGeom>
          <a:noFill/>
        </p:spPr>
        <p:txBody>
          <a:bodyPr wrap="square" lIns="0" tIns="0" rIns="0" bIns="0">
            <a:spAutoFit/>
          </a:bodyPr>
          <a:lstStyle/>
          <a:p>
            <a:pPr>
              <a:spcAft>
                <a:spcPts val="200"/>
              </a:spcAft>
            </a:pPr>
            <a:r>
              <a:rPr sz="2800" b="1">
                <a:solidFill>
                  <a:srgbClr val="0F172A"/>
                </a:solidFill>
                <a:latin typeface="Segoe UI"/>
              </a:rPr>
              <a:t>08. Thiết kế Cơ sở dữ liệu quan hệ (CSDL BangChamCongDB)</a:t>
            </a:r>
          </a:p>
          <a:p>
            <a:r>
              <a:rPr sz="1500">
                <a:solidFill>
                  <a:srgbClr val="475569"/>
                </a:solidFill>
                <a:latin typeface="Segoe UI"/>
              </a:rPr>
              <a:t>Minh họa các bảng quan trọng: Nhân viên, Tài khoản, Chấm công và Sơ đồ quan hệ</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320040"/>
          </a:xfrm>
          <a:prstGeom prst="rect">
            <a:avLst/>
          </a:prstGeom>
          <a:noFill/>
        </p:spPr>
        <p:txBody>
          <a:bodyPr wrap="none" lIns="0" tIns="0" rIns="0" bIns="0">
            <a:spAutoFit/>
          </a:bodyPr>
          <a:lstStyle/>
          <a:p>
            <a:r>
              <a:rPr sz="1250">
                <a:solidFill>
                  <a:srgbClr val="475569"/>
                </a:solidFill>
                <a:latin typeface="Segoe UI"/>
              </a:rPr>
              <a:t>Lập trình ứng dụng Web | Hệ thống Chấm công &amp; Quản lý nhân viên</a:t>
            </a:r>
          </a:p>
        </p:txBody>
      </p:sp>
      <p:sp>
        <p:nvSpPr>
          <p:cNvPr id="8" name="TextBox 7"/>
          <p:cNvSpPr txBox="1"/>
          <p:nvPr/>
        </p:nvSpPr>
        <p:spPr>
          <a:xfrm>
            <a:off x="5029200" y="6446520"/>
            <a:ext cx="4572000" cy="320040"/>
          </a:xfrm>
          <a:prstGeom prst="rect">
            <a:avLst/>
          </a:prstGeom>
          <a:noFill/>
        </p:spPr>
        <p:txBody>
          <a:bodyPr wrap="none" lIns="0" tIns="0" rIns="0" bIns="0">
            <a:spAutoFit/>
          </a:bodyPr>
          <a:lstStyle/>
          <a:p>
            <a:r>
              <a:rPr sz="1250">
                <a:solidFill>
                  <a:srgbClr val="475569"/>
                </a:solidFill>
                <a:latin typeface="Segoe UI"/>
              </a:rPr>
              <a:t>Trần Viết Mạnh Cường (23K4080003) | ĐH Kinh tế Huế</a:t>
            </a:r>
          </a:p>
        </p:txBody>
      </p:sp>
      <p:sp>
        <p:nvSpPr>
          <p:cNvPr id="9" name="Rounded Rectangle 8"/>
          <p:cNvSpPr/>
          <p:nvPr/>
        </p:nvSpPr>
        <p:spPr>
          <a:xfrm>
            <a:off x="10728655" y="6446520"/>
            <a:ext cx="731520" cy="25603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250" b="1">
                <a:solidFill>
                  <a:srgbClr val="FFFFFF"/>
                </a:solidFill>
                <a:latin typeface="Segoe UI"/>
              </a:rPr>
              <a:t>09 / 12</a:t>
            </a:r>
          </a:p>
        </p:txBody>
      </p:sp>
      <p:sp>
        <p:nvSpPr>
          <p:cNvPr id="10" name="Rounded Rectangle 9"/>
          <p:cNvSpPr/>
          <p:nvPr/>
        </p:nvSpPr>
        <p:spPr>
          <a:xfrm>
            <a:off x="731520" y="1645920"/>
            <a:ext cx="3328416"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645920"/>
            <a:ext cx="3328416" cy="7315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828800"/>
            <a:ext cx="2962656" cy="2926080"/>
          </a:xfrm>
          <a:prstGeom prst="rect">
            <a:avLst/>
          </a:prstGeom>
          <a:noFill/>
        </p:spPr>
        <p:txBody>
          <a:bodyPr wrap="square" lIns="0" tIns="0" rIns="0" bIns="0">
            <a:spAutoFit/>
          </a:bodyPr>
          <a:lstStyle/>
          <a:p>
            <a:r>
              <a:rPr sz="1500" b="1">
                <a:solidFill>
                  <a:srgbClr val="1E3A8A"/>
                </a:solidFill>
                <a:latin typeface="Segoe UI"/>
              </a:rPr>
              <a:t>BẢNG NHÂN VIÊN (employees)</a:t>
            </a:r>
          </a:p>
          <a:p>
            <a:pPr>
              <a:spcBef>
                <a:spcPts val="400"/>
              </a:spcBef>
            </a:pPr>
            <a:r>
              <a:rPr b="1" sz="1250">
                <a:solidFill>
                  <a:srgbClr val="0F172A"/>
                </a:solidFill>
              </a:rPr>
              <a:t>• id (PK): </a:t>
            </a:r>
            <a:r>
              <a:rPr sz="1250">
                <a:solidFill>
                  <a:srgbClr val="475569"/>
                </a:solidFill>
              </a:rPr>
              <a:t> Khóa chính tự tăng (BIGINT)</a:t>
            </a:r>
          </a:p>
          <a:p>
            <a:pPr>
              <a:spcBef>
                <a:spcPts val="400"/>
              </a:spcBef>
            </a:pPr>
            <a:r>
              <a:rPr b="1" sz="1250">
                <a:solidFill>
                  <a:srgbClr val="0F172A"/>
                </a:solidFill>
              </a:rPr>
              <a:t>• employee_code: </a:t>
            </a:r>
            <a:r>
              <a:rPr sz="1250">
                <a:solidFill>
                  <a:srgbClr val="475569"/>
                </a:solidFill>
              </a:rPr>
              <a:t> Mã nhân viên (UNIQUE)</a:t>
            </a:r>
          </a:p>
          <a:p>
            <a:pPr>
              <a:spcBef>
                <a:spcPts val="400"/>
              </a:spcBef>
            </a:pPr>
            <a:r>
              <a:rPr b="1" sz="1250">
                <a:solidFill>
                  <a:srgbClr val="0F172A"/>
                </a:solidFill>
              </a:rPr>
              <a:t>• full_name: </a:t>
            </a:r>
            <a:r>
              <a:rPr sz="1250">
                <a:solidFill>
                  <a:srgbClr val="475569"/>
                </a:solidFill>
              </a:rPr>
              <a:t> Họ và tên nhân viên</a:t>
            </a:r>
          </a:p>
          <a:p>
            <a:pPr>
              <a:spcBef>
                <a:spcPts val="400"/>
              </a:spcBef>
            </a:pPr>
            <a:r>
              <a:rPr b="1" sz="1250">
                <a:solidFill>
                  <a:srgbClr val="0F172A"/>
                </a:solidFill>
              </a:rPr>
              <a:t>• identity_card_number: </a:t>
            </a:r>
            <a:r>
              <a:rPr sz="1250">
                <a:solidFill>
                  <a:srgbClr val="475569"/>
                </a:solidFill>
              </a:rPr>
              <a:t> Số CCCD (UNIQUE)</a:t>
            </a:r>
          </a:p>
          <a:p>
            <a:pPr>
              <a:spcBef>
                <a:spcPts val="400"/>
              </a:spcBef>
            </a:pPr>
            <a:r>
              <a:rPr b="1" sz="1250">
                <a:solidFill>
                  <a:srgbClr val="0F172A"/>
                </a:solidFill>
              </a:rPr>
              <a:t>• email: </a:t>
            </a:r>
            <a:r>
              <a:rPr sz="1250">
                <a:solidFill>
                  <a:srgbClr val="475569"/>
                </a:solidFill>
              </a:rPr>
              <a:t> Email liên hệ (UNIQUE)</a:t>
            </a:r>
          </a:p>
          <a:p>
            <a:pPr>
              <a:spcBef>
                <a:spcPts val="400"/>
              </a:spcBef>
            </a:pPr>
            <a:r>
              <a:rPr b="1" sz="1250">
                <a:solidFill>
                  <a:srgbClr val="0F172A"/>
                </a:solidFill>
              </a:rPr>
              <a:t>• department_id (FK): </a:t>
            </a:r>
            <a:r>
              <a:rPr sz="1250">
                <a:solidFill>
                  <a:srgbClr val="475569"/>
                </a:solidFill>
              </a:rPr>
              <a:t> Khóa ngoại liên kết phòng ban</a:t>
            </a:r>
          </a:p>
          <a:p>
            <a:pPr>
              <a:spcBef>
                <a:spcPts val="400"/>
              </a:spcBef>
            </a:pPr>
            <a:r>
              <a:rPr b="1" sz="1250">
                <a:solidFill>
                  <a:srgbClr val="0F172A"/>
                </a:solidFill>
              </a:rPr>
              <a:t>• hire_date, status: </a:t>
            </a:r>
            <a:r>
              <a:rPr sz="1250">
                <a:solidFill>
                  <a:srgbClr val="475569"/>
                </a:solidFill>
              </a:rPr>
              <a:t> Ngày vào làm, trạng thái</a:t>
            </a:r>
          </a:p>
        </p:txBody>
      </p:sp>
      <p:sp>
        <p:nvSpPr>
          <p:cNvPr id="13" name="Rounded Rectangle 12"/>
          <p:cNvSpPr/>
          <p:nvPr/>
        </p:nvSpPr>
        <p:spPr>
          <a:xfrm>
            <a:off x="4425696" y="1645920"/>
            <a:ext cx="3328416"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25696" y="1645920"/>
            <a:ext cx="3328416"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08576" y="1828800"/>
            <a:ext cx="2962656" cy="2926080"/>
          </a:xfrm>
          <a:prstGeom prst="rect">
            <a:avLst/>
          </a:prstGeom>
          <a:noFill/>
        </p:spPr>
        <p:txBody>
          <a:bodyPr wrap="square" lIns="0" tIns="0" rIns="0" bIns="0">
            <a:spAutoFit/>
          </a:bodyPr>
          <a:lstStyle/>
          <a:p>
            <a:r>
              <a:rPr sz="1500" b="1">
                <a:solidFill>
                  <a:srgbClr val="2563EB"/>
                </a:solidFill>
                <a:latin typeface="Segoe UI"/>
              </a:rPr>
              <a:t>BẢNG TÀI KHOẢN (user_accounts)</a:t>
            </a:r>
          </a:p>
          <a:p>
            <a:pPr>
              <a:spcBef>
                <a:spcPts val="400"/>
              </a:spcBef>
            </a:pPr>
            <a:r>
              <a:rPr b="1" sz="1250">
                <a:solidFill>
                  <a:srgbClr val="0F172A"/>
                </a:solidFill>
              </a:rPr>
              <a:t>• id (PK): </a:t>
            </a:r>
            <a:r>
              <a:rPr sz="1250">
                <a:solidFill>
                  <a:srgbClr val="475569"/>
                </a:solidFill>
              </a:rPr>
              <a:t> Khóa chính tự tăng (BIGINT)</a:t>
            </a:r>
          </a:p>
          <a:p>
            <a:pPr>
              <a:spcBef>
                <a:spcPts val="400"/>
              </a:spcBef>
            </a:pPr>
            <a:r>
              <a:rPr b="1" sz="1250">
                <a:solidFill>
                  <a:srgbClr val="0F172A"/>
                </a:solidFill>
              </a:rPr>
              <a:t>• employee_id (FK): </a:t>
            </a:r>
            <a:r>
              <a:rPr sz="1250">
                <a:solidFill>
                  <a:srgbClr val="475569"/>
                </a:solidFill>
              </a:rPr>
              <a:t> Khóa ngoại 1-1 với nhân viên</a:t>
            </a:r>
          </a:p>
          <a:p>
            <a:pPr>
              <a:spcBef>
                <a:spcPts val="400"/>
              </a:spcBef>
            </a:pPr>
            <a:r>
              <a:rPr b="1" sz="1250">
                <a:solidFill>
                  <a:srgbClr val="0F172A"/>
                </a:solidFill>
              </a:rPr>
              <a:t>• username: </a:t>
            </a:r>
            <a:r>
              <a:rPr sz="1250">
                <a:solidFill>
                  <a:srgbClr val="475569"/>
                </a:solidFill>
              </a:rPr>
              <a:t> Tên đăng nhập (UNIQUE)</a:t>
            </a:r>
          </a:p>
          <a:p>
            <a:pPr>
              <a:spcBef>
                <a:spcPts val="400"/>
              </a:spcBef>
            </a:pPr>
            <a:r>
              <a:rPr b="1" sz="1250">
                <a:solidFill>
                  <a:srgbClr val="0F172A"/>
                </a:solidFill>
              </a:rPr>
              <a:t>• password_hash: </a:t>
            </a:r>
            <a:r>
              <a:rPr sz="1250">
                <a:solidFill>
                  <a:srgbClr val="475569"/>
                </a:solidFill>
              </a:rPr>
              <a:t> Mật khẩu băm (BCrypt)</a:t>
            </a:r>
          </a:p>
          <a:p>
            <a:pPr>
              <a:spcBef>
                <a:spcPts val="400"/>
              </a:spcBef>
            </a:pPr>
            <a:r>
              <a:rPr b="1" sz="1250">
                <a:solidFill>
                  <a:srgbClr val="0F172A"/>
                </a:solidFill>
              </a:rPr>
              <a:t>• role: </a:t>
            </a:r>
            <a:r>
              <a:rPr sz="1250">
                <a:solidFill>
                  <a:srgbClr val="475569"/>
                </a:solidFill>
              </a:rPr>
              <a:t> ROLE_ADMIN, ROLE_HR, ROLE_EMPLOYEE</a:t>
            </a:r>
          </a:p>
          <a:p>
            <a:pPr>
              <a:spcBef>
                <a:spcPts val="400"/>
              </a:spcBef>
            </a:pPr>
            <a:r>
              <a:rPr b="1" sz="1250">
                <a:solidFill>
                  <a:srgbClr val="0F172A"/>
                </a:solidFill>
              </a:rPr>
              <a:t>• is_active: </a:t>
            </a:r>
            <a:r>
              <a:rPr sz="1250">
                <a:solidFill>
                  <a:srgbClr val="475569"/>
                </a:solidFill>
              </a:rPr>
              <a:t> Trạng thái kích hoạt tài khoản</a:t>
            </a:r>
          </a:p>
        </p:txBody>
      </p:sp>
      <p:sp>
        <p:nvSpPr>
          <p:cNvPr id="16" name="Rounded Rectangle 15"/>
          <p:cNvSpPr/>
          <p:nvPr/>
        </p:nvSpPr>
        <p:spPr>
          <a:xfrm>
            <a:off x="8119872" y="1645920"/>
            <a:ext cx="3328416"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19872" y="1645920"/>
            <a:ext cx="3328416" cy="7315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1828800"/>
            <a:ext cx="2962656" cy="2926080"/>
          </a:xfrm>
          <a:prstGeom prst="rect">
            <a:avLst/>
          </a:prstGeom>
          <a:noFill/>
        </p:spPr>
        <p:txBody>
          <a:bodyPr wrap="square" lIns="0" tIns="0" rIns="0" bIns="0">
            <a:spAutoFit/>
          </a:bodyPr>
          <a:lstStyle/>
          <a:p>
            <a:r>
              <a:rPr sz="1500" b="1">
                <a:solidFill>
                  <a:srgbClr val="10B981"/>
                </a:solidFill>
                <a:latin typeface="Segoe UI"/>
              </a:rPr>
              <a:t>BẢNG CHẤM CÔNG (timesheets)</a:t>
            </a:r>
          </a:p>
          <a:p>
            <a:pPr>
              <a:spcBef>
                <a:spcPts val="400"/>
              </a:spcBef>
            </a:pPr>
            <a:r>
              <a:rPr b="1" sz="1250">
                <a:solidFill>
                  <a:srgbClr val="0F172A"/>
                </a:solidFill>
              </a:rPr>
              <a:t>• id (PK): </a:t>
            </a:r>
            <a:r>
              <a:rPr sz="1250">
                <a:solidFill>
                  <a:srgbClr val="475569"/>
                </a:solidFill>
              </a:rPr>
              <a:t> Khóa chính tự tăng (BIGINT)</a:t>
            </a:r>
          </a:p>
          <a:p>
            <a:pPr>
              <a:spcBef>
                <a:spcPts val="400"/>
              </a:spcBef>
            </a:pPr>
            <a:r>
              <a:rPr b="1" sz="1250">
                <a:solidFill>
                  <a:srgbClr val="0F172A"/>
                </a:solidFill>
              </a:rPr>
              <a:t>• employee_id (FK): </a:t>
            </a:r>
            <a:r>
              <a:rPr sz="1250">
                <a:solidFill>
                  <a:srgbClr val="475569"/>
                </a:solidFill>
              </a:rPr>
              <a:t> Khóa ngoại liên kết nhân viên</a:t>
            </a:r>
          </a:p>
          <a:p>
            <a:pPr>
              <a:spcBef>
                <a:spcPts val="400"/>
              </a:spcBef>
            </a:pPr>
            <a:r>
              <a:rPr b="1" sz="1250">
                <a:solidFill>
                  <a:srgbClr val="0F172A"/>
                </a:solidFill>
              </a:rPr>
              <a:t>• work_date: </a:t>
            </a:r>
            <a:r>
              <a:rPr sz="1250">
                <a:solidFill>
                  <a:srgbClr val="475569"/>
                </a:solidFill>
              </a:rPr>
              <a:t> Ngày làm việc (DATE)</a:t>
            </a:r>
          </a:p>
          <a:p>
            <a:pPr>
              <a:spcBef>
                <a:spcPts val="400"/>
              </a:spcBef>
            </a:pPr>
            <a:r>
              <a:rPr b="1" sz="1250">
                <a:solidFill>
                  <a:srgbClr val="0F172A"/>
                </a:solidFill>
              </a:rPr>
              <a:t>• check_in_time: </a:t>
            </a:r>
            <a:r>
              <a:rPr sz="1250">
                <a:solidFill>
                  <a:srgbClr val="475569"/>
                </a:solidFill>
              </a:rPr>
              <a:t> Thời điểm Check-in (DATETIME)</a:t>
            </a:r>
          </a:p>
          <a:p>
            <a:pPr>
              <a:spcBef>
                <a:spcPts val="400"/>
              </a:spcBef>
            </a:pPr>
            <a:r>
              <a:rPr b="1" sz="1250">
                <a:solidFill>
                  <a:srgbClr val="0F172A"/>
                </a:solidFill>
              </a:rPr>
              <a:t>• check_out_time: </a:t>
            </a:r>
            <a:r>
              <a:rPr sz="1250">
                <a:solidFill>
                  <a:srgbClr val="475569"/>
                </a:solidFill>
              </a:rPr>
              <a:t> Thời điểm Check-out (DATETIME)</a:t>
            </a:r>
          </a:p>
          <a:p>
            <a:pPr>
              <a:spcBef>
                <a:spcPts val="400"/>
              </a:spcBef>
            </a:pPr>
            <a:r>
              <a:rPr b="1" sz="1250">
                <a:solidFill>
                  <a:srgbClr val="0F172A"/>
                </a:solidFill>
              </a:rPr>
              <a:t>• working_days_counted: </a:t>
            </a:r>
            <a:r>
              <a:rPr sz="1250">
                <a:solidFill>
                  <a:srgbClr val="475569"/>
                </a:solidFill>
              </a:rPr>
              <a:t> Số ngày công tính toán (1.0 / 0.5)</a:t>
            </a:r>
          </a:p>
          <a:p>
            <a:pPr>
              <a:spcBef>
                <a:spcPts val="400"/>
              </a:spcBef>
            </a:pPr>
            <a:r>
              <a:rPr b="1" sz="1250">
                <a:solidFill>
                  <a:srgbClr val="0F172A"/>
                </a:solidFill>
              </a:rPr>
              <a:t>• attendance_status: </a:t>
            </a:r>
            <a:r>
              <a:rPr sz="1250">
                <a:solidFill>
                  <a:srgbClr val="475569"/>
                </a:solidFill>
              </a:rPr>
              <a:t> Đúng giờ, Đi muộn, Về sớm</a:t>
            </a:r>
          </a:p>
        </p:txBody>
      </p:sp>
      <p:sp>
        <p:nvSpPr>
          <p:cNvPr id="19" name="Rounded Rectangle 18"/>
          <p:cNvSpPr/>
          <p:nvPr/>
        </p:nvSpPr>
        <p:spPr>
          <a:xfrm>
            <a:off x="731520" y="5120640"/>
            <a:ext cx="10728655" cy="1143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31520" y="5120640"/>
            <a:ext cx="10728655"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5212080"/>
            <a:ext cx="10241280" cy="960120"/>
          </a:xfrm>
          <a:prstGeom prst="rect">
            <a:avLst/>
          </a:prstGeom>
          <a:noFill/>
        </p:spPr>
        <p:txBody>
          <a:bodyPr wrap="square" lIns="0" tIns="0" rIns="0" bIns="0">
            <a:spAutoFit/>
          </a:bodyPr>
          <a:lstStyle/>
          <a:p>
            <a:r>
              <a:rPr sz="1400" b="1">
                <a:solidFill>
                  <a:srgbClr val="0D9488"/>
                </a:solidFill>
                <a:latin typeface="Segoe UI"/>
              </a:rPr>
              <a:t>SƠ ĐỒ QUAN HỆ CƠ SỞ DỮ LIỆU CHUẨN HÓA (ENTITY-RELATIONSHIP):</a:t>
            </a:r>
          </a:p>
          <a:p>
            <a:pPr>
              <a:spcBef>
                <a:spcPts val="300"/>
              </a:spcBef>
            </a:pPr>
            <a:r>
              <a:rPr sz="1350" b="1">
                <a:solidFill>
                  <a:srgbClr val="1E3A8A"/>
                </a:solidFill>
                <a:latin typeface="Segoe UI"/>
              </a:rPr>
              <a:t>[Phòng ban: departments] (1) ───&lt; Có nhiều &gt;─── (N) [Nhân viên: employees]
[Nhân viên: employees] (1) ───&lt; Sở hữu 1:1 &gt;─── (1) [Tài khoản: user_accounts]
[Nhân viên: employees] (1) ───&lt; Ghi nhận hàng ngày &gt;─── (N) [Chấm công: timesheets]</a:t>
            </a:r>
          </a:p>
        </p:txBody>
      </p:sp>
    </p:spTree>
  </p:cSld>
  <p:clrMapOvr>
    <a:masterClrMapping/>
  </p:clrMapOvr>
  <p:transition spd="med" advClick="1">
    <p:blinds dir="vert"/>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20624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50" b="1">
                <a:solidFill>
                  <a:srgbClr val="1E3A8A"/>
                </a:solidFill>
                <a:latin typeface="Segoe UI"/>
              </a:rPr>
              <a:t>KIỂM THỬ &amp; KẾT QUẢ</a:t>
            </a:r>
          </a:p>
        </p:txBody>
      </p:sp>
      <p:sp>
        <p:nvSpPr>
          <p:cNvPr id="5" name="TextBox 4"/>
          <p:cNvSpPr txBox="1"/>
          <p:nvPr/>
        </p:nvSpPr>
        <p:spPr>
          <a:xfrm>
            <a:off x="731520" y="658368"/>
            <a:ext cx="10728655" cy="777240"/>
          </a:xfrm>
          <a:prstGeom prst="rect">
            <a:avLst/>
          </a:prstGeom>
          <a:noFill/>
        </p:spPr>
        <p:txBody>
          <a:bodyPr wrap="square" lIns="0" tIns="0" rIns="0" bIns="0">
            <a:spAutoFit/>
          </a:bodyPr>
          <a:lstStyle/>
          <a:p>
            <a:pPr>
              <a:spcAft>
                <a:spcPts val="200"/>
              </a:spcAft>
            </a:pPr>
            <a:r>
              <a:rPr sz="2800" b="1">
                <a:solidFill>
                  <a:srgbClr val="0F172A"/>
                </a:solidFill>
                <a:latin typeface="Segoe UI"/>
              </a:rPr>
              <a:t>09. Kịch bản kiểm thử chức năng &amp; Kết quả thực tế đã xác minh</a:t>
            </a:r>
          </a:p>
          <a:p>
            <a:r>
              <a:rPr sz="1500">
                <a:solidFill>
                  <a:srgbClr val="475569"/>
                </a:solidFill>
                <a:latin typeface="Segoe UI"/>
              </a:rPr>
              <a:t>Kiểm thử thực tế: Đăng nhập, Ghi nhận giờ vào/ra, Dữ liệu lịch sử và Phân quyền</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320040"/>
          </a:xfrm>
          <a:prstGeom prst="rect">
            <a:avLst/>
          </a:prstGeom>
          <a:noFill/>
        </p:spPr>
        <p:txBody>
          <a:bodyPr wrap="none" lIns="0" tIns="0" rIns="0" bIns="0">
            <a:spAutoFit/>
          </a:bodyPr>
          <a:lstStyle/>
          <a:p>
            <a:r>
              <a:rPr sz="1250">
                <a:solidFill>
                  <a:srgbClr val="475569"/>
                </a:solidFill>
                <a:latin typeface="Segoe UI"/>
              </a:rPr>
              <a:t>Lập trình ứng dụng Web | Hệ thống Chấm công &amp; Quản lý nhân viên</a:t>
            </a:r>
          </a:p>
        </p:txBody>
      </p:sp>
      <p:sp>
        <p:nvSpPr>
          <p:cNvPr id="8" name="TextBox 7"/>
          <p:cNvSpPr txBox="1"/>
          <p:nvPr/>
        </p:nvSpPr>
        <p:spPr>
          <a:xfrm>
            <a:off x="5029200" y="6446520"/>
            <a:ext cx="4572000" cy="320040"/>
          </a:xfrm>
          <a:prstGeom prst="rect">
            <a:avLst/>
          </a:prstGeom>
          <a:noFill/>
        </p:spPr>
        <p:txBody>
          <a:bodyPr wrap="none" lIns="0" tIns="0" rIns="0" bIns="0">
            <a:spAutoFit/>
          </a:bodyPr>
          <a:lstStyle/>
          <a:p>
            <a:r>
              <a:rPr sz="1250">
                <a:solidFill>
                  <a:srgbClr val="475569"/>
                </a:solidFill>
                <a:latin typeface="Segoe UI"/>
              </a:rPr>
              <a:t>Trần Viết Mạnh Cường (23K4080003) | ĐH Kinh tế Huế</a:t>
            </a:r>
          </a:p>
        </p:txBody>
      </p:sp>
      <p:sp>
        <p:nvSpPr>
          <p:cNvPr id="9" name="Rounded Rectangle 8"/>
          <p:cNvSpPr/>
          <p:nvPr/>
        </p:nvSpPr>
        <p:spPr>
          <a:xfrm>
            <a:off x="10728655" y="6446520"/>
            <a:ext cx="731520" cy="25603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250" b="1">
                <a:solidFill>
                  <a:srgbClr val="FFFFFF"/>
                </a:solidFill>
                <a:latin typeface="Segoe UI"/>
              </a:rPr>
              <a:t>10 / 12</a:t>
            </a:r>
          </a:p>
        </p:txBody>
      </p:sp>
      <p:graphicFrame>
        <p:nvGraphicFramePr>
          <p:cNvPr id="10" name="Table 9"/>
          <p:cNvGraphicFramePr>
            <a:graphicFrameLocks noGrp="1"/>
          </p:cNvGraphicFramePr>
          <p:nvPr/>
        </p:nvGraphicFramePr>
        <p:xfrm>
          <a:off x="731520" y="1645920"/>
          <a:ext cx="10728655" cy="3291840"/>
        </p:xfrm>
        <a:graphic>
          <a:graphicData uri="http://schemas.openxmlformats.org/drawingml/2006/table">
            <a:tbl>
              <a:tblPr firstRow="1" bandRow="1">
                <a:tableStyleId>{5C22544A-7EE6-4342-B048-85BDC9FD1C3A}</a:tableStyleId>
              </a:tblPr>
              <a:tblGrid>
                <a:gridCol w="1005840"/>
                <a:gridCol w="2834640"/>
                <a:gridCol w="3291840"/>
                <a:gridCol w="2499055"/>
                <a:gridCol w="1097280"/>
              </a:tblGrid>
              <a:tr h="658368">
                <a:tc>
                  <a:txBody>
                    <a:bodyPr/>
                    <a:lstStyle/>
                    <a:p>
                      <a:pPr algn="ctr"/>
                      <a:r>
                        <a:rPr sz="1400" b="1">
                          <a:solidFill>
                            <a:srgbClr val="FFFFFF"/>
                          </a:solidFill>
                          <a:latin typeface="Segoe UI"/>
                        </a:rPr>
                        <a:t>STT</a:t>
                      </a:r>
                    </a:p>
                  </a:txBody>
                  <a:tcPr>
                    <a:solidFill>
                      <a:srgbClr val="1E3A8A"/>
                    </a:solidFill>
                  </a:tcPr>
                </a:tc>
                <a:tc>
                  <a:txBody>
                    <a:bodyPr/>
                    <a:lstStyle/>
                    <a:p>
                      <a:pPr algn="ctr"/>
                      <a:r>
                        <a:rPr sz="1400" b="1">
                          <a:solidFill>
                            <a:srgbClr val="FFFFFF"/>
                          </a:solidFill>
                          <a:latin typeface="Segoe UI"/>
                        </a:rPr>
                        <a:t>Chức Năng Kiểm Thử</a:t>
                      </a:r>
                    </a:p>
                  </a:txBody>
                  <a:tcPr>
                    <a:solidFill>
                      <a:srgbClr val="1E3A8A"/>
                    </a:solidFill>
                  </a:tcPr>
                </a:tc>
                <a:tc>
                  <a:txBody>
                    <a:bodyPr/>
                    <a:lstStyle/>
                    <a:p>
                      <a:pPr algn="ctr"/>
                      <a:r>
                        <a:rPr sz="1400" b="1">
                          <a:solidFill>
                            <a:srgbClr val="FFFFFF"/>
                          </a:solidFill>
                          <a:latin typeface="Segoe UI"/>
                        </a:rPr>
                        <a:t>Kịch Bản &amp; Thao Tác</a:t>
                      </a:r>
                    </a:p>
                  </a:txBody>
                  <a:tcPr>
                    <a:solidFill>
                      <a:srgbClr val="1E3A8A"/>
                    </a:solidFill>
                  </a:tcPr>
                </a:tc>
                <a:tc>
                  <a:txBody>
                    <a:bodyPr/>
                    <a:lstStyle/>
                    <a:p>
                      <a:pPr algn="ctr"/>
                      <a:r>
                        <a:rPr sz="1400" b="1">
                          <a:solidFill>
                            <a:srgbClr val="FFFFFF"/>
                          </a:solidFill>
                          <a:latin typeface="Segoe UI"/>
                        </a:rPr>
                        <a:t>Kết Quả Thực Tế Xác Minh</a:t>
                      </a:r>
                    </a:p>
                  </a:txBody>
                  <a:tcPr>
                    <a:solidFill>
                      <a:srgbClr val="1E3A8A"/>
                    </a:solidFill>
                  </a:tcPr>
                </a:tc>
                <a:tc>
                  <a:txBody>
                    <a:bodyPr/>
                    <a:lstStyle/>
                    <a:p>
                      <a:pPr algn="ctr"/>
                      <a:r>
                        <a:rPr sz="1400" b="1">
                          <a:solidFill>
                            <a:srgbClr val="FFFFFF"/>
                          </a:solidFill>
                          <a:latin typeface="Segoe UI"/>
                        </a:rPr>
                        <a:t>Đánh Giá</a:t>
                      </a:r>
                    </a:p>
                  </a:txBody>
                  <a:tcPr>
                    <a:solidFill>
                      <a:srgbClr val="1E3A8A"/>
                    </a:solidFill>
                  </a:tcPr>
                </a:tc>
              </a:tr>
              <a:tr h="658368">
                <a:tc>
                  <a:txBody>
                    <a:bodyPr/>
                    <a:lstStyle/>
                    <a:p>
                      <a:pPr algn="ctr"/>
                      <a:r>
                        <a:rPr sz="1250" b="1">
                          <a:solidFill>
                            <a:srgbClr val="1E3A8A"/>
                          </a:solidFill>
                          <a:latin typeface="Segoe UI"/>
                        </a:rPr>
                        <a:t>TC01</a:t>
                      </a:r>
                    </a:p>
                  </a:txBody>
                  <a:tcPr>
                    <a:solidFill>
                      <a:srgbClr val="FFFFFF"/>
                    </a:solidFill>
                  </a:tcPr>
                </a:tc>
                <a:tc>
                  <a:txBody>
                    <a:bodyPr/>
                    <a:lstStyle/>
                    <a:p>
                      <a:r>
                        <a:rPr sz="1250">
                          <a:solidFill>
                            <a:srgbClr val="0F172A"/>
                          </a:solidFill>
                          <a:latin typeface="Segoe UI"/>
                        </a:rPr>
                        <a:t>Kiểm tra Đăng nhập</a:t>
                      </a:r>
                    </a:p>
                  </a:txBody>
                  <a:tcPr>
                    <a:solidFill>
                      <a:srgbClr val="FFFFFF"/>
                    </a:solidFill>
                  </a:tcPr>
                </a:tc>
                <a:tc>
                  <a:txBody>
                    <a:bodyPr/>
                    <a:lstStyle/>
                    <a:p>
                      <a:r>
                        <a:rPr sz="1250">
                          <a:solidFill>
                            <a:srgbClr val="0F172A"/>
                          </a:solidFill>
                          <a:latin typeface="Segoe UI"/>
                        </a:rPr>
                        <a:t>Nhập đúng tài khoản/mật khẩu; Thử nghiệm nhập sai mật khẩu</a:t>
                      </a:r>
                    </a:p>
                  </a:txBody>
                  <a:tcPr>
                    <a:solidFill>
                      <a:srgbClr val="FFFFFF"/>
                    </a:solidFill>
                  </a:tcPr>
                </a:tc>
                <a:tc>
                  <a:txBody>
                    <a:bodyPr/>
                    <a:lstStyle/>
                    <a:p>
                      <a:r>
                        <a:rPr sz="1250">
                          <a:solidFill>
                            <a:srgbClr val="0F172A"/>
                          </a:solidFill>
                          <a:latin typeface="Segoe UI"/>
                        </a:rPr>
                        <a:t>Đăng nhập đúng: Chuyển trang thành công;
Sai mật khẩu: Báo lỗi đỏ, không lộ mật khẩu</a:t>
                      </a:r>
                    </a:p>
                  </a:txBody>
                  <a:tcPr>
                    <a:solidFill>
                      <a:srgbClr val="FFFFFF"/>
                    </a:solidFill>
                  </a:tcPr>
                </a:tc>
                <a:tc>
                  <a:txBody>
                    <a:bodyPr/>
                    <a:lstStyle/>
                    <a:p>
                      <a:pPr algn="ctr"/>
                      <a:r>
                        <a:rPr sz="1250" b="1">
                          <a:solidFill>
                            <a:srgbClr val="10B981"/>
                          </a:solidFill>
                          <a:latin typeface="Segoe UI"/>
                        </a:rPr>
                        <a:t>ĐẠT (100%)</a:t>
                      </a:r>
                    </a:p>
                  </a:txBody>
                  <a:tcPr>
                    <a:solidFill>
                      <a:srgbClr val="FFFFFF"/>
                    </a:solidFill>
                  </a:tcPr>
                </a:tc>
              </a:tr>
              <a:tr h="658368">
                <a:tc>
                  <a:txBody>
                    <a:bodyPr/>
                    <a:lstStyle/>
                    <a:p>
                      <a:pPr algn="ctr"/>
                      <a:r>
                        <a:rPr sz="1250" b="1">
                          <a:solidFill>
                            <a:srgbClr val="1E3A8A"/>
                          </a:solidFill>
                          <a:latin typeface="Segoe UI"/>
                        </a:rPr>
                        <a:t>TC02</a:t>
                      </a:r>
                    </a:p>
                  </a:txBody>
                  <a:tcPr>
                    <a:solidFill>
                      <a:srgbClr val="F1F5F9"/>
                    </a:solidFill>
                  </a:tcPr>
                </a:tc>
                <a:tc>
                  <a:txBody>
                    <a:bodyPr/>
                    <a:lstStyle/>
                    <a:p>
                      <a:r>
                        <a:rPr sz="1250">
                          <a:solidFill>
                            <a:srgbClr val="0F172A"/>
                          </a:solidFill>
                          <a:latin typeface="Segoe UI"/>
                        </a:rPr>
                        <a:t>Kiểm tra Ghi nhận Giờ vào / ra</a:t>
                      </a:r>
                    </a:p>
                  </a:txBody>
                  <a:tcPr>
                    <a:solidFill>
                      <a:srgbClr val="F1F5F9"/>
                    </a:solidFill>
                  </a:tcPr>
                </a:tc>
                <a:tc>
                  <a:txBody>
                    <a:bodyPr/>
                    <a:lstStyle/>
                    <a:p>
                      <a:r>
                        <a:rPr sz="1250">
                          <a:solidFill>
                            <a:srgbClr val="0F172A"/>
                          </a:solidFill>
                          <a:latin typeface="Segoe UI"/>
                        </a:rPr>
                        <a:t>Bấm nút Check-in đầu ca và Check-out cuối ca</a:t>
                      </a:r>
                    </a:p>
                  </a:txBody>
                  <a:tcPr>
                    <a:solidFill>
                      <a:srgbClr val="F1F5F9"/>
                    </a:solidFill>
                  </a:tcPr>
                </a:tc>
                <a:tc>
                  <a:txBody>
                    <a:bodyPr/>
                    <a:lstStyle/>
                    <a:p>
                      <a:r>
                        <a:rPr sz="1250">
                          <a:solidFill>
                            <a:srgbClr val="0F172A"/>
                          </a:solidFill>
                          <a:latin typeface="Segoe UI"/>
                        </a:rPr>
                        <a:t>Ghi nhận chính xác mốc giờ hệ thống vào CSDL;
Chặn bấm Check-in lần 2 trong cùng ca</a:t>
                      </a:r>
                    </a:p>
                  </a:txBody>
                  <a:tcPr>
                    <a:solidFill>
                      <a:srgbClr val="F1F5F9"/>
                    </a:solidFill>
                  </a:tcPr>
                </a:tc>
                <a:tc>
                  <a:txBody>
                    <a:bodyPr/>
                    <a:lstStyle/>
                    <a:p>
                      <a:pPr algn="ctr"/>
                      <a:r>
                        <a:rPr sz="1250" b="1">
                          <a:solidFill>
                            <a:srgbClr val="10B981"/>
                          </a:solidFill>
                          <a:latin typeface="Segoe UI"/>
                        </a:rPr>
                        <a:t>ĐẠT (100%)</a:t>
                      </a:r>
                    </a:p>
                  </a:txBody>
                  <a:tcPr>
                    <a:solidFill>
                      <a:srgbClr val="F1F5F9"/>
                    </a:solidFill>
                  </a:tcPr>
                </a:tc>
              </a:tr>
              <a:tr h="658368">
                <a:tc>
                  <a:txBody>
                    <a:bodyPr/>
                    <a:lstStyle/>
                    <a:p>
                      <a:pPr algn="ctr"/>
                      <a:r>
                        <a:rPr sz="1250" b="1">
                          <a:solidFill>
                            <a:srgbClr val="1E3A8A"/>
                          </a:solidFill>
                          <a:latin typeface="Segoe UI"/>
                        </a:rPr>
                        <a:t>TC03</a:t>
                      </a:r>
                    </a:p>
                  </a:txBody>
                  <a:tcPr>
                    <a:solidFill>
                      <a:srgbClr val="FFFFFF"/>
                    </a:solidFill>
                  </a:tcPr>
                </a:tc>
                <a:tc>
                  <a:txBody>
                    <a:bodyPr/>
                    <a:lstStyle/>
                    <a:p>
                      <a:r>
                        <a:rPr sz="1250">
                          <a:solidFill>
                            <a:srgbClr val="0F172A"/>
                          </a:solidFill>
                          <a:latin typeface="Segoe UI"/>
                        </a:rPr>
                        <a:t>Kiểm tra Dữ liệu Lịch sử công</a:t>
                      </a:r>
                    </a:p>
                  </a:txBody>
                  <a:tcPr>
                    <a:solidFill>
                      <a:srgbClr val="FFFFFF"/>
                    </a:solidFill>
                  </a:tcPr>
                </a:tc>
                <a:tc>
                  <a:txBody>
                    <a:bodyPr/>
                    <a:lstStyle/>
                    <a:p>
                      <a:r>
                        <a:rPr sz="1250">
                          <a:solidFill>
                            <a:srgbClr val="0F172A"/>
                          </a:solidFill>
                          <a:latin typeface="Segoe UI"/>
                        </a:rPr>
                        <a:t>Truy cập tra cứu bảng công tháng cá nhân</a:t>
                      </a:r>
                    </a:p>
                  </a:txBody>
                  <a:tcPr>
                    <a:solidFill>
                      <a:srgbClr val="FFFFFF"/>
                    </a:solidFill>
                  </a:tcPr>
                </a:tc>
                <a:tc>
                  <a:txBody>
                    <a:bodyPr/>
                    <a:lstStyle/>
                    <a:p>
                      <a:r>
                        <a:rPr sz="1250">
                          <a:solidFill>
                            <a:srgbClr val="0F172A"/>
                          </a:solidFill>
                          <a:latin typeface="Segoe UI"/>
                        </a:rPr>
                        <a:t>Hiển thị đầy đủ danh sách ngày công, mốc giờ vào ra và trạng thái đúng giờ</a:t>
                      </a:r>
                    </a:p>
                  </a:txBody>
                  <a:tcPr>
                    <a:solidFill>
                      <a:srgbClr val="FFFFFF"/>
                    </a:solidFill>
                  </a:tcPr>
                </a:tc>
                <a:tc>
                  <a:txBody>
                    <a:bodyPr/>
                    <a:lstStyle/>
                    <a:p>
                      <a:pPr algn="ctr"/>
                      <a:r>
                        <a:rPr sz="1250" b="1">
                          <a:solidFill>
                            <a:srgbClr val="10B981"/>
                          </a:solidFill>
                          <a:latin typeface="Segoe UI"/>
                        </a:rPr>
                        <a:t>ĐẠT (100%)</a:t>
                      </a:r>
                    </a:p>
                  </a:txBody>
                  <a:tcPr>
                    <a:solidFill>
                      <a:srgbClr val="FFFFFF"/>
                    </a:solidFill>
                  </a:tcPr>
                </a:tc>
              </a:tr>
              <a:tr h="658368">
                <a:tc>
                  <a:txBody>
                    <a:bodyPr/>
                    <a:lstStyle/>
                    <a:p>
                      <a:pPr algn="ctr"/>
                      <a:r>
                        <a:rPr sz="1250" b="1">
                          <a:solidFill>
                            <a:srgbClr val="1E3A8A"/>
                          </a:solidFill>
                          <a:latin typeface="Segoe UI"/>
                        </a:rPr>
                        <a:t>TC04</a:t>
                      </a:r>
                    </a:p>
                  </a:txBody>
                  <a:tcPr>
                    <a:solidFill>
                      <a:srgbClr val="F1F5F9"/>
                    </a:solidFill>
                  </a:tcPr>
                </a:tc>
                <a:tc>
                  <a:txBody>
                    <a:bodyPr/>
                    <a:lstStyle/>
                    <a:p>
                      <a:r>
                        <a:rPr sz="1250">
                          <a:solidFill>
                            <a:srgbClr val="0F172A"/>
                          </a:solidFill>
                          <a:latin typeface="Segoe UI"/>
                        </a:rPr>
                        <a:t>Kiểm tra Phân quyền (RBAC)</a:t>
                      </a:r>
                    </a:p>
                  </a:txBody>
                  <a:tcPr>
                    <a:solidFill>
                      <a:srgbClr val="F1F5F9"/>
                    </a:solidFill>
                  </a:tcPr>
                </a:tc>
                <a:tc>
                  <a:txBody>
                    <a:bodyPr/>
                    <a:lstStyle/>
                    <a:p>
                      <a:r>
                        <a:rPr sz="1250">
                          <a:solidFill>
                            <a:srgbClr val="0F172A"/>
                          </a:solidFill>
                          <a:latin typeface="Segoe UI"/>
                        </a:rPr>
                        <a:t>Nhân viên thường cố tình gõ URL quản trị /admin/users</a:t>
                      </a:r>
                    </a:p>
                  </a:txBody>
                  <a:tcPr>
                    <a:solidFill>
                      <a:srgbClr val="F1F5F9"/>
                    </a:solidFill>
                  </a:tcPr>
                </a:tc>
                <a:tc>
                  <a:txBody>
                    <a:bodyPr/>
                    <a:lstStyle/>
                    <a:p>
                      <a:r>
                        <a:rPr sz="1250">
                          <a:solidFill>
                            <a:srgbClr val="0F172A"/>
                          </a:solidFill>
                          <a:latin typeface="Segoe UI"/>
                        </a:rPr>
                        <a:t>Hệ thống Router lập tức chặn lại và hiển thị cảnh báo từ chối truy cập (HTTP 403)</a:t>
                      </a:r>
                    </a:p>
                  </a:txBody>
                  <a:tcPr>
                    <a:solidFill>
                      <a:srgbClr val="F1F5F9"/>
                    </a:solidFill>
                  </a:tcPr>
                </a:tc>
                <a:tc>
                  <a:txBody>
                    <a:bodyPr/>
                    <a:lstStyle/>
                    <a:p>
                      <a:pPr algn="ctr"/>
                      <a:r>
                        <a:rPr sz="1250" b="1">
                          <a:solidFill>
                            <a:srgbClr val="10B981"/>
                          </a:solidFill>
                          <a:latin typeface="Segoe UI"/>
                        </a:rPr>
                        <a:t>ĐẠT (100%)</a:t>
                      </a:r>
                    </a:p>
                  </a:txBody>
                  <a:tcPr>
                    <a:solidFill>
                      <a:srgbClr val="F1F5F9"/>
                    </a:solidFill>
                  </a:tcPr>
                </a:tc>
              </a:tr>
            </a:tbl>
          </a:graphicData>
        </a:graphic>
      </p:graphicFrame>
      <p:sp>
        <p:nvSpPr>
          <p:cNvPr id="11" name="Rounded Rectangle 10"/>
          <p:cNvSpPr/>
          <p:nvPr/>
        </p:nvSpPr>
        <p:spPr>
          <a:xfrm>
            <a:off x="731520" y="5166360"/>
            <a:ext cx="10728655" cy="109728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5257800"/>
            <a:ext cx="10241280" cy="914400"/>
          </a:xfrm>
          <a:prstGeom prst="rect">
            <a:avLst/>
          </a:prstGeom>
          <a:noFill/>
        </p:spPr>
        <p:txBody>
          <a:bodyPr wrap="square" lIns="0" tIns="0" rIns="0" bIns="0">
            <a:spAutoFit/>
          </a:bodyPr>
          <a:lstStyle/>
          <a:p>
            <a:r>
              <a:rPr sz="1400" b="1">
                <a:solidFill>
                  <a:srgbClr val="10B981"/>
                </a:solidFill>
                <a:latin typeface="Segoe UI"/>
              </a:rPr>
              <a:t>★ KẾT LUẬN KIỂM THỬ THỰC TẾ: </a:t>
            </a:r>
            <a:r>
              <a:rPr sz="1350">
                <a:solidFill>
                  <a:srgbClr val="0F172A"/>
                </a:solidFill>
                <a:latin typeface="Segoe UI"/>
              </a:rPr>
              <a:t>Hệ thống đã trải qua kiểm thử thực tế trên máy chủ phát triển cục bộ và trình duyệt web. 100% các chức năng cốt lõi (Đăng nhập, Điểm danh giờ vào/ra, Lưu trữ CSDL, Tra cứu lịch sử và Phân quyền RBAC) đều hoạt động chuẩn xác theo đúng yêu cầu bài toán đặt ra.</a:t>
            </a:r>
          </a:p>
        </p:txBody>
      </p:sp>
    </p:spTree>
  </p:cSld>
  <p:clrMapOvr>
    <a:masterClrMapping/>
  </p:clrMapOvr>
  <p:transition spd="med" advClick="1">
    <p:diamond/>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20624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50" b="1">
                <a:solidFill>
                  <a:srgbClr val="1E3A8A"/>
                </a:solidFill>
                <a:latin typeface="Segoe UI"/>
              </a:rPr>
              <a:t>ĐÁNH GIÁ &amp; HƯỚNG PHÁT TRIỂN</a:t>
            </a:r>
          </a:p>
        </p:txBody>
      </p:sp>
      <p:sp>
        <p:nvSpPr>
          <p:cNvPr id="5" name="TextBox 4"/>
          <p:cNvSpPr txBox="1"/>
          <p:nvPr/>
        </p:nvSpPr>
        <p:spPr>
          <a:xfrm>
            <a:off x="731520" y="658368"/>
            <a:ext cx="10728655" cy="777240"/>
          </a:xfrm>
          <a:prstGeom prst="rect">
            <a:avLst/>
          </a:prstGeom>
          <a:noFill/>
        </p:spPr>
        <p:txBody>
          <a:bodyPr wrap="square" lIns="0" tIns="0" rIns="0" bIns="0">
            <a:spAutoFit/>
          </a:bodyPr>
          <a:lstStyle/>
          <a:p>
            <a:pPr>
              <a:spcAft>
                <a:spcPts val="200"/>
              </a:spcAft>
            </a:pPr>
            <a:r>
              <a:rPr sz="2800" b="1">
                <a:solidFill>
                  <a:srgbClr val="0F172A"/>
                </a:solidFill>
                <a:latin typeface="Segoe UI"/>
              </a:rPr>
              <a:t>10. Đánh giá ưu điểm, hạn chế &amp; Định hướng cải tiến</a:t>
            </a:r>
          </a:p>
          <a:p>
            <a:r>
              <a:rPr sz="1500">
                <a:solidFill>
                  <a:srgbClr val="475569"/>
                </a:solidFill>
                <a:latin typeface="Segoe UI"/>
              </a:rPr>
              <a:t>Nhìn nhận khách quan kết quả đạt được và định hướng mở rộng hệ thống trong tương lai</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320040"/>
          </a:xfrm>
          <a:prstGeom prst="rect">
            <a:avLst/>
          </a:prstGeom>
          <a:noFill/>
        </p:spPr>
        <p:txBody>
          <a:bodyPr wrap="none" lIns="0" tIns="0" rIns="0" bIns="0">
            <a:spAutoFit/>
          </a:bodyPr>
          <a:lstStyle/>
          <a:p>
            <a:r>
              <a:rPr sz="1250">
                <a:solidFill>
                  <a:srgbClr val="475569"/>
                </a:solidFill>
                <a:latin typeface="Segoe UI"/>
              </a:rPr>
              <a:t>Lập trình ứng dụng Web | Hệ thống Chấm công &amp; Quản lý nhân viên</a:t>
            </a:r>
          </a:p>
        </p:txBody>
      </p:sp>
      <p:sp>
        <p:nvSpPr>
          <p:cNvPr id="8" name="TextBox 7"/>
          <p:cNvSpPr txBox="1"/>
          <p:nvPr/>
        </p:nvSpPr>
        <p:spPr>
          <a:xfrm>
            <a:off x="5029200" y="6446520"/>
            <a:ext cx="4572000" cy="320040"/>
          </a:xfrm>
          <a:prstGeom prst="rect">
            <a:avLst/>
          </a:prstGeom>
          <a:noFill/>
        </p:spPr>
        <p:txBody>
          <a:bodyPr wrap="none" lIns="0" tIns="0" rIns="0" bIns="0">
            <a:spAutoFit/>
          </a:bodyPr>
          <a:lstStyle/>
          <a:p>
            <a:r>
              <a:rPr sz="1250">
                <a:solidFill>
                  <a:srgbClr val="475569"/>
                </a:solidFill>
                <a:latin typeface="Segoe UI"/>
              </a:rPr>
              <a:t>Trần Viết Mạnh Cường (23K4080003) | ĐH Kinh tế Huế</a:t>
            </a:r>
          </a:p>
        </p:txBody>
      </p:sp>
      <p:sp>
        <p:nvSpPr>
          <p:cNvPr id="9" name="Rounded Rectangle 8"/>
          <p:cNvSpPr/>
          <p:nvPr/>
        </p:nvSpPr>
        <p:spPr>
          <a:xfrm>
            <a:off x="10728655" y="6446520"/>
            <a:ext cx="731520" cy="25603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250" b="1">
                <a:solidFill>
                  <a:srgbClr val="FFFFFF"/>
                </a:solidFill>
                <a:latin typeface="Segoe UI"/>
              </a:rPr>
              <a:t>11 / 12</a:t>
            </a:r>
          </a:p>
        </p:txBody>
      </p:sp>
      <p:sp>
        <p:nvSpPr>
          <p:cNvPr id="10" name="Rounded Rectangle 9"/>
          <p:cNvSpPr/>
          <p:nvPr/>
        </p:nvSpPr>
        <p:spPr>
          <a:xfrm>
            <a:off x="731520" y="1645920"/>
            <a:ext cx="516636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645920"/>
            <a:ext cx="5166360" cy="7315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828800"/>
            <a:ext cx="4709160" cy="4114800"/>
          </a:xfrm>
          <a:prstGeom prst="rect">
            <a:avLst/>
          </a:prstGeom>
          <a:noFill/>
        </p:spPr>
        <p:txBody>
          <a:bodyPr wrap="square" lIns="0" tIns="0" rIns="0" bIns="0">
            <a:spAutoFit/>
          </a:bodyPr>
          <a:lstStyle/>
          <a:p>
            <a:r>
              <a:rPr sz="1750" b="1">
                <a:solidFill>
                  <a:srgbClr val="10B981"/>
                </a:solidFill>
                <a:latin typeface="Segoe UI"/>
              </a:rPr>
              <a:t>Ưu Điểm Nổi Bật Của Hệ Thống</a:t>
            </a:r>
          </a:p>
          <a:p>
            <a:pPr>
              <a:spcBef>
                <a:spcPts val="800"/>
              </a:spcBef>
            </a:pPr>
            <a:r>
              <a:rPr b="1" sz="1400">
                <a:solidFill>
                  <a:srgbClr val="0F172A"/>
                </a:solidFill>
              </a:rPr>
              <a:t>✓ Điểm danh khuôn mặt AI &amp; Chống giả mạo:
</a:t>
            </a:r>
            <a:r>
              <a:rPr sz="1250">
                <a:solidFill>
                  <a:srgbClr val="475569"/>
                </a:solidFill>
              </a:rPr>
              <a:t>    Kiosk Face Check-In tự động nhận diện danh tính và xác định ca trực mà không cần thao tác thủ công.</a:t>
            </a:r>
          </a:p>
          <a:p>
            <a:pPr>
              <a:spcBef>
                <a:spcPts val="800"/>
              </a:spcBef>
            </a:pPr>
            <a:r>
              <a:rPr b="1" sz="1400">
                <a:solidFill>
                  <a:srgbClr val="0F172A"/>
                </a:solidFill>
              </a:rPr>
              <a:t>✓ Quản lý 6 ca làm việc chuẩn hóa linh hoạt:
</a:t>
            </a:r>
            <a:r>
              <a:rPr sz="1250">
                <a:solidFill>
                  <a:srgbClr val="475569"/>
                </a:solidFill>
              </a:rPr>
              <a:t>    Hỗ trợ đầy đủ ca hành chính, ca sáng, ca chiều, ca tối, ca đêm (+30%) và ca gãy dịch vụ.</a:t>
            </a:r>
          </a:p>
          <a:p>
            <a:pPr>
              <a:spcBef>
                <a:spcPts val="800"/>
              </a:spcBef>
            </a:pPr>
            <a:r>
              <a:rPr b="1" sz="1400">
                <a:solidFill>
                  <a:srgbClr val="0F172A"/>
                </a:solidFill>
              </a:rPr>
              <a:t>✓ Bảng chấm công tổng hợp &amp; Xuất Excel:
</a:t>
            </a:r>
            <a:r>
              <a:rPr sz="1250">
                <a:solidFill>
                  <a:srgbClr val="475569"/>
                </a:solidFill>
              </a:rPr>
              <a:t>    Tự động đối soát công 20 nhân sự, xuất file Excel chuẩn và in ấn báo cáo nhanh chóng.</a:t>
            </a:r>
          </a:p>
          <a:p>
            <a:pPr>
              <a:spcBef>
                <a:spcPts val="800"/>
              </a:spcBef>
            </a:pPr>
            <a:r>
              <a:rPr b="1" sz="1400">
                <a:solidFill>
                  <a:srgbClr val="0F172A"/>
                </a:solidFill>
              </a:rPr>
              <a:t>✓ Phân quyền chặt chẽ &amp; Giao dịch an toàn:
</a:t>
            </a:r>
            <a:r>
              <a:rPr sz="1250">
                <a:solidFill>
                  <a:srgbClr val="475569"/>
                </a:solidFill>
              </a:rPr>
              <a:t>    Kiểm soát quyền đa cấp (Admin/HR/Manager/Employee) và khóa transaction SQL Server chống trùng lặp.</a:t>
            </a:r>
          </a:p>
        </p:txBody>
      </p:sp>
      <p:sp>
        <p:nvSpPr>
          <p:cNvPr id="13" name="Rounded Rectangle 12"/>
          <p:cNvSpPr/>
          <p:nvPr/>
        </p:nvSpPr>
        <p:spPr>
          <a:xfrm>
            <a:off x="6263640" y="1645920"/>
            <a:ext cx="516636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63640" y="1645920"/>
            <a:ext cx="5166360" cy="73152"/>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828800"/>
            <a:ext cx="4709160" cy="4114800"/>
          </a:xfrm>
          <a:prstGeom prst="rect">
            <a:avLst/>
          </a:prstGeom>
          <a:noFill/>
        </p:spPr>
        <p:txBody>
          <a:bodyPr wrap="square" lIns="0" tIns="0" rIns="0" bIns="0">
            <a:spAutoFit/>
          </a:bodyPr>
          <a:lstStyle/>
          <a:p>
            <a:r>
              <a:rPr sz="1750" b="1">
                <a:solidFill>
                  <a:srgbClr val="F59E0B"/>
                </a:solidFill>
                <a:latin typeface="Segoe UI"/>
              </a:rPr>
              <a:t>Hạn Chế &amp; Định Hướng Nâng Cấp</a:t>
            </a:r>
          </a:p>
          <a:p>
            <a:pPr>
              <a:spcBef>
                <a:spcPts val="600"/>
              </a:spcBef>
            </a:pPr>
            <a:r>
              <a:rPr b="1" sz="1350">
                <a:solidFill>
                  <a:srgbClr val="0F172A"/>
                </a:solidFill>
              </a:rPr>
              <a:t>• Hạn chế 1 - Ứng dụng di động định vị GPS:
</a:t>
            </a:r>
            <a:r>
              <a:rPr sz="1250">
                <a:solidFill>
                  <a:srgbClr val="475569"/>
                </a:solidFill>
              </a:rPr>
              <a:t>    Hiện tại vận hành trên Web Responsive, chưa có App Native cho nhân viên chấm công lưu động ngoài văn phòng.</a:t>
            </a:r>
          </a:p>
          <a:p>
            <a:pPr>
              <a:spcBef>
                <a:spcPts val="600"/>
              </a:spcBef>
            </a:pPr>
            <a:r>
              <a:rPr b="1" sz="1350">
                <a:solidFill>
                  <a:srgbClr val="0F172A"/>
                </a:solidFill>
              </a:rPr>
              <a:t>• Hạn chế 2 - Kết nối phần cứng máy vân tay:
</a:t>
            </a:r>
            <a:r>
              <a:rPr sz="1250">
                <a:solidFill>
                  <a:srgbClr val="475569"/>
                </a:solidFill>
              </a:rPr>
              <a:t>    Chưa viết module bridge kết nối socket trực tiếp tới máy quét vân tay ZKTeco/Ronald Jack qua mạng LAN.</a:t>
            </a:r>
          </a:p>
          <a:p>
            <a:pPr>
              <a:spcBef>
                <a:spcPts val="600"/>
              </a:spcBef>
            </a:pPr>
            <a:r>
              <a:rPr b="1" sz="1350">
                <a:solidFill>
                  <a:srgbClr val="0F172A"/>
                </a:solidFill>
              </a:rPr>
              <a:t>• Hướng cải tiến 1 - Mobile App Geofencing:
</a:t>
            </a:r>
            <a:r>
              <a:rPr sz="1250">
                <a:solidFill>
                  <a:srgbClr val="475569"/>
                </a:solidFill>
              </a:rPr>
              <a:t>    Xây dựng ứng dụng di động Flutter/React Native tích hợp định vị GPS vòng tròn bán kính cơ quan.</a:t>
            </a:r>
          </a:p>
          <a:p>
            <a:pPr>
              <a:spcBef>
                <a:spcPts val="600"/>
              </a:spcBef>
            </a:pPr>
            <a:r>
              <a:rPr b="1" sz="1350">
                <a:solidFill>
                  <a:srgbClr val="0F172A"/>
                </a:solidFill>
              </a:rPr>
              <a:t>• Hướng cải tiến 2 - Tích hợp phần cứng văn phòng:
</a:t>
            </a:r>
            <a:r>
              <a:rPr sz="1250">
                <a:solidFill>
                  <a:srgbClr val="475569"/>
                </a:solidFill>
              </a:rPr>
              <a:t>    Phát triển SDK Windows Service đồng bộ dữ liệu hai chiều với máy chấm công vân tay.</a:t>
            </a:r>
          </a:p>
          <a:p>
            <a:pPr>
              <a:spcBef>
                <a:spcPts val="600"/>
              </a:spcBef>
            </a:pPr>
            <a:r>
              <a:rPr b="1" sz="1350">
                <a:solidFill>
                  <a:srgbClr val="0F172A"/>
                </a:solidFill>
              </a:rPr>
              <a:t>• Hướng cải tiến 3 - Nâng cấp Trợ lý AI:
</a:t>
            </a:r>
            <a:r>
              <a:rPr sz="1250">
                <a:solidFill>
                  <a:srgbClr val="475569"/>
                </a:solidFill>
              </a:rPr>
              <a:t>    Mở rộng AI phân tích xu hướng nghỉ phép, dự báo nhu cầu nhân sự và cảnh báo nguy cơ kiệt sức.</a:t>
            </a:r>
          </a:p>
        </p:txBody>
      </p:sp>
    </p:spTree>
  </p:cSld>
  <p:clrMapOvr>
    <a:masterClrMapping/>
  </p:clrMapOvr>
  <p:transition spd="med" advClick="1">
    <p:zoom dir="in"/>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4114800" cy="320040"/>
          </a:xfrm>
          <a:prstGeom prst="roundRect">
            <a:avLst/>
          </a:prstGeom>
          <a:solidFill>
            <a:srgbClr val="172554"/>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400" b="1">
                <a:solidFill>
                  <a:srgbClr val="0EA5E9"/>
                </a:solidFill>
                <a:latin typeface="Segoe UI"/>
              </a:rPr>
              <a:t>TỔNG KẾT &amp; LỜI CẢM ƠN — 12 / 12</a:t>
            </a:r>
          </a:p>
        </p:txBody>
      </p:sp>
      <p:sp>
        <p:nvSpPr>
          <p:cNvPr id="5" name="TextBox 4"/>
          <p:cNvSpPr txBox="1"/>
          <p:nvPr/>
        </p:nvSpPr>
        <p:spPr>
          <a:xfrm>
            <a:off x="731520" y="960120"/>
            <a:ext cx="10728655" cy="731520"/>
          </a:xfrm>
          <a:prstGeom prst="rect">
            <a:avLst/>
          </a:prstGeom>
          <a:noFill/>
        </p:spPr>
        <p:txBody>
          <a:bodyPr wrap="square" lIns="0" tIns="0" rIns="0" bIns="0">
            <a:spAutoFit/>
          </a:bodyPr>
          <a:lstStyle/>
          <a:p>
            <a:r>
              <a:rPr sz="3200" b="1">
                <a:solidFill>
                  <a:srgbClr val="FFFFFF"/>
                </a:solidFill>
                <a:latin typeface="Segoe UI"/>
              </a:rPr>
              <a:t>Kết luận đề tài &amp; Trân trọng cảm ơn Thầy Cô</a:t>
            </a:r>
          </a:p>
        </p:txBody>
      </p:sp>
      <p:sp>
        <p:nvSpPr>
          <p:cNvPr id="6" name="Rounded Rectangle 5"/>
          <p:cNvSpPr/>
          <p:nvPr/>
        </p:nvSpPr>
        <p:spPr>
          <a:xfrm>
            <a:off x="731520" y="1783080"/>
            <a:ext cx="5166360" cy="4389120"/>
          </a:xfrm>
          <a:prstGeom prst="roundRect">
            <a:avLst/>
          </a:prstGeom>
          <a:solidFill>
            <a:srgbClr val="172554"/>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65960"/>
            <a:ext cx="4709160" cy="4023360"/>
          </a:xfrm>
          <a:prstGeom prst="rect">
            <a:avLst/>
          </a:prstGeom>
          <a:noFill/>
        </p:spPr>
        <p:txBody>
          <a:bodyPr wrap="square" lIns="0" tIns="0" rIns="0" bIns="0">
            <a:spAutoFit/>
          </a:bodyPr>
          <a:lstStyle/>
          <a:p>
            <a:r>
              <a:rPr sz="1750" b="1">
                <a:solidFill>
                  <a:srgbClr val="0EA5E9"/>
                </a:solidFill>
                <a:latin typeface="Segoe UI"/>
              </a:rPr>
              <a:t>Kết Quả Đạt Được &amp; Kiến Thức Áp Dụng</a:t>
            </a:r>
          </a:p>
          <a:p>
            <a:pPr>
              <a:spcBef>
                <a:spcPts val="800"/>
              </a:spcBef>
            </a:pPr>
            <a:r>
              <a:rPr b="1" sz="1400">
                <a:solidFill>
                  <a:srgbClr val="FFFFFF"/>
                </a:solidFill>
              </a:rPr>
              <a:t>✔ Xây dựng thành công hệ thống Web Bảng chấm công:
</a:t>
            </a:r>
            <a:r>
              <a:rPr sz="1250">
                <a:solidFill>
                  <a:srgbClr val="C7D2FE"/>
                </a:solidFill>
              </a:rPr>
              <a:t> Hoàn thành trọn vẹn ứng dụng web độc lập, đáp ứng đầy đủ quy trình chấm công và theo dõi nhân sự.</a:t>
            </a:r>
          </a:p>
          <a:p>
            <a:pPr>
              <a:spcBef>
                <a:spcPts val="800"/>
              </a:spcBef>
            </a:pPr>
            <a:r>
              <a:rPr b="1" sz="1400">
                <a:solidFill>
                  <a:srgbClr val="FFFFFF"/>
                </a:solidFill>
              </a:rPr>
              <a:t>✔ Áp dụng thành thạo kiến thức Lập trình Web:
</a:t>
            </a:r>
            <a:r>
              <a:rPr sz="1250">
                <a:solidFill>
                  <a:srgbClr val="C7D2FE"/>
                </a:solidFill>
              </a:rPr>
              <a:t> Làm chủ công nghệ .NET Blazor Web, ngôn ngữ C# và phong cách thiết kế giao diện đáp ứng đa thiết bị.</a:t>
            </a:r>
          </a:p>
          <a:p>
            <a:pPr>
              <a:spcBef>
                <a:spcPts val="800"/>
              </a:spcBef>
            </a:pPr>
            <a:r>
              <a:rPr b="1" sz="1400">
                <a:solidFill>
                  <a:srgbClr val="FFFFFF"/>
                </a:solidFill>
              </a:rPr>
              <a:t>✔ Thiết kế CSDL quan hệ chuẩn hóa 3NF:
</a:t>
            </a:r>
            <a:r>
              <a:rPr sz="1250">
                <a:solidFill>
                  <a:srgbClr val="C7D2FE"/>
                </a:solidFill>
              </a:rPr>
              <a:t> Cài đặt CSDL BangChamCongDB trên SQL Server, tối ưu truy vấn tốc độ cao qua Dapper Micro-ORM.</a:t>
            </a:r>
          </a:p>
          <a:p>
            <a:pPr>
              <a:spcBef>
                <a:spcPts val="800"/>
              </a:spcBef>
            </a:pPr>
            <a:r>
              <a:rPr b="1" sz="1400">
                <a:solidFill>
                  <a:srgbClr val="FFFFFF"/>
                </a:solidFill>
              </a:rPr>
              <a:t>✔ Nâng cao tư duy an toàn bảo mật:
</a:t>
            </a:r>
            <a:r>
              <a:rPr sz="1250">
                <a:solidFill>
                  <a:srgbClr val="C7D2FE"/>
                </a:solidFill>
              </a:rPr>
              <a:t> Vận dụng cơ chế băm mật khẩu BCrypt và phân quyền đa vai trò RBAC chặt chẽ.</a:t>
            </a:r>
          </a:p>
        </p:txBody>
      </p:sp>
      <p:sp>
        <p:nvSpPr>
          <p:cNvPr id="8" name="Rounded Rectangle 7"/>
          <p:cNvSpPr/>
          <p:nvPr/>
        </p:nvSpPr>
        <p:spPr>
          <a:xfrm>
            <a:off x="6263640" y="1783080"/>
            <a:ext cx="5166360" cy="4389120"/>
          </a:xfrm>
          <a:prstGeom prst="roundRect">
            <a:avLst/>
          </a:prstGeom>
          <a:solidFill>
            <a:srgbClr val="172554"/>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965960"/>
            <a:ext cx="4709160" cy="4023360"/>
          </a:xfrm>
          <a:prstGeom prst="rect">
            <a:avLst/>
          </a:prstGeom>
          <a:noFill/>
        </p:spPr>
        <p:txBody>
          <a:bodyPr wrap="square" lIns="0" tIns="0" rIns="0" bIns="0">
            <a:spAutoFit/>
          </a:bodyPr>
          <a:lstStyle/>
          <a:p>
            <a:r>
              <a:rPr sz="1750" b="1">
                <a:solidFill>
                  <a:srgbClr val="F59E0B"/>
                </a:solidFill>
                <a:latin typeface="Segoe UI"/>
              </a:rPr>
              <a:t>Lời Tri Ân &amp; Phiên Thảo Luận (Q&amp;A)</a:t>
            </a:r>
          </a:p>
          <a:p>
            <a:pPr>
              <a:spcBef>
                <a:spcPts val="800"/>
              </a:spcBef>
            </a:pPr>
            <a:r>
              <a:rPr b="1" sz="1400">
                <a:solidFill>
                  <a:srgbClr val="FFFFFF"/>
                </a:solidFill>
              </a:rPr>
              <a:t>Kính gửi lời cảm ơn tới Giảng viên hướng dẫn:
</a:t>
            </a:r>
            <a:r>
              <a:rPr sz="1250">
                <a:solidFill>
                  <a:srgbClr val="C7D2FE"/>
                </a:solidFill>
              </a:rPr>
              <a:t> Em xin chân thành cảm ơn Thầy/Cô phụ trách học phần Lập trình ứng dụng Web đã tận tình truyền đạt kiến thức và hướng dẫn em hoàn thành đồ án này.</a:t>
            </a:r>
          </a:p>
          <a:p>
            <a:pPr>
              <a:spcBef>
                <a:spcPts val="800"/>
              </a:spcBef>
            </a:pPr>
            <a:r>
              <a:rPr b="1" sz="1400">
                <a:solidFill>
                  <a:srgbClr val="FFFFFF"/>
                </a:solidFill>
              </a:rPr>
              <a:t>Trường Đại học Kinh tế, Đại học Huế:
</a:t>
            </a:r>
            <a:r>
              <a:rPr sz="1250">
                <a:solidFill>
                  <a:srgbClr val="C7D2FE"/>
                </a:solidFill>
              </a:rPr>
              <a:t> Cảm ơn quý Thầy Cô Khoa Hệ thống Thông tin Kinh tế đã trang bị cho em nền tảng kiến thức vững chắc.</a:t>
            </a:r>
          </a:p>
          <a:p>
            <a:pPr>
              <a:spcBef>
                <a:spcPts val="800"/>
              </a:spcBef>
            </a:pPr>
            <a:r>
              <a:rPr b="1" sz="1400">
                <a:solidFill>
                  <a:srgbClr val="FFFFFF"/>
                </a:solidFill>
              </a:rPr>
              <a:t>Sinh viên thực hiện:
</a:t>
            </a:r>
            <a:r>
              <a:rPr sz="1250">
                <a:solidFill>
                  <a:srgbClr val="C7D2FE"/>
                </a:solidFill>
              </a:rPr>
              <a:t> Trần Viết Mạnh Cường — MSV: 23K4080003
Lớp: K57 Tin học Kinh tế — Khoa HTTT Kinh tế</a:t>
            </a:r>
          </a:p>
        </p:txBody>
      </p:sp>
      <p:sp>
        <p:nvSpPr>
          <p:cNvPr id="10" name="Rounded Rectangle 9"/>
          <p:cNvSpPr/>
          <p:nvPr/>
        </p:nvSpPr>
        <p:spPr>
          <a:xfrm>
            <a:off x="6720840" y="4892040"/>
            <a:ext cx="4251960" cy="10058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b="1">
                <a:solidFill>
                  <a:srgbClr val="FFFFFF"/>
                </a:solidFill>
                <a:latin typeface="Segoe UI"/>
              </a:rPr>
              <a:t>XIN TRÂN TRỌNG CẢM ƠN!</a:t>
            </a:r>
          </a:p>
          <a:p>
            <a:pPr algn="ctr"/>
            <a:r>
              <a:rPr sz="1350">
                <a:solidFill>
                  <a:srgbClr val="0EA5E9"/>
                </a:solidFill>
                <a:latin typeface="Segoe UI"/>
              </a:rPr>
              <a:t>Kính mong nhận được ý kiến đóng góp từ Thầy Cô &amp; Hội đồng
— Q&amp;A SESSION —</a:t>
            </a:r>
          </a:p>
        </p:txBody>
      </p:sp>
    </p:spTree>
  </p:cSld>
  <p:clrMapOvr>
    <a:masterClrMapping/>
  </p:clrMapOvr>
  <p:transition spd="med" advClick="1">
    <p:dissolv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